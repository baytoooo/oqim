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3911b4-a0fd-7a2e-f48e-930a251f2390}">
          <p14:sldIdLst>
            <p14:sldId id="256"/>
          </p14:sldIdLst>
        </p14:section>
        <p14:section name="Problem" id="{07931a80-40c9-bef6-7d63-badf83ba6490}">
          <p14:sldIdLst>
            <p14:sldId id="257"/>
          </p14:sldIdLst>
        </p14:section>
        <p14:section name="Product and demo" id="{1b8caadb-dd8c-e4d7-d96a-1be4227721aa}">
          <p14:sldIdLst>
            <p14:sldId id="258"/>
            <p14:sldId id="259"/>
            <p14:sldId id="260"/>
          </p14:sldIdLst>
        </p14:section>
        <p14:section name="Technology" id="{4d032568-9297-ce69-3ef4-dee4c14d8216}">
          <p14:sldIdLst>
            <p14:sldId id="261"/>
          </p14:sldIdLst>
        </p14:section>
        <p14:section name="Business" id="{ffb35571-7ca7-b8fc-022b-e4ace6df2c34}">
          <p14:sldIdLst>
            <p14:sldId id="262"/>
            <p14:sldId id="263"/>
          </p14:sldIdLst>
        </p14:section>
        <p14:section name="Next stage" id="{28cd608c-fbb7-5324-5874-b15a5cd6e08d}">
          <p14:sldIdLst>
            <p14:sldId id="264"/>
            <p14:sldId id="265"/>
          </p14:sldIdLst>
        </p14:section>
        <p14:section name="Team" id="{4d3cd335-4982-a682-ba83-37d2fd1ccd90}">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Good morning. We are team PariVision from Webster University in Tashkent. Our mode is Startup (say it out loud, the rules ask for it). OQIM is a parking tracker. Cameras over a car park count the free spaces, see cars come in and leave, forecast the free spaces for the minute you arrive, and tell each driver which car park to go to. On the right: a real car park at 09:04, 6 free spaces of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 driver picks a car park by distance or habit and finds out it is full at the gate. Then they drive on to the next one, and while they search, that car is part of the traffic. INRIX found US drivers spend 17 hours a year searching for parking. Parkopedia says only about 5% of off-street car parks publish live free spaces. In Tashkent, Poytaxt Parking plans paid parking on 86 streets with 13,208 spaces, first come, first served. Where cities do show drivers where the space is, it works: SFpark cut cruising by 50% on its pilot blocks. Our user is the driver. Who pays: the car park operator, and the city, which wants less searching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live. Open https://oqim-audit.vercel.app/tracker. These are 3 real car park cameras from the PKLot dataset: PUCPR with 100 spaces, UFPR05 with 40 spaces, UFPR04 with 28 spaces, one morning each from 06:55 to 10:35. Press play. Every space is marked free or taken from the camera frame; when a space turns taken, a car came in, when it turns free, a car left. Over 112 frames, 98.8% of 6,844 space readings match the dataset's hand labels. The free count is off by a median of 1 spaces, 4 at the 90th percentile. The tracker saw 146 cars come in and 11 leave. The forecast for 10 minutes ahead is off by 3.0 spaces on average, against 4.6 for "same as now", over 101 forecasts. Then pick an arrival time and show which car park the tracker advises.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detector itself, measured on images we did not tune on. 240 held-out PKLot images, 13,447 spaces: 97.4% right. When it calls a space taken it is right 99.1% of the time, and it finds 95.3% of the taken spaces. Sunny 97.0%, cloudy 99.0%, rainy 96.1%. The free count per image is off by a median of 0 spaces. Be honest: PKLot has no night frames, so night is not measured. It runs in the browser on /parking; YOLO26n, the same model as the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live. Open https://oqim-audit.vercel.app/city. One car park is not enough to advise a driver, so here is a whole district with live open data: Kwun Tong in Hong Kong, 22 Transport Department traffic cameras counted by YOLO26m, and the live free spaces of the car parks. 60 drivers head to Kwun Tong MTR station. "Nearest" sends every driver to the closest car park, as a navigator does. OQIM places drivers one by one; each gets the car park and route of least door-to-door time, counting the roads and spaces the drivers before them already took. At 13:45 Hong Kong time on 11 October the nearest car park had 0 free spaces: all 60 "nearest" drivers arrived to a full car park; with OQIM 5 did. Door to door 15.5 against 12.7 minutes, minus 18%; vehicle-km with searching 305 against 181, minus 41%. Say it clearly: the drivers are simulated, the free spaces and the camera counts are real. Press "Add drivers one by one" to show each route loading the roads the next driver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For each car park camera: one frame every 5 minutes, from an ordinary fixed camera. The spaces are outlined once per camera. YOLO26n, 10 MB, finds cars, buses and trucks on the whole frame and on 3 by 3 tiles at 960 pixels, so small cars at the back are not missed. A space is taken when one box covers 40% of it, and it changes state only when two frames in a row agree, which removes most flicker. From the states we get the free count and every car in and out. The forecast takes the spaces taken now and adds the trend: half from the last 20 minutes, half from the car park's typical weekday morning, from the PKLot labels of its other weekdays. It is checked against the hand labels of the frame that many minutes later. The advice is the district model: drivers placed one by one, counting the ones already sent. The detector runs in ONNX Runtime Web, on WebGPU or WebAssembly; no GPU server, no number plates or faces read. Detector and worker are reused from our elimination system,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All numbers here are assumptions to check with the customer. Pilot: 3 months with one car park operator, on cameras it already has. The main cost is people, 3 engineers part time. Hosting is static, free to USD 20 a month, with no GPU server. No sensors in the ground: one camera covers the spaces it sees. Our cost per camera is outlining the spaces once and checking a sample of frames by hand. Price: per camera per month, set in the pilot. Value for the operator: extra spaces filled times hours times the tariff, plus drivers who are no longer turned away at the gate. For the city: less searching traffic, which the district model counts in vehicle-km. Payback: we state it from the pilot inputs; we do not quote a number we have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Four reasons. One: a forecast for the minute you arrive, not only a count, and it beats "same as now". Two: drivers are spread; each one counts against the spaces and roads of the next, while a navigator sends everyone to the nearest car park. Three: ordinary cameras, no sensor in every space, and the detector runs in a browser tab with no plates or faces read. Four: the same cameras give more products. Our signal audit reads the lights from pixels with no controller access; in the browser it agrees with our elimination lamp reader on 98.8% of frames of C3896.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next stage. Cameras that watch car parks and streets can also watch junctions. Our signal audit already works from one video: it reads the lights from the pixels, counts every vehicle over the stop line, and replays the junction's own vehicles to check signal plans. On 4 clips of one Tashkent junction from the organisers, the replay gives back when each vehicle left within about half a second on three clips; C3905 is too short and fails the check, and the page says so. Webster's textbook plan was worse than the timing now on all 4 clips, for example 29.7 s against 10.0 s on C3897. The predictive mode cut the wait on C3897 to 8.7 s, but it assumes the next 30 s of arrivals are known, which needs a camera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Two more pieces for later. The green wave: the vehicles from the video drive five real junctions of Amir Temur Avenue in 3D. It is a simulation, one direction, and only the offsets change, so the cross streets keep their time; the real offsets are unknown to us. Mean delay 141 s down to 24 s, stops per vehicle 4.58 down to 0.60. Copenhagen's green wave cut travel time by 17%. And a side tool: road damage from phone photos on a map, YOLOv8n fine-tuned on RDD2022 (4 classes), mAP50 0.66 on a 300-image sample of the RDD2022 test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We are Amal Karimov, Komronbek Qodirov, Aziza Adizova. Next: a 3-month pilot with one car park operator on its own cameras; frames from a live camera instead of a recorded morning; a night test set of our own, because PKLot has no night frames; and then the same cameras time the lights, with the signal audit and the green wave. Thank you; we are ready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QIM Titl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63040" y="658368"/>
            <a:ext cx="7315200" cy="365760"/>
          </a:xfrm>
          <a:prstGeom prst="rect">
            <a:avLst/>
          </a:prstGeom>
          <a:noFill/>
          <a:ln/>
        </p:spPr>
        <p:txBody>
          <a:bodyPr wrap="square" rtlCol="0"/>
          <a:lstStyle>
            <a:lvl1pPr indent="0" marL="0">
              <a:buNone/>
              <a:defRPr lang="en-US" sz="1300" b="1" spc="300" kern="0" dirty="0">
                <a:solidFill>
                  <a:schemeClr val="accent1"/>
                </a:solidFill>
                <a:latin typeface="Arial" pitchFamily="34" charset="0"/>
                <a:ea typeface="Arial" pitchFamily="34" charset="-122"/>
                <a:cs typeface="Arial" pitchFamily="34" charset="-120"/>
              </a:defRPr>
            </a:lvl1pPr>
          </a:lstStyle>
          <a:p>
            <a:pPr indent="0" marL="0">
              <a:buNone/>
            </a:pPr>
            <a:endParaRPr lang="en-US" sz="1300" dirty="0"/>
          </a:p>
        </p:txBody>
      </p:sp>
      <p:sp>
        <p:nvSpPr>
          <p:cNvPr id="3" name="Text 0"/>
          <p:cNvSpPr/>
          <p:nvPr>
            <p:ph idx="101" type="title" hasCustomPrompt="1"/>
          </p:nvPr>
        </p:nvSpPr>
        <p:spPr>
          <a:xfrm>
            <a:off x="548640" y="1188720"/>
            <a:ext cx="5486400" cy="1417320"/>
          </a:xfrm>
          <a:prstGeom prst="rect">
            <a:avLst/>
          </a:prstGeom>
          <a:noFill/>
          <a:ln/>
        </p:spPr>
        <p:txBody>
          <a:bodyPr wrap="square" rtlCol="0"/>
          <a:lstStyle>
            <a:lvl1pPr algn="l" indent="0" marL="0">
              <a:buNone/>
              <a:defRPr lang="en-US" sz="9600" b="1" dirty="0">
                <a:solidFill>
                  <a:schemeClr val="tx1"/>
                </a:solidFill>
                <a:latin typeface="Arial" pitchFamily="34" charset="0"/>
                <a:ea typeface="Arial" pitchFamily="34" charset="-122"/>
                <a:cs typeface="Arial" pitchFamily="34" charset="-120"/>
              </a:defRPr>
            </a:lvl1pPr>
          </a:lstStyle>
          <a:p>
            <a:pPr algn="l" indent="0" marL="0">
              <a:buNone/>
            </a:pPr>
            <a:endParaRPr lang="en-US" sz="9600" dirty="0"/>
          </a:p>
        </p:txBody>
      </p:sp>
      <p:sp>
        <p:nvSpPr>
          <p:cNvPr id="4" name="Text 0"/>
          <p:cNvSpPr/>
          <p:nvPr>
            <p:ph idx="102" type="body" hasCustomPrompt="1"/>
          </p:nvPr>
        </p:nvSpPr>
        <p:spPr>
          <a:xfrm>
            <a:off x="548640" y="2651760"/>
            <a:ext cx="5486400" cy="914400"/>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QIM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44752" y="310896"/>
            <a:ext cx="8686800" cy="310896"/>
          </a:xfrm>
          <a:prstGeom prst="rect">
            <a:avLst/>
          </a:prstGeom>
          <a:noFill/>
          <a:ln/>
        </p:spPr>
        <p:txBody>
          <a:bodyPr wrap="square" rtlCol="0"/>
          <a:lstStyle>
            <a:lvl1pPr indent="0" marL="0">
              <a:buNone/>
              <a:defRPr lang="en-US" sz="1200" b="1" spc="300" kern="0" dirty="0">
                <a:solidFill>
                  <a:schemeClr val="accent1"/>
                </a:solidFill>
                <a:latin typeface="Arial" pitchFamily="34" charset="0"/>
                <a:ea typeface="Arial" pitchFamily="34" charset="-122"/>
                <a:cs typeface="Arial" pitchFamily="34" charset="-120"/>
              </a:defRPr>
            </a:lvl1pPr>
          </a:lstStyle>
          <a:p>
            <a:pPr indent="0" marL="0">
              <a:buNone/>
            </a:pPr>
            <a:endParaRPr lang="en-US" sz="1200" dirty="0"/>
          </a:p>
        </p:txBody>
      </p:sp>
      <p:sp>
        <p:nvSpPr>
          <p:cNvPr id="3" name="Text 0"/>
          <p:cNvSpPr/>
          <p:nvPr>
            <p:ph idx="101" type="title" hasCustomPrompt="1"/>
          </p:nvPr>
        </p:nvSpPr>
        <p:spPr>
          <a:xfrm>
            <a:off x="548640" y="713232"/>
            <a:ext cx="11094415" cy="73152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4"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chemeClr val="tx2"/>
                </a:solidFill>
                <a:latin typeface="Calibri" pitchFamily="34" charset="0"/>
                <a:ea typeface="Calibri" pitchFamily="34" charset="-122"/>
                <a:cs typeface="Calibri" pitchFamily="34" charset="-120"/>
              </a:rPr>
              <a:t>OQIM  ·  Team PariVision  ·  WIUT Hackathon 2026, Computer Vision final  ·  Mode: Startup</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oqim-audit.vercel.app/tracker" TargetMode="External"/><Relationship Id="rId2" Type="http://schemas.openxmlformats.org/officeDocument/2006/relationships/hyperlink" Target="https://github.com/baytoooo/oqim" TargetMode="External"/><Relationship Id="rId3" Type="http://schemas.openxmlformats.org/officeDocument/2006/relationships/image" Target="../media/image-1-1.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oqim-audit.vercel.app/tracker" TargetMode="External"/><Relationship Id="rId1" Type="http://schemas.openxmlformats.org/officeDocument/2006/relationships/image" Target="../media/image-3-1.jp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oqim-audit.vercel.app/tracker" TargetMode="External"/><Relationship Id="rId2" Type="http://schemas.openxmlformats.org/officeDocument/2006/relationships/hyperlink" Target="https://github.com/baytoooo/oqim" TargetMode="Externa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ignal lamps housing"/>
          <p:cNvSpPr/>
          <p:nvPr/>
        </p:nvSpPr>
        <p:spPr>
          <a:xfrm>
            <a:off x="548640" y="685800"/>
            <a:ext cx="896112" cy="347472"/>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40080" y="768096"/>
            <a:ext cx="182880" cy="182880"/>
          </a:xfrm>
          <a:prstGeom prst="ellipse">
            <a:avLst/>
          </a:prstGeom>
          <a:solidFill>
            <a:schemeClr val="accent2"/>
          </a:solidFill>
          <a:ln/>
        </p:spPr>
      </p:sp>
      <p:sp>
        <p:nvSpPr>
          <p:cNvPr id="4" name="Signal lamps lamp 2"/>
          <p:cNvSpPr/>
          <p:nvPr/>
        </p:nvSpPr>
        <p:spPr>
          <a:xfrm>
            <a:off x="905256" y="768096"/>
            <a:ext cx="182880" cy="182880"/>
          </a:xfrm>
          <a:prstGeom prst="ellipse">
            <a:avLst/>
          </a:prstGeom>
          <a:solidFill>
            <a:schemeClr val="accent3"/>
          </a:solidFill>
          <a:ln/>
        </p:spPr>
      </p:sp>
      <p:sp>
        <p:nvSpPr>
          <p:cNvPr id="5" name="Signal lamps lamp 3"/>
          <p:cNvSpPr/>
          <p:nvPr/>
        </p:nvSpPr>
        <p:spPr>
          <a:xfrm>
            <a:off x="1170432" y="768096"/>
            <a:ext cx="182880" cy="182880"/>
          </a:xfrm>
          <a:prstGeom prst="ellipse">
            <a:avLst/>
          </a:prstGeom>
          <a:solidFill>
            <a:schemeClr val="accent4"/>
          </a:solidFill>
          <a:ln/>
        </p:spPr>
      </p:sp>
      <p:sp>
        <p:nvSpPr>
          <p:cNvPr id="6" name="Text 0"/>
          <p:cNvSpPr/>
          <p:nvPr>
            <p:ph idx="100" type="body" hasCustomPrompt="1"/>
          </p:nvPr>
        </p:nvSpPr>
        <p:spPr>
          <a:xfrm>
            <a:off x="1463040" y="658368"/>
            <a:ext cx="7315200" cy="365760"/>
          </a:xfrm>
          <a:prstGeom prst="rect">
            <a:avLst/>
          </a:prstGeom>
          <a:noFill/>
          <a:ln/>
        </p:spPr>
        <p:txBody>
          <a:bodyPr wrap="square" lIns="0" tIns="0" rIns="0" bIns="0" rtlCol="0" anchor="ctr"/>
          <a:lstStyle/>
          <a:p>
            <a:pPr indent="0" marL="0">
              <a:buNone/>
            </a:pPr>
            <a:r>
              <a:rPr lang="en-US" sz="1300" b="1" spc="300" kern="0" dirty="0">
                <a:solidFill>
                  <a:schemeClr val="accent1"/>
                </a:solidFill>
                <a:latin typeface="Arial" pitchFamily="34" charset="0"/>
                <a:ea typeface="Arial" pitchFamily="34" charset="-122"/>
                <a:cs typeface="Arial" pitchFamily="34" charset="-120"/>
              </a:rPr>
              <a:t>WIUT HACKATHON 2026  ·  COMPUTER VISION FINAL</a:t>
            </a:r>
            <a:endParaRPr lang="en-US" sz="1300" dirty="0"/>
          </a:p>
        </p:txBody>
      </p:sp>
      <p:sp>
        <p:nvSpPr>
          <p:cNvPr id="7" name="Text 0"/>
          <p:cNvSpPr/>
          <p:nvPr>
            <p:ph idx="101" type="title" hasCustomPrompt="1"/>
          </p:nvPr>
        </p:nvSpPr>
        <p:spPr>
          <a:xfrm>
            <a:off x="548640" y="1188720"/>
            <a:ext cx="5486400" cy="1417320"/>
          </a:xfrm>
          <a:prstGeom prst="rect">
            <a:avLst/>
          </a:prstGeom>
          <a:noFill/>
          <a:ln/>
        </p:spPr>
        <p:txBody>
          <a:bodyPr wrap="square" lIns="0" tIns="0" rIns="0" bIns="0" rtlCol="0" anchor="ctr"/>
          <a:lstStyle/>
          <a:p>
            <a:pPr algn="l" indent="0" marL="0">
              <a:buNone/>
            </a:pPr>
            <a:r>
              <a:rPr lang="en-US" sz="9600" b="1" dirty="0">
                <a:solidFill>
                  <a:schemeClr val="tx1"/>
                </a:solidFill>
                <a:latin typeface="Arial" pitchFamily="34" charset="0"/>
                <a:ea typeface="Arial" pitchFamily="34" charset="-122"/>
                <a:cs typeface="Arial" pitchFamily="34" charset="-120"/>
              </a:rPr>
              <a:t>OQIM</a:t>
            </a:r>
            <a:endParaRPr lang="en-US" sz="9600" dirty="0"/>
          </a:p>
        </p:txBody>
      </p:sp>
      <p:sp>
        <p:nvSpPr>
          <p:cNvPr id="8" name="Text 0"/>
          <p:cNvSpPr/>
          <p:nvPr>
            <p:ph idx="102" type="body" hasCustomPrompt="1"/>
          </p:nvPr>
        </p:nvSpPr>
        <p:spPr>
          <a:xfrm>
            <a:off x="548640" y="2651760"/>
            <a:ext cx="5486400" cy="91440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A parking tracker</a:t>
            </a:r>
            <a:endParaRPr lang="en-US" sz="2600" dirty="0"/>
          </a:p>
          <a:p>
            <a:pPr algn="l" indent="0" marL="0">
              <a:buNone/>
            </a:pPr>
            <a:r>
              <a:rPr lang="en-US" sz="2600" b="1" dirty="0">
                <a:solidFill>
                  <a:schemeClr val="tx1"/>
                </a:solidFill>
                <a:latin typeface="Arial" pitchFamily="34" charset="0"/>
                <a:ea typeface="Arial" pitchFamily="34" charset="-122"/>
                <a:cs typeface="Arial" pitchFamily="34" charset="-120"/>
              </a:rPr>
              <a:t>from car park cameras</a:t>
            </a:r>
            <a:endParaRPr lang="en-US" sz="2600" dirty="0"/>
          </a:p>
        </p:txBody>
      </p:sp>
      <p:sp>
        <p:nvSpPr>
          <p:cNvPr id="9" name="Mode badge"/>
          <p:cNvSpPr/>
          <p:nvPr/>
        </p:nvSpPr>
        <p:spPr>
          <a:xfrm>
            <a:off x="548640" y="3703320"/>
            <a:ext cx="2743200" cy="566928"/>
          </a:xfrm>
          <a:prstGeom prst="roundRect">
            <a:avLst>
              <a:gd name="adj" fmla="val 19355"/>
            </a:avLst>
          </a:prstGeom>
          <a:solidFill>
            <a:schemeClr val="accent1"/>
          </a:solidFill>
          <a:ln/>
        </p:spPr>
        <p:txBody>
          <a:bodyPr wrap="square" lIns="0" tIns="0" rIns="0" bIns="0" rtlCol="0" anchor="ctr"/>
          <a:lstStyle/>
          <a:p>
            <a:pPr algn="ctr" indent="0" marL="0">
              <a:buNone/>
            </a:pPr>
            <a:r>
              <a:rPr lang="en-US" sz="2200" b="1" spc="200" kern="0" dirty="0">
                <a:solidFill>
                  <a:schemeClr val="bg1"/>
                </a:solidFill>
                <a:latin typeface="Arial" pitchFamily="34" charset="0"/>
                <a:ea typeface="Arial" pitchFamily="34" charset="-122"/>
                <a:cs typeface="Arial" pitchFamily="34" charset="-120"/>
              </a:rPr>
              <a:t>MODE: STARTUP</a:t>
            </a:r>
            <a:endParaRPr lang="en-US" sz="2200" dirty="0"/>
          </a:p>
        </p:txBody>
      </p:sp>
      <p:sp>
        <p:nvSpPr>
          <p:cNvPr id="10" name="Team"/>
          <p:cNvSpPr txBox="1"/>
          <p:nvPr/>
        </p:nvSpPr>
        <p:spPr>
          <a:xfrm>
            <a:off x="548640" y="4526280"/>
            <a:ext cx="5486400" cy="96012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latin typeface="Calibri" pitchFamily="34" charset="0"/>
                <a:ea typeface="Calibri" pitchFamily="34" charset="-122"/>
                <a:cs typeface="Calibri" pitchFamily="34" charset="-120"/>
              </a:rPr>
              <a:t>Team PariVision</a:t>
            </a:r>
            <a:endParaRPr lang="en-US" sz="1800" dirty="0"/>
          </a:p>
          <a:p>
            <a:pPr indent="0" marL="0">
              <a:spcAft>
                <a:spcPts val="200"/>
              </a:spcAft>
              <a:buNone/>
            </a:pPr>
            <a:r>
              <a:rPr lang="en-US" sz="1600" dirty="0">
                <a:solidFill>
                  <a:schemeClr val="tx1"/>
                </a:solidFill>
                <a:latin typeface="Calibri" pitchFamily="34" charset="0"/>
                <a:ea typeface="Calibri" pitchFamily="34" charset="-122"/>
                <a:cs typeface="Calibri" pitchFamily="34" charset="-120"/>
              </a:rPr>
              <a:t>Amal Karimov, Komronbek Qodirov, Aziza Adizova</a:t>
            </a:r>
            <a:endParaRPr lang="en-US" sz="1800" dirty="0"/>
          </a:p>
          <a:p>
            <a:pPr indent="0" marL="0">
              <a:spcAft>
                <a:spcPts val="200"/>
              </a:spcAft>
              <a:buNone/>
            </a:pPr>
            <a:r>
              <a:rPr lang="en-US" sz="1600" dirty="0">
                <a:solidFill>
                  <a:schemeClr val="tx2"/>
                </a:solidFill>
                <a:latin typeface="Calibri" pitchFamily="34" charset="0"/>
                <a:ea typeface="Calibri" pitchFamily="34" charset="-122"/>
                <a:cs typeface="Calibri" pitchFamily="34" charset="-120"/>
              </a:rPr>
              <a:t>Webster University in Tashkent</a:t>
            </a:r>
            <a:endParaRPr lang="en-US" sz="1800" dirty="0"/>
          </a:p>
        </p:txBody>
      </p:sp>
      <p:sp>
        <p:nvSpPr>
          <p:cNvPr id="11" name="Links"/>
          <p:cNvSpPr txBox="1"/>
          <p:nvPr/>
        </p:nvSpPr>
        <p:spPr>
          <a:xfrm>
            <a:off x="548640" y="5623560"/>
            <a:ext cx="5486400" cy="64008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libri" pitchFamily="34" charset="0"/>
                <a:ea typeface="Calibri" pitchFamily="34" charset="-122"/>
                <a:cs typeface="Calibri" pitchFamily="34" charset="-120"/>
              </a:rPr>
              <a:t>Live   </a:t>
            </a:r>
            <a:pPr indent="0" marL="0">
              <a:spcAft>
                <a:spcPts val="400"/>
              </a:spcAft>
              <a:buNone/>
            </a:pPr>
            <a:r>
              <a:rPr lang="en-US" sz="1500" u="sng" dirty="0">
                <a:solidFill>
                  <a:schemeClr val="accent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https://oqim-audit.vercel.app/tracker</a:t>
            </a:r>
            <a:endParaRPr lang="en-US" sz="1500" dirty="0"/>
          </a:p>
          <a:p>
            <a:pPr indent="0" marL="0">
              <a:spcAft>
                <a:spcPts val="400"/>
              </a:spcAft>
              <a:buNone/>
            </a:pPr>
            <a:r>
              <a:rPr lang="en-US" sz="1500" dirty="0">
                <a:solidFill>
                  <a:schemeClr val="tx2"/>
                </a:solidFill>
                <a:latin typeface="Calibri" pitchFamily="34" charset="0"/>
                <a:ea typeface="Calibri" pitchFamily="34" charset="-122"/>
                <a:cs typeface="Calibri" pitchFamily="34" charset="-120"/>
              </a:rPr>
              <a:t>Code   </a:t>
            </a:r>
            <a:pPr indent="0" marL="0">
              <a:spcAft>
                <a:spcPts val="400"/>
              </a:spcAft>
              <a:buNone/>
            </a:pPr>
            <a:r>
              <a:rPr lang="en-US" sz="1500" u="sng" dirty="0">
                <a:solidFill>
                  <a:schemeClr val="accent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https://github.com/baytoooo/oqim</a:t>
            </a:r>
            <a:endParaRPr lang="en-US" sz="1500" dirty="0"/>
          </a:p>
        </p:txBody>
      </p:sp>
      <p:sp>
        <p:nvSpPr>
          <p:cNvPr id="12" name="Frame panel"/>
          <p:cNvSpPr/>
          <p:nvPr/>
        </p:nvSpPr>
        <p:spPr>
          <a:xfrm>
            <a:off x="6263640" y="1143000"/>
            <a:ext cx="5376672" cy="3136392"/>
          </a:xfrm>
          <a:prstGeom prst="roundRect">
            <a:avLst>
              <a:gd name="adj" fmla="val 2332"/>
            </a:avLst>
          </a:prstGeom>
          <a:solidFill>
            <a:schemeClr val="bg2"/>
          </a:solidFill>
          <a:ln w="9525">
            <a:solidFill>
              <a:schemeClr val="accent5"/>
            </a:solidFill>
            <a:prstDash val="solid"/>
          </a:ln>
        </p:spPr>
      </p:sp>
      <p:pic>
        <p:nvPicPr>
          <p:cNvPr id="13" name="Car park frame" descr="PKLot camera frame of the PUCPR car park with every space marked free or taken">    </p:cNvPr>
          <p:cNvPicPr>
            <a:picLocks noChangeAspect="1"/>
          </p:cNvPicPr>
          <p:nvPr/>
        </p:nvPicPr>
        <p:blipFill>
          <a:blip r:embed="rId3"/>
          <a:srcRect l="0" r="0" t="0" b="0"/>
          <a:stretch/>
        </p:blipFill>
        <p:spPr>
          <a:xfrm>
            <a:off x="6327648" y="1207008"/>
            <a:ext cx="5248656" cy="3008376"/>
          </a:xfrm>
          <a:prstGeom prst="rect">
            <a:avLst/>
          </a:prstGeom>
        </p:spPr>
      </p:pic>
      <p:sp>
        <p:nvSpPr>
          <p:cNvPr id="14" name="Frame caption"/>
          <p:cNvSpPr txBox="1"/>
          <p:nvPr/>
        </p:nvSpPr>
        <p:spPr>
          <a:xfrm>
            <a:off x="6263640" y="4389120"/>
            <a:ext cx="5376672"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The PUCPR car park camera at 09:04 on 17 October 2012 (PKLot dataset). Green: free, red: taken, as our detector read the frame.</a:t>
            </a:r>
            <a:endParaRPr lang="en-US" sz="1100" dirty="0"/>
          </a:p>
        </p:txBody>
      </p:sp>
      <p:sp>
        <p:nvSpPr>
          <p:cNvPr id="15" name="Frame chip 1"/>
          <p:cNvSpPr/>
          <p:nvPr/>
        </p:nvSpPr>
        <p:spPr>
          <a:xfrm>
            <a:off x="6263640" y="5074920"/>
            <a:ext cx="1097280" cy="384048"/>
          </a:xfrm>
          <a:prstGeom prst="roundRect">
            <a:avLst>
              <a:gd name="adj" fmla="val 14286"/>
            </a:avLst>
          </a:prstGeom>
          <a:solidFill>
            <a:schemeClr val="bg2"/>
          </a:solidFill>
          <a:ln w="9525">
            <a:solidFill>
              <a:schemeClr val="accent5"/>
            </a:solidFill>
          </a:ln>
        </p:spPr>
        <p:txBody>
          <a:bodyPr wrap="square" lIns="0" tIns="0" rIns="0" bIns="0" rtlCol="0" anchor="ctr"/>
          <a:lstStyle/>
          <a:p>
            <a:pPr algn="ctr" indent="0" marL="0">
              <a:buNone/>
            </a:pPr>
            <a:r>
              <a:rPr lang="en-US" sz="1300" b="1" dirty="0">
                <a:solidFill>
                  <a:schemeClr val="accent1"/>
                </a:solidFill>
                <a:latin typeface="Arial" pitchFamily="34" charset="0"/>
                <a:ea typeface="Arial" pitchFamily="34" charset="-122"/>
                <a:cs typeface="Arial" pitchFamily="34" charset="-120"/>
              </a:rPr>
              <a:t>PUCPR</a:t>
            </a:r>
            <a:endParaRPr lang="en-US" sz="1300" dirty="0"/>
          </a:p>
        </p:txBody>
      </p:sp>
      <p:sp>
        <p:nvSpPr>
          <p:cNvPr id="16" name="Frame chip 2"/>
          <p:cNvSpPr/>
          <p:nvPr/>
        </p:nvSpPr>
        <p:spPr>
          <a:xfrm>
            <a:off x="7498080" y="5074920"/>
            <a:ext cx="914400" cy="384048"/>
          </a:xfrm>
          <a:prstGeom prst="roundRect">
            <a:avLst>
              <a:gd name="adj" fmla="val 14286"/>
            </a:avLst>
          </a:prstGeom>
          <a:solidFill>
            <a:schemeClr val="bg2"/>
          </a:solidFill>
          <a:ln w="9525">
            <a:solidFill>
              <a:schemeClr val="accent5"/>
            </a:solid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09:04</a:t>
            </a:r>
            <a:endParaRPr lang="en-US" sz="1300" dirty="0"/>
          </a:p>
        </p:txBody>
      </p:sp>
      <p:sp>
        <p:nvSpPr>
          <p:cNvPr id="17" name="Frame chip 3"/>
          <p:cNvSpPr/>
          <p:nvPr/>
        </p:nvSpPr>
        <p:spPr>
          <a:xfrm>
            <a:off x="8549640" y="5074920"/>
            <a:ext cx="1828800" cy="384048"/>
          </a:xfrm>
          <a:prstGeom prst="roundRect">
            <a:avLst>
              <a:gd name="adj" fmla="val 14286"/>
            </a:avLst>
          </a:prstGeom>
          <a:solidFill>
            <a:schemeClr val="bg2"/>
          </a:solidFill>
          <a:ln w="9525">
            <a:solidFill>
              <a:schemeClr val="accent5"/>
            </a:solid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6 free of 100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PROBLEM AND USER</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Drivers circle because they cannot see free spaces</a:t>
            </a:r>
            <a:endParaRPr lang="en-US" sz="3600" dirty="0"/>
          </a:p>
        </p:txBody>
      </p:sp>
      <p:sp>
        <p:nvSpPr>
          <p:cNvPr id="8" name="Stat card 1"/>
          <p:cNvSpPr/>
          <p:nvPr/>
        </p:nvSpPr>
        <p:spPr>
          <a:xfrm>
            <a:off x="548640" y="1691640"/>
            <a:ext cx="3515258" cy="1600200"/>
          </a:xfrm>
          <a:prstGeom prst="roundRect">
            <a:avLst>
              <a:gd name="adj" fmla="val 4571"/>
            </a:avLst>
          </a:prstGeom>
          <a:solidFill>
            <a:schemeClr val="bg2"/>
          </a:solidFill>
          <a:ln w="9525">
            <a:solidFill>
              <a:schemeClr val="accent5"/>
            </a:solidFill>
            <a:prstDash val="solid"/>
          </a:ln>
        </p:spPr>
      </p:sp>
      <p:sp>
        <p:nvSpPr>
          <p:cNvPr id="9" name="Stat 1 value"/>
          <p:cNvSpPr txBox="1"/>
          <p:nvPr/>
        </p:nvSpPr>
        <p:spPr>
          <a:xfrm>
            <a:off x="822960" y="1801368"/>
            <a:ext cx="2966618" cy="719328"/>
          </a:xfrm>
          <a:prstGeom prst="rect">
            <a:avLst/>
          </a:prstGeom>
          <a:noFill/>
          <a:ln/>
        </p:spPr>
        <p:txBody>
          <a:bodyPr wrap="square" lIns="0" tIns="0" rIns="0" bIns="0" rtlCol="0" anchor="b"/>
          <a:lstStyle/>
          <a:p>
            <a:pPr indent="0" marL="0">
              <a:buNone/>
            </a:pPr>
            <a:r>
              <a:rPr lang="en-US" sz="4800" b="1" dirty="0">
                <a:solidFill>
                  <a:schemeClr val="accent2"/>
                </a:solidFill>
                <a:latin typeface="Arial" pitchFamily="34" charset="0"/>
                <a:ea typeface="Arial" pitchFamily="34" charset="-122"/>
                <a:cs typeface="Arial" pitchFamily="34" charset="-120"/>
              </a:rPr>
              <a:t>17 h</a:t>
            </a:r>
            <a:endParaRPr lang="en-US" sz="4800" dirty="0"/>
          </a:p>
        </p:txBody>
      </p:sp>
      <p:sp>
        <p:nvSpPr>
          <p:cNvPr id="10" name="Stat 1 label"/>
          <p:cNvSpPr txBox="1"/>
          <p:nvPr/>
        </p:nvSpPr>
        <p:spPr>
          <a:xfrm>
            <a:off x="822960" y="2575560"/>
            <a:ext cx="2966618"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year a US driver spends searching for parking (INRIX, 2017)</a:t>
            </a:r>
            <a:endParaRPr lang="en-US" sz="1400" dirty="0"/>
          </a:p>
        </p:txBody>
      </p:sp>
      <p:sp>
        <p:nvSpPr>
          <p:cNvPr id="11" name="Stat card 2"/>
          <p:cNvSpPr/>
          <p:nvPr/>
        </p:nvSpPr>
        <p:spPr>
          <a:xfrm>
            <a:off x="4338218" y="1691640"/>
            <a:ext cx="3515258" cy="1600200"/>
          </a:xfrm>
          <a:prstGeom prst="roundRect">
            <a:avLst>
              <a:gd name="adj" fmla="val 4571"/>
            </a:avLst>
          </a:prstGeom>
          <a:solidFill>
            <a:schemeClr val="bg2"/>
          </a:solidFill>
          <a:ln w="9525">
            <a:solidFill>
              <a:schemeClr val="accent5"/>
            </a:solidFill>
            <a:prstDash val="solid"/>
          </a:ln>
        </p:spPr>
      </p:sp>
      <p:sp>
        <p:nvSpPr>
          <p:cNvPr id="12" name="Stat 2 value"/>
          <p:cNvSpPr txBox="1"/>
          <p:nvPr/>
        </p:nvSpPr>
        <p:spPr>
          <a:xfrm>
            <a:off x="4612538" y="1801368"/>
            <a:ext cx="2966618" cy="719328"/>
          </a:xfrm>
          <a:prstGeom prst="rect">
            <a:avLst/>
          </a:prstGeom>
          <a:noFill/>
          <a:ln/>
        </p:spPr>
        <p:txBody>
          <a:bodyPr wrap="square" lIns="0" tIns="0" rIns="0" bIns="0" rtlCol="0" anchor="b"/>
          <a:lstStyle/>
          <a:p>
            <a:pPr indent="0" marL="0">
              <a:buNone/>
            </a:pPr>
            <a:r>
              <a:rPr lang="en-US" sz="4800" b="1" dirty="0">
                <a:solidFill>
                  <a:schemeClr val="accent3"/>
                </a:solidFill>
                <a:latin typeface="Arial" pitchFamily="34" charset="0"/>
                <a:ea typeface="Arial" pitchFamily="34" charset="-122"/>
                <a:cs typeface="Arial" pitchFamily="34" charset="-120"/>
              </a:rPr>
              <a:t>~5%</a:t>
            </a:r>
            <a:endParaRPr lang="en-US" sz="4800" dirty="0"/>
          </a:p>
        </p:txBody>
      </p:sp>
      <p:sp>
        <p:nvSpPr>
          <p:cNvPr id="13" name="Stat 2 label"/>
          <p:cNvSpPr txBox="1"/>
          <p:nvPr/>
        </p:nvSpPr>
        <p:spPr>
          <a:xfrm>
            <a:off x="4612538" y="2575560"/>
            <a:ext cx="2966618"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off-street car parks publish live free spaces (Parkopedia)</a:t>
            </a:r>
            <a:endParaRPr lang="en-US" sz="1400" dirty="0"/>
          </a:p>
        </p:txBody>
      </p:sp>
      <p:sp>
        <p:nvSpPr>
          <p:cNvPr id="14" name="Stat card 3"/>
          <p:cNvSpPr/>
          <p:nvPr/>
        </p:nvSpPr>
        <p:spPr>
          <a:xfrm>
            <a:off x="8127797" y="1691640"/>
            <a:ext cx="3515258" cy="1600200"/>
          </a:xfrm>
          <a:prstGeom prst="roundRect">
            <a:avLst>
              <a:gd name="adj" fmla="val 4571"/>
            </a:avLst>
          </a:prstGeom>
          <a:solidFill>
            <a:schemeClr val="bg2"/>
          </a:solidFill>
          <a:ln w="9525">
            <a:solidFill>
              <a:schemeClr val="accent5"/>
            </a:solidFill>
            <a:prstDash val="solid"/>
          </a:ln>
        </p:spPr>
      </p:sp>
      <p:sp>
        <p:nvSpPr>
          <p:cNvPr id="15" name="Stat 3 value"/>
          <p:cNvSpPr txBox="1"/>
          <p:nvPr/>
        </p:nvSpPr>
        <p:spPr>
          <a:xfrm>
            <a:off x="8402117" y="1801368"/>
            <a:ext cx="2966618" cy="719328"/>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13,208</a:t>
            </a:r>
            <a:endParaRPr lang="en-US" sz="4800" dirty="0"/>
          </a:p>
        </p:txBody>
      </p:sp>
      <p:sp>
        <p:nvSpPr>
          <p:cNvPr id="16" name="Stat 3 label"/>
          <p:cNvSpPr txBox="1"/>
          <p:nvPr/>
        </p:nvSpPr>
        <p:spPr>
          <a:xfrm>
            <a:off x="8402117" y="2575560"/>
            <a:ext cx="2966618"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paid spaces on 86 streets planned by Poytaxt Parking, Tashkent</a:t>
            </a:r>
            <a:endParaRPr lang="en-US" sz="1400" dirty="0"/>
          </a:p>
        </p:txBody>
      </p:sp>
      <p:sp>
        <p:nvSpPr>
          <p:cNvPr id="17" name="Evidence line"/>
          <p:cNvSpPr txBox="1"/>
          <p:nvPr/>
        </p:nvSpPr>
        <p:spPr>
          <a:xfrm>
            <a:off x="548640" y="3401568"/>
            <a:ext cx="11094415" cy="3200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SFpark in San Francisco cut cruising for parking by 50% on its pilot blocks.  </a:t>
            </a:r>
            <a:pPr indent="0" marL="0">
              <a:buNone/>
            </a:pPr>
            <a:r>
              <a:rPr lang="en-US" sz="1400" dirty="0">
                <a:solidFill>
                  <a:schemeClr val="tx2"/>
                </a:solidFill>
                <a:latin typeface="Calibri" pitchFamily="34" charset="0"/>
                <a:ea typeface="Calibri" pitchFamily="34" charset="-122"/>
                <a:cs typeface="Calibri" pitchFamily="34" charset="-120"/>
              </a:rPr>
              <a:t>Sources: INRIX, Parkopedia, Spot.uz, ACCESS Magazine</a:t>
            </a:r>
            <a:endParaRPr lang="en-US" sz="1400" dirty="0"/>
          </a:p>
        </p:txBody>
      </p:sp>
      <p:sp>
        <p:nvSpPr>
          <p:cNvPr id="18" name="Why panel"/>
          <p:cNvSpPr/>
          <p:nvPr/>
        </p:nvSpPr>
        <p:spPr>
          <a:xfrm>
            <a:off x="548640" y="3886200"/>
            <a:ext cx="6309360" cy="2286000"/>
          </a:xfrm>
          <a:prstGeom prst="roundRect">
            <a:avLst>
              <a:gd name="adj" fmla="val 3200"/>
            </a:avLst>
          </a:prstGeom>
          <a:solidFill>
            <a:schemeClr val="bg2"/>
          </a:solidFill>
          <a:ln w="9525">
            <a:solidFill>
              <a:schemeClr val="accent5"/>
            </a:solidFill>
            <a:prstDash val="solid"/>
          </a:ln>
        </p:spPr>
      </p:sp>
      <p:sp>
        <p:nvSpPr>
          <p:cNvPr id="19" name="Why heading"/>
          <p:cNvSpPr txBox="1"/>
          <p:nvPr/>
        </p:nvSpPr>
        <p:spPr>
          <a:xfrm>
            <a:off x="822960" y="4023360"/>
            <a:ext cx="576072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How a driver finds a space today</a:t>
            </a:r>
            <a:endParaRPr lang="en-US" sz="1800" dirty="0"/>
          </a:p>
        </p:txBody>
      </p:sp>
      <p:sp>
        <p:nvSpPr>
          <p:cNvPr id="20" name="Why bullets"/>
          <p:cNvSpPr txBox="1"/>
          <p:nvPr/>
        </p:nvSpPr>
        <p:spPr>
          <a:xfrm>
            <a:off x="822960" y="4462272"/>
            <a:ext cx="5760720" cy="16002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Picks a car park by distance or habit, and learns it is full at the gate.</a:t>
            </a:r>
            <a:endParaRPr lang="en-US" sz="1500" dirty="0"/>
          </a:p>
          <a:p>
            <a:pPr marL="203200" indent="-2032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Drives on to the next one. While searching, the car is part of the traffic.</a:t>
            </a:r>
            <a:endParaRPr lang="en-US" sz="1500" dirty="0"/>
          </a:p>
          <a:p>
            <a:pPr marL="203200" indent="-2032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 navigator sends every driver to the same nearest car park.</a:t>
            </a:r>
            <a:endParaRPr lang="en-US" sz="1500" dirty="0"/>
          </a:p>
        </p:txBody>
      </p:sp>
      <p:sp>
        <p:nvSpPr>
          <p:cNvPr id="21" name="User panel"/>
          <p:cNvSpPr/>
          <p:nvPr/>
        </p:nvSpPr>
        <p:spPr>
          <a:xfrm>
            <a:off x="7132320" y="3886200"/>
            <a:ext cx="4510735" cy="2286000"/>
          </a:xfrm>
          <a:prstGeom prst="roundRect">
            <a:avLst>
              <a:gd name="adj" fmla="val 3200"/>
            </a:avLst>
          </a:prstGeom>
          <a:solidFill>
            <a:schemeClr val="bg2"/>
          </a:solidFill>
          <a:ln w="9525">
            <a:solidFill>
              <a:schemeClr val="accent5"/>
            </a:solidFill>
            <a:prstDash val="solid"/>
          </a:ln>
        </p:spPr>
      </p:sp>
      <p:sp>
        <p:nvSpPr>
          <p:cNvPr id="22" name="User lamp"/>
          <p:cNvSpPr/>
          <p:nvPr/>
        </p:nvSpPr>
        <p:spPr>
          <a:xfrm>
            <a:off x="7406640" y="4078224"/>
            <a:ext cx="201168" cy="201168"/>
          </a:xfrm>
          <a:prstGeom prst="ellipse">
            <a:avLst/>
          </a:prstGeom>
          <a:solidFill>
            <a:schemeClr val="accent4"/>
          </a:solidFill>
          <a:ln/>
        </p:spPr>
      </p:sp>
      <p:sp>
        <p:nvSpPr>
          <p:cNvPr id="23" name="User heading"/>
          <p:cNvSpPr txBox="1"/>
          <p:nvPr/>
        </p:nvSpPr>
        <p:spPr>
          <a:xfrm>
            <a:off x="7726680" y="4023360"/>
            <a:ext cx="3596335" cy="329184"/>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The user</a:t>
            </a:r>
            <a:endParaRPr lang="en-US" sz="1800" dirty="0"/>
          </a:p>
        </p:txBody>
      </p:sp>
      <p:sp>
        <p:nvSpPr>
          <p:cNvPr id="24" name="User text"/>
          <p:cNvSpPr txBox="1"/>
          <p:nvPr/>
        </p:nvSpPr>
        <p:spPr>
          <a:xfrm>
            <a:off x="7406640" y="4462272"/>
            <a:ext cx="3962095" cy="1600200"/>
          </a:xfrm>
          <a:prstGeom prst="rect">
            <a:avLst/>
          </a:prstGeom>
          <a:noFill/>
          <a:ln/>
        </p:spPr>
        <p:txBody>
          <a:bodyPr wrap="square" lIns="0" tIns="0" rIns="0" bIns="0" rtlCol="0" anchor="t"/>
          <a:lstStyle/>
          <a:p>
            <a:pPr indent="0" marL="0">
              <a:spcAft>
                <a:spcPts val="800"/>
              </a:spcAft>
              <a:buNone/>
            </a:pPr>
            <a:r>
              <a:rPr lang="en-US" sz="1500" dirty="0">
                <a:solidFill>
                  <a:schemeClr val="tx1"/>
                </a:solidFill>
                <a:latin typeface="Calibri" pitchFamily="34" charset="0"/>
                <a:ea typeface="Calibri" pitchFamily="34" charset="-122"/>
                <a:cs typeface="Calibri" pitchFamily="34" charset="-120"/>
              </a:rPr>
              <a:t>Drivers going to busy places: malls, business centres, hospitals, stations.</a:t>
            </a:r>
            <a:endParaRPr lang="en-US" sz="1500" dirty="0"/>
          </a:p>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Who pays: </a:t>
            </a:r>
            <a:pPr indent="0" marL="0">
              <a:spcAft>
                <a:spcPts val="800"/>
              </a:spcAft>
              <a:buNone/>
            </a:pPr>
            <a:r>
              <a:rPr lang="en-US" sz="1500" dirty="0">
                <a:solidFill>
                  <a:schemeClr val="tx1"/>
                </a:solidFill>
                <a:latin typeface="Calibri" pitchFamily="34" charset="0"/>
                <a:ea typeface="Calibri" pitchFamily="34" charset="-122"/>
                <a:cs typeface="Calibri" pitchFamily="34" charset="-120"/>
              </a:rPr>
              <a:t>car park operators, and the city, which wants less searching traffic.</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LIVE DEMO  ·  /tracker</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Free spaces now, and when you arrive</a:t>
            </a:r>
            <a:endParaRPr lang="en-US" sz="3600" dirty="0"/>
          </a:p>
        </p:txBody>
      </p:sp>
      <p:sp>
        <p:nvSpPr>
          <p:cNvPr id="8" name="Tracker frame panel"/>
          <p:cNvSpPr/>
          <p:nvPr/>
        </p:nvSpPr>
        <p:spPr>
          <a:xfrm>
            <a:off x="548640" y="1691640"/>
            <a:ext cx="6437376" cy="3677031"/>
          </a:xfrm>
          <a:prstGeom prst="roundRect">
            <a:avLst>
              <a:gd name="adj" fmla="val 1989"/>
            </a:avLst>
          </a:prstGeom>
          <a:solidFill>
            <a:schemeClr val="bg2"/>
          </a:solidFill>
          <a:ln w="9525">
            <a:solidFill>
              <a:schemeClr val="accent5"/>
            </a:solidFill>
            <a:prstDash val="solid"/>
          </a:ln>
        </p:spPr>
      </p:sp>
      <p:pic>
        <p:nvPicPr>
          <p:cNvPr id="9" name="Tracker frame" descr="Tracker reading of the PUCPR car park">    </p:cNvPr>
          <p:cNvPicPr>
            <a:picLocks noChangeAspect="1"/>
          </p:cNvPicPr>
          <p:nvPr/>
        </p:nvPicPr>
        <p:blipFill>
          <a:blip r:embed="rId1"/>
          <a:srcRect l="0" r="0" t="0" b="0"/>
          <a:stretch/>
        </p:blipFill>
        <p:spPr>
          <a:xfrm>
            <a:off x="612648" y="1755648"/>
            <a:ext cx="6309360" cy="3549015"/>
          </a:xfrm>
          <a:prstGeom prst="rect">
            <a:avLst/>
          </a:prstGeom>
        </p:spPr>
      </p:pic>
      <p:sp>
        <p:nvSpPr>
          <p:cNvPr id="10" name="Lots line"/>
          <p:cNvSpPr txBox="1"/>
          <p:nvPr/>
        </p:nvSpPr>
        <p:spPr>
          <a:xfrm>
            <a:off x="548640" y="5441823"/>
            <a:ext cx="6437376"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PUCPR: 100 spaces, 2012-10-17   ·   UFPR05: 40 spaces, 2013-03-22   ·   UFPR04: 28 spaces, 2013-01-18</a:t>
            </a:r>
            <a:endParaRPr lang="en-US" sz="1200" dirty="0"/>
          </a:p>
        </p:txBody>
      </p:sp>
      <p:sp>
        <p:nvSpPr>
          <p:cNvPr id="11" name="Demo link"/>
          <p:cNvSpPr txBox="1"/>
          <p:nvPr/>
        </p:nvSpPr>
        <p:spPr>
          <a:xfrm>
            <a:off x="548640" y="5870448"/>
            <a:ext cx="6437376" cy="292608"/>
          </a:xfrm>
          <a:prstGeom prst="rect">
            <a:avLst/>
          </a:prstGeom>
          <a:noFill/>
          <a:ln/>
        </p:spPr>
        <p:txBody>
          <a:bodyPr wrap="square" lIns="0" tIns="0" rIns="0" bIns="0" rtlCol="0" anchor="ctr"/>
          <a:lstStyle/>
          <a:p>
            <a:pPr indent="0" marL="0">
              <a:buNone/>
            </a:pPr>
            <a:r>
              <a:rPr lang="en-US" sz="1300" u="sng" dirty="0">
                <a:solidFill>
                  <a:schemeClr val="accent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https://oqim-audit.vercel.app/tracker</a:t>
            </a:r>
            <a:pPr indent="0" marL="0">
              <a:buNone/>
            </a:pPr>
            <a:r>
              <a:rPr lang="en-US" sz="1300" dirty="0">
                <a:solidFill>
                  <a:schemeClr val="tx2"/>
                </a:solidFill>
                <a:latin typeface="Calibri" pitchFamily="34" charset="0"/>
                <a:ea typeface="Calibri" pitchFamily="34" charset="-122"/>
                <a:cs typeface="Calibri" pitchFamily="34" charset="-120"/>
              </a:rPr>
              <a:t>   3 PKLot cameras, 06:55 to 10:35, a frame every 5 min</a:t>
            </a:r>
            <a:endParaRPr lang="en-US" sz="1300" dirty="0"/>
          </a:p>
        </p:txBody>
      </p:sp>
      <p:sp>
        <p:nvSpPr>
          <p:cNvPr id="12" name="Tracker stat 1"/>
          <p:cNvSpPr/>
          <p:nvPr/>
        </p:nvSpPr>
        <p:spPr>
          <a:xfrm>
            <a:off x="7269480" y="1691640"/>
            <a:ext cx="4373575" cy="1017270"/>
          </a:xfrm>
          <a:prstGeom prst="roundRect">
            <a:avLst>
              <a:gd name="adj" fmla="val 7191"/>
            </a:avLst>
          </a:prstGeom>
          <a:solidFill>
            <a:schemeClr val="bg2"/>
          </a:solidFill>
          <a:ln w="9525">
            <a:solidFill>
              <a:schemeClr val="accent5"/>
            </a:solidFill>
            <a:prstDash val="solid"/>
          </a:ln>
        </p:spPr>
      </p:sp>
      <p:sp>
        <p:nvSpPr>
          <p:cNvPr id="13" name="Tracker stat 1 value"/>
          <p:cNvSpPr txBox="1"/>
          <p:nvPr/>
        </p:nvSpPr>
        <p:spPr>
          <a:xfrm>
            <a:off x="7498080" y="1764792"/>
            <a:ext cx="3916375" cy="457200"/>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98.8%</a:t>
            </a:r>
            <a:endParaRPr lang="en-US" sz="2800" dirty="0"/>
          </a:p>
        </p:txBody>
      </p:sp>
      <p:sp>
        <p:nvSpPr>
          <p:cNvPr id="14" name="Tracker stat 1 label"/>
          <p:cNvSpPr txBox="1"/>
          <p:nvPr/>
        </p:nvSpPr>
        <p:spPr>
          <a:xfrm>
            <a:off x="7498080" y="2276856"/>
            <a:ext cx="3916375" cy="37719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of space readings right: 112 frames, 6,844 readings</a:t>
            </a:r>
            <a:endParaRPr lang="en-US" sz="1300" dirty="0"/>
          </a:p>
        </p:txBody>
      </p:sp>
      <p:sp>
        <p:nvSpPr>
          <p:cNvPr id="15" name="Tracker stat 2"/>
          <p:cNvSpPr/>
          <p:nvPr/>
        </p:nvSpPr>
        <p:spPr>
          <a:xfrm>
            <a:off x="7269480" y="2846070"/>
            <a:ext cx="4373575" cy="1017270"/>
          </a:xfrm>
          <a:prstGeom prst="roundRect">
            <a:avLst>
              <a:gd name="adj" fmla="val 7191"/>
            </a:avLst>
          </a:prstGeom>
          <a:solidFill>
            <a:schemeClr val="bg2"/>
          </a:solidFill>
          <a:ln w="9525">
            <a:solidFill>
              <a:schemeClr val="accent5"/>
            </a:solidFill>
            <a:prstDash val="solid"/>
          </a:ln>
        </p:spPr>
      </p:sp>
      <p:sp>
        <p:nvSpPr>
          <p:cNvPr id="16" name="Tracker stat 2 value"/>
          <p:cNvSpPr txBox="1"/>
          <p:nvPr/>
        </p:nvSpPr>
        <p:spPr>
          <a:xfrm>
            <a:off x="7498080" y="2919222"/>
            <a:ext cx="3916375" cy="457200"/>
          </a:xfrm>
          <a:prstGeom prst="rect">
            <a:avLst/>
          </a:prstGeom>
          <a:noFill/>
          <a:ln/>
        </p:spPr>
        <p:txBody>
          <a:bodyPr wrap="square" lIns="0" tIns="0" rIns="0" bIns="0" rtlCol="0" anchor="b"/>
          <a:lstStyle/>
          <a:p>
            <a:pPr indent="0" marL="0">
              <a:buNone/>
            </a:pPr>
            <a:r>
              <a:rPr lang="en-US" sz="2800" b="1" dirty="0">
                <a:solidFill>
                  <a:schemeClr val="accent1"/>
                </a:solidFill>
                <a:latin typeface="Arial" pitchFamily="34" charset="0"/>
                <a:ea typeface="Arial" pitchFamily="34" charset="-122"/>
                <a:cs typeface="Arial" pitchFamily="34" charset="-120"/>
              </a:rPr>
              <a:t>1 / 4</a:t>
            </a:r>
            <a:endParaRPr lang="en-US" sz="2800" dirty="0"/>
          </a:p>
        </p:txBody>
      </p:sp>
      <p:sp>
        <p:nvSpPr>
          <p:cNvPr id="17" name="Tracker stat 2 label"/>
          <p:cNvSpPr txBox="1"/>
          <p:nvPr/>
        </p:nvSpPr>
        <p:spPr>
          <a:xfrm>
            <a:off x="7498080" y="3431286"/>
            <a:ext cx="3916375" cy="37719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free count off by, median / 90th percentile, spaces per frame</a:t>
            </a:r>
            <a:endParaRPr lang="en-US" sz="1300" dirty="0"/>
          </a:p>
        </p:txBody>
      </p:sp>
      <p:sp>
        <p:nvSpPr>
          <p:cNvPr id="18" name="Tracker stat 3"/>
          <p:cNvSpPr/>
          <p:nvPr/>
        </p:nvSpPr>
        <p:spPr>
          <a:xfrm>
            <a:off x="7269480" y="4000500"/>
            <a:ext cx="4373575" cy="1017270"/>
          </a:xfrm>
          <a:prstGeom prst="roundRect">
            <a:avLst>
              <a:gd name="adj" fmla="val 7191"/>
            </a:avLst>
          </a:prstGeom>
          <a:solidFill>
            <a:schemeClr val="bg2"/>
          </a:solidFill>
          <a:ln w="9525">
            <a:solidFill>
              <a:schemeClr val="accent5"/>
            </a:solidFill>
            <a:prstDash val="solid"/>
          </a:ln>
        </p:spPr>
      </p:sp>
      <p:sp>
        <p:nvSpPr>
          <p:cNvPr id="19" name="Tracker stat 3 value"/>
          <p:cNvSpPr txBox="1"/>
          <p:nvPr/>
        </p:nvSpPr>
        <p:spPr>
          <a:xfrm>
            <a:off x="7498080" y="4073652"/>
            <a:ext cx="3916375" cy="457200"/>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3.0 vs 4.6</a:t>
            </a:r>
            <a:endParaRPr lang="en-US" sz="2800" dirty="0"/>
          </a:p>
        </p:txBody>
      </p:sp>
      <p:sp>
        <p:nvSpPr>
          <p:cNvPr id="20" name="Tracker stat 3 label"/>
          <p:cNvSpPr txBox="1"/>
          <p:nvPr/>
        </p:nvSpPr>
        <p:spPr>
          <a:xfrm>
            <a:off x="7498080" y="4585716"/>
            <a:ext cx="3916375" cy="37719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forecast error 10 min ahead, in spaces; "same as now" gives 4.6</a:t>
            </a:r>
            <a:endParaRPr lang="en-US" sz="1300" dirty="0"/>
          </a:p>
        </p:txBody>
      </p:sp>
      <p:sp>
        <p:nvSpPr>
          <p:cNvPr id="21" name="Tracker stat 4"/>
          <p:cNvSpPr/>
          <p:nvPr/>
        </p:nvSpPr>
        <p:spPr>
          <a:xfrm>
            <a:off x="7269480" y="5154930"/>
            <a:ext cx="4373575" cy="1017270"/>
          </a:xfrm>
          <a:prstGeom prst="roundRect">
            <a:avLst>
              <a:gd name="adj" fmla="val 7191"/>
            </a:avLst>
          </a:prstGeom>
          <a:solidFill>
            <a:schemeClr val="bg2"/>
          </a:solidFill>
          <a:ln w="9525">
            <a:solidFill>
              <a:schemeClr val="accent5"/>
            </a:solidFill>
            <a:prstDash val="solid"/>
          </a:ln>
        </p:spPr>
      </p:sp>
      <p:sp>
        <p:nvSpPr>
          <p:cNvPr id="22" name="Tracker stat 4 value"/>
          <p:cNvSpPr txBox="1"/>
          <p:nvPr/>
        </p:nvSpPr>
        <p:spPr>
          <a:xfrm>
            <a:off x="7498080" y="5228082"/>
            <a:ext cx="3916375" cy="457200"/>
          </a:xfrm>
          <a:prstGeom prst="rect">
            <a:avLst/>
          </a:prstGeom>
          <a:noFill/>
          <a:ln/>
        </p:spPr>
        <p:txBody>
          <a:bodyPr wrap="square" lIns="0" tIns="0" rIns="0" bIns="0" rtlCol="0" anchor="b"/>
          <a:lstStyle/>
          <a:p>
            <a:pPr indent="0" marL="0">
              <a:buNone/>
            </a:pPr>
            <a:r>
              <a:rPr lang="en-US" sz="2800" b="1" dirty="0">
                <a:solidFill>
                  <a:schemeClr val="accent3"/>
                </a:solidFill>
                <a:latin typeface="Arial" pitchFamily="34" charset="0"/>
                <a:ea typeface="Arial" pitchFamily="34" charset="-122"/>
                <a:cs typeface="Arial" pitchFamily="34" charset="-120"/>
              </a:rPr>
              <a:t>146 in, 11 out</a:t>
            </a:r>
            <a:endParaRPr lang="en-US" sz="2800" dirty="0"/>
          </a:p>
        </p:txBody>
      </p:sp>
      <p:sp>
        <p:nvSpPr>
          <p:cNvPr id="23" name="Tracker stat 4 label"/>
          <p:cNvSpPr txBox="1"/>
          <p:nvPr/>
        </p:nvSpPr>
        <p:spPr>
          <a:xfrm>
            <a:off x="7498080" y="5740146"/>
            <a:ext cx="3916375" cy="37719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cars seen coming in and leaving</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MEASURED  ·  /parking</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97.4% of spaces right on held-out images</a:t>
            </a:r>
            <a:endParaRPr lang="en-US" sz="3600" dirty="0"/>
          </a:p>
        </p:txBody>
      </p:sp>
      <p:sp>
        <p:nvSpPr>
          <p:cNvPr id="8" name="PKLot panel"/>
          <p:cNvSpPr/>
          <p:nvPr/>
        </p:nvSpPr>
        <p:spPr>
          <a:xfrm>
            <a:off x="548640" y="1691640"/>
            <a:ext cx="6437376" cy="3677031"/>
          </a:xfrm>
          <a:prstGeom prst="roundRect">
            <a:avLst>
              <a:gd name="adj" fmla="val 1989"/>
            </a:avLst>
          </a:prstGeom>
          <a:solidFill>
            <a:schemeClr val="bg2"/>
          </a:solidFill>
          <a:ln w="9525">
            <a:solidFill>
              <a:schemeClr val="accent5"/>
            </a:solidFill>
            <a:prstDash val="solid"/>
          </a:ln>
        </p:spPr>
      </p:sp>
      <p:pic>
        <p:nvPicPr>
          <p:cNvPr id="9" name="PKLot frame" descr="PKLot car park frame with labelled spaces">    </p:cNvPr>
          <p:cNvPicPr>
            <a:picLocks noChangeAspect="1"/>
          </p:cNvPicPr>
          <p:nvPr/>
        </p:nvPicPr>
        <p:blipFill>
          <a:blip r:embed="rId1"/>
          <a:srcRect l="0" r="0" t="0" b="0"/>
          <a:stretch/>
        </p:blipFill>
        <p:spPr>
          <a:xfrm>
            <a:off x="612648" y="1755648"/>
            <a:ext cx="6309360" cy="3549015"/>
          </a:xfrm>
          <a:prstGeom prst="rect">
            <a:avLst/>
          </a:prstGeom>
        </p:spPr>
      </p:pic>
      <p:sp>
        <p:nvSpPr>
          <p:cNvPr id="10" name="Rule text"/>
          <p:cNvSpPr txBox="1"/>
          <p:nvPr/>
        </p:nvSpPr>
        <p:spPr>
          <a:xfrm>
            <a:off x="548640" y="5460111"/>
            <a:ext cx="6437376"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Rule: a space is taken when one car, bus or truck box with confidence above 0.05 covers at least 40% of the space's area; the detector runs on the whole frame and on 3 x 3 overlapping tiles.</a:t>
            </a:r>
            <a:endParaRPr lang="en-US" sz="1200" dirty="0"/>
          </a:p>
        </p:txBody>
      </p:sp>
      <p:sp>
        <p:nvSpPr>
          <p:cNvPr id="11" name="Accuracy card"/>
          <p:cNvSpPr/>
          <p:nvPr/>
        </p:nvSpPr>
        <p:spPr>
          <a:xfrm>
            <a:off x="7269480" y="1691640"/>
            <a:ext cx="4373575" cy="1325880"/>
          </a:xfrm>
          <a:prstGeom prst="roundRect">
            <a:avLst>
              <a:gd name="adj" fmla="val 5517"/>
            </a:avLst>
          </a:prstGeom>
          <a:solidFill>
            <a:schemeClr val="bg2"/>
          </a:solidFill>
          <a:ln w="9525">
            <a:solidFill>
              <a:schemeClr val="accent5"/>
            </a:solidFill>
            <a:prstDash val="solid"/>
          </a:ln>
        </p:spPr>
      </p:sp>
      <p:sp>
        <p:nvSpPr>
          <p:cNvPr id="12" name="Accuracy value"/>
          <p:cNvSpPr txBox="1"/>
          <p:nvPr/>
        </p:nvSpPr>
        <p:spPr>
          <a:xfrm>
            <a:off x="7498080" y="1764792"/>
            <a:ext cx="3916375" cy="502920"/>
          </a:xfrm>
          <a:prstGeom prst="rect">
            <a:avLst/>
          </a:prstGeom>
          <a:noFill/>
          <a:ln/>
        </p:spPr>
        <p:txBody>
          <a:bodyPr wrap="square" lIns="0" tIns="0" rIns="0" bIns="0" rtlCol="0" anchor="b"/>
          <a:lstStyle/>
          <a:p>
            <a:pPr indent="0" marL="0">
              <a:buNone/>
            </a:pPr>
            <a:r>
              <a:rPr lang="en-US" sz="3200" b="1" dirty="0">
                <a:solidFill>
                  <a:schemeClr val="accent4"/>
                </a:solidFill>
                <a:latin typeface="Arial" pitchFamily="34" charset="0"/>
                <a:ea typeface="Arial" pitchFamily="34" charset="-122"/>
                <a:cs typeface="Arial" pitchFamily="34" charset="-120"/>
              </a:rPr>
              <a:t>97.4%</a:t>
            </a:r>
            <a:endParaRPr lang="en-US" sz="3200" dirty="0"/>
          </a:p>
        </p:txBody>
      </p:sp>
      <p:sp>
        <p:nvSpPr>
          <p:cNvPr id="13" name="Accuracy label"/>
          <p:cNvSpPr txBox="1"/>
          <p:nvPr/>
        </p:nvSpPr>
        <p:spPr>
          <a:xfrm>
            <a:off x="7498080" y="2322576"/>
            <a:ext cx="3916375"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of 13,447 spaces right on 240 held-out images</a:t>
            </a:r>
            <a:endParaRPr lang="en-US" sz="1300" dirty="0"/>
          </a:p>
        </p:txBody>
      </p:sp>
      <p:sp>
        <p:nvSpPr>
          <p:cNvPr id="14" name="Precision card"/>
          <p:cNvSpPr/>
          <p:nvPr/>
        </p:nvSpPr>
        <p:spPr>
          <a:xfrm>
            <a:off x="7269480" y="3154680"/>
            <a:ext cx="2095348" cy="1234440"/>
          </a:xfrm>
          <a:prstGeom prst="roundRect">
            <a:avLst>
              <a:gd name="adj" fmla="val 5926"/>
            </a:avLst>
          </a:prstGeom>
          <a:solidFill>
            <a:schemeClr val="bg2"/>
          </a:solidFill>
          <a:ln w="9525">
            <a:solidFill>
              <a:schemeClr val="accent5"/>
            </a:solidFill>
            <a:prstDash val="solid"/>
          </a:ln>
        </p:spPr>
      </p:sp>
      <p:sp>
        <p:nvSpPr>
          <p:cNvPr id="15" name="Precision value"/>
          <p:cNvSpPr txBox="1"/>
          <p:nvPr/>
        </p:nvSpPr>
        <p:spPr>
          <a:xfrm>
            <a:off x="7452360" y="3227832"/>
            <a:ext cx="1729588" cy="438912"/>
          </a:xfrm>
          <a:prstGeom prst="rect">
            <a:avLst/>
          </a:prstGeom>
          <a:noFill/>
          <a:ln/>
        </p:spPr>
        <p:txBody>
          <a:bodyPr wrap="square" lIns="0" tIns="0" rIns="0" bIns="0" rtlCol="0" anchor="b"/>
          <a:lstStyle/>
          <a:p>
            <a:pPr indent="0" marL="0">
              <a:buNone/>
            </a:pPr>
            <a:r>
              <a:rPr lang="en-US" sz="2600" b="1" dirty="0">
                <a:solidFill>
                  <a:schemeClr val="accent1"/>
                </a:solidFill>
                <a:latin typeface="Arial" pitchFamily="34" charset="0"/>
                <a:ea typeface="Arial" pitchFamily="34" charset="-122"/>
                <a:cs typeface="Arial" pitchFamily="34" charset="-120"/>
              </a:rPr>
              <a:t>99.1%</a:t>
            </a:r>
            <a:endParaRPr lang="en-US" sz="2600" dirty="0"/>
          </a:p>
        </p:txBody>
      </p:sp>
      <p:sp>
        <p:nvSpPr>
          <p:cNvPr id="16" name="Precision label"/>
          <p:cNvSpPr txBox="1"/>
          <p:nvPr/>
        </p:nvSpPr>
        <p:spPr>
          <a:xfrm>
            <a:off x="7452360" y="3721608"/>
            <a:ext cx="1729588"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precision, taken</a:t>
            </a:r>
            <a:endParaRPr lang="en-US" sz="1300" dirty="0"/>
          </a:p>
        </p:txBody>
      </p:sp>
      <p:sp>
        <p:nvSpPr>
          <p:cNvPr id="17" name="Recall card"/>
          <p:cNvSpPr/>
          <p:nvPr/>
        </p:nvSpPr>
        <p:spPr>
          <a:xfrm>
            <a:off x="9547708" y="3154680"/>
            <a:ext cx="2095348" cy="1234440"/>
          </a:xfrm>
          <a:prstGeom prst="roundRect">
            <a:avLst>
              <a:gd name="adj" fmla="val 5926"/>
            </a:avLst>
          </a:prstGeom>
          <a:solidFill>
            <a:schemeClr val="bg2"/>
          </a:solidFill>
          <a:ln w="9525">
            <a:solidFill>
              <a:schemeClr val="accent5"/>
            </a:solidFill>
            <a:prstDash val="solid"/>
          </a:ln>
        </p:spPr>
      </p:sp>
      <p:sp>
        <p:nvSpPr>
          <p:cNvPr id="18" name="Recall value"/>
          <p:cNvSpPr txBox="1"/>
          <p:nvPr/>
        </p:nvSpPr>
        <p:spPr>
          <a:xfrm>
            <a:off x="9730588" y="3227832"/>
            <a:ext cx="1729588" cy="438912"/>
          </a:xfrm>
          <a:prstGeom prst="rect">
            <a:avLst/>
          </a:prstGeom>
          <a:noFill/>
          <a:ln/>
        </p:spPr>
        <p:txBody>
          <a:bodyPr wrap="square" lIns="0" tIns="0" rIns="0" bIns="0" rtlCol="0" anchor="b"/>
          <a:lstStyle/>
          <a:p>
            <a:pPr indent="0" marL="0">
              <a:buNone/>
            </a:pPr>
            <a:r>
              <a:rPr lang="en-US" sz="2600" b="1" dirty="0">
                <a:solidFill>
                  <a:schemeClr val="accent1"/>
                </a:solidFill>
                <a:latin typeface="Arial" pitchFamily="34" charset="0"/>
                <a:ea typeface="Arial" pitchFamily="34" charset="-122"/>
                <a:cs typeface="Arial" pitchFamily="34" charset="-120"/>
              </a:rPr>
              <a:t>95.3%</a:t>
            </a:r>
            <a:endParaRPr lang="en-US" sz="2600" dirty="0"/>
          </a:p>
        </p:txBody>
      </p:sp>
      <p:sp>
        <p:nvSpPr>
          <p:cNvPr id="19" name="Recall label"/>
          <p:cNvSpPr txBox="1"/>
          <p:nvPr/>
        </p:nvSpPr>
        <p:spPr>
          <a:xfrm>
            <a:off x="9730588" y="3721608"/>
            <a:ext cx="1729588"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recall, taken</a:t>
            </a:r>
            <a:endParaRPr lang="en-US" sz="1300" dirty="0"/>
          </a:p>
        </p:txBody>
      </p:sp>
      <p:sp>
        <p:nvSpPr>
          <p:cNvPr id="20" name="Weather card"/>
          <p:cNvSpPr/>
          <p:nvPr/>
        </p:nvSpPr>
        <p:spPr>
          <a:xfrm>
            <a:off x="7269480" y="4526280"/>
            <a:ext cx="4373575" cy="1645920"/>
          </a:xfrm>
          <a:prstGeom prst="roundRect">
            <a:avLst>
              <a:gd name="adj" fmla="val 4444"/>
            </a:avLst>
          </a:prstGeom>
          <a:solidFill>
            <a:schemeClr val="bg2"/>
          </a:solidFill>
          <a:ln w="9525">
            <a:solidFill>
              <a:schemeClr val="accent5"/>
            </a:solidFill>
            <a:prstDash val="solid"/>
          </a:ln>
        </p:spPr>
      </p:sp>
      <p:sp>
        <p:nvSpPr>
          <p:cNvPr id="21" name="Weather text"/>
          <p:cNvSpPr txBox="1"/>
          <p:nvPr/>
        </p:nvSpPr>
        <p:spPr>
          <a:xfrm>
            <a:off x="7498080" y="4590288"/>
            <a:ext cx="3916375" cy="1517904"/>
          </a:xfrm>
          <a:prstGeom prst="rect">
            <a:avLst/>
          </a:prstGeom>
          <a:noFill/>
          <a:ln/>
        </p:spPr>
        <p:txBody>
          <a:bodyPr wrap="square" lIns="0" tIns="0" rIns="0" bIns="0" rtlCol="0" anchor="ctr"/>
          <a:lstStyle/>
          <a:p>
            <a:pPr indent="0" marL="0">
              <a:spcAft>
                <a:spcPts val="400"/>
              </a:spcAft>
              <a:buNone/>
            </a:pPr>
            <a:r>
              <a:rPr lang="en-US" sz="1400" b="1" dirty="0">
                <a:solidFill>
                  <a:schemeClr val="accent1"/>
                </a:solidFill>
                <a:latin typeface="Calibri" pitchFamily="34" charset="0"/>
                <a:ea typeface="Calibri" pitchFamily="34" charset="-122"/>
                <a:cs typeface="Calibri" pitchFamily="34" charset="-120"/>
              </a:rPr>
              <a:t>By weather: </a:t>
            </a:r>
            <a:pPr indent="0" marL="0">
              <a:spcAft>
                <a:spcPts val="400"/>
              </a:spcAft>
              <a:buNone/>
            </a:pPr>
            <a:r>
              <a:rPr lang="en-US" sz="1400" dirty="0">
                <a:solidFill>
                  <a:schemeClr val="tx1"/>
                </a:solidFill>
                <a:latin typeface="Calibri" pitchFamily="34" charset="0"/>
                <a:ea typeface="Calibri" pitchFamily="34" charset="-122"/>
                <a:cs typeface="Calibri" pitchFamily="34" charset="-120"/>
              </a:rPr>
              <a:t>sunny 97.0%, cloudy 99.0%, rainy 96.1%.</a:t>
            </a:r>
            <a:endParaRPr lang="en-US" sz="1400" dirty="0"/>
          </a:p>
          <a:p>
            <a:pPr indent="0" marL="0">
              <a:spcAft>
                <a:spcPts val="400"/>
              </a:spcAft>
              <a:buNone/>
            </a:pPr>
            <a:r>
              <a:rPr lang="en-US" sz="1400" b="1" dirty="0">
                <a:solidFill>
                  <a:schemeClr val="accent1"/>
                </a:solidFill>
                <a:latin typeface="Calibri" pitchFamily="34" charset="0"/>
                <a:ea typeface="Calibri" pitchFamily="34" charset="-122"/>
                <a:cs typeface="Calibri" pitchFamily="34" charset="-120"/>
              </a:rPr>
              <a:t>Free count: </a:t>
            </a:r>
            <a:pPr indent="0" marL="0">
              <a:spcAft>
                <a:spcPts val="400"/>
              </a:spcAft>
              <a:buNone/>
            </a:pPr>
            <a:r>
              <a:rPr lang="en-US" sz="1400" dirty="0">
                <a:solidFill>
                  <a:schemeClr val="tx1"/>
                </a:solidFill>
                <a:latin typeface="Calibri" pitchFamily="34" charset="0"/>
                <a:ea typeface="Calibri" pitchFamily="34" charset="-122"/>
                <a:cs typeface="Calibri" pitchFamily="34" charset="-120"/>
              </a:rPr>
              <a:t>off by a median of 0, 4 at the 90th percentile.</a:t>
            </a:r>
            <a:endParaRPr lang="en-US" sz="1400" dirty="0"/>
          </a:p>
          <a:p>
            <a:pPr indent="0" marL="0">
              <a:spcAft>
                <a:spcPts val="400"/>
              </a:spcAft>
              <a:buNone/>
            </a:pPr>
            <a:r>
              <a:rPr lang="en-US" sz="1400" b="1" dirty="0">
                <a:solidFill>
                  <a:schemeClr val="accent2"/>
                </a:solidFill>
                <a:latin typeface="Calibri" pitchFamily="34" charset="0"/>
                <a:ea typeface="Calibri" pitchFamily="34" charset="-122"/>
                <a:cs typeface="Calibri" pitchFamily="34" charset="-120"/>
              </a:rPr>
              <a:t>Not measured: </a:t>
            </a:r>
            <a:pPr indent="0" marL="0">
              <a:spcAft>
                <a:spcPts val="400"/>
              </a:spcAft>
              <a:buNone/>
            </a:pPr>
            <a:r>
              <a:rPr lang="en-US" sz="1400" dirty="0">
                <a:solidFill>
                  <a:schemeClr val="tx1"/>
                </a:solidFill>
                <a:latin typeface="Calibri" pitchFamily="34" charset="0"/>
                <a:ea typeface="Calibri" pitchFamily="34" charset="-122"/>
                <a:cs typeface="Calibri" pitchFamily="34" charset="-120"/>
              </a:rPr>
              <a:t>night. PKLot has no night frames.</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LIVE DEMO  ·  /city</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A district: drivers spread over the car parks</a:t>
            </a:r>
            <a:endParaRPr lang="en-US" sz="3600" dirty="0"/>
          </a:p>
        </p:txBody>
      </p:sp>
      <p:sp>
        <p:nvSpPr>
          <p:cNvPr id="8" name="City panel"/>
          <p:cNvSpPr/>
          <p:nvPr/>
        </p:nvSpPr>
        <p:spPr>
          <a:xfrm>
            <a:off x="548640" y="1691640"/>
            <a:ext cx="6437376" cy="4071366"/>
          </a:xfrm>
          <a:prstGeom prst="roundRect">
            <a:avLst>
              <a:gd name="adj" fmla="val 1797"/>
            </a:avLst>
          </a:prstGeom>
          <a:solidFill>
            <a:schemeClr val="bg2"/>
          </a:solidFill>
          <a:ln w="9525">
            <a:solidFill>
              <a:schemeClr val="accent5"/>
            </a:solidFill>
            <a:prstDash val="solid"/>
          </a:ln>
        </p:spPr>
      </p:sp>
      <p:pic>
        <p:nvPicPr>
          <p:cNvPr id="9" name="City screenshot" descr="Kwun Tong district model">    </p:cNvPr>
          <p:cNvPicPr>
            <a:picLocks noChangeAspect="1"/>
          </p:cNvPicPr>
          <p:nvPr/>
        </p:nvPicPr>
        <p:blipFill>
          <a:blip r:embed="rId1"/>
          <a:srcRect l="0" r="0" t="0" b="0"/>
          <a:stretch/>
        </p:blipFill>
        <p:spPr>
          <a:xfrm>
            <a:off x="612648" y="1755648"/>
            <a:ext cx="6309360" cy="3943350"/>
          </a:xfrm>
          <a:prstGeom prst="rect">
            <a:avLst/>
          </a:prstGeom>
        </p:spPr>
      </p:pic>
      <p:pic>
        <p:nvPicPr>
          <p:cNvPr id="10" name="Camera thumb 1" descr="Hong Kong traffic camera snapshot">    </p:cNvPr>
          <p:cNvPicPr>
            <a:picLocks noChangeAspect="1"/>
          </p:cNvPicPr>
          <p:nvPr/>
        </p:nvPicPr>
        <p:blipFill>
          <a:blip r:embed="rId2"/>
          <a:stretch>
            <a:fillRect/>
          </a:stretch>
        </p:blipFill>
        <p:spPr>
          <a:xfrm>
            <a:off x="5824728" y="1847088"/>
            <a:ext cx="1005840" cy="754380"/>
          </a:xfrm>
          <a:prstGeom prst="rect">
            <a:avLst/>
          </a:prstGeom>
        </p:spPr>
      </p:pic>
      <p:pic>
        <p:nvPicPr>
          <p:cNvPr id="11" name="Camera thumb 2" descr="Hong Kong traffic camera snapshot">    </p:cNvPr>
          <p:cNvPicPr>
            <a:picLocks noChangeAspect="1"/>
          </p:cNvPicPr>
          <p:nvPr/>
        </p:nvPicPr>
        <p:blipFill>
          <a:blip r:embed="rId3"/>
          <a:stretch>
            <a:fillRect/>
          </a:stretch>
        </p:blipFill>
        <p:spPr>
          <a:xfrm>
            <a:off x="5824728" y="2674620"/>
            <a:ext cx="1005840" cy="754380"/>
          </a:xfrm>
          <a:prstGeom prst="rect">
            <a:avLst/>
          </a:prstGeom>
        </p:spPr>
      </p:pic>
      <p:pic>
        <p:nvPicPr>
          <p:cNvPr id="12" name="Camera thumb 3" descr="Hong Kong traffic camera snapshot">    </p:cNvPr>
          <p:cNvPicPr>
            <a:picLocks noChangeAspect="1"/>
          </p:cNvPicPr>
          <p:nvPr/>
        </p:nvPicPr>
        <p:blipFill>
          <a:blip r:embed="rId4"/>
          <a:stretch>
            <a:fillRect/>
          </a:stretch>
        </p:blipFill>
        <p:spPr>
          <a:xfrm>
            <a:off x="5824728" y="3502152"/>
            <a:ext cx="1005840" cy="754380"/>
          </a:xfrm>
          <a:prstGeom prst="rect">
            <a:avLst/>
          </a:prstGeom>
        </p:spPr>
      </p:pic>
      <p:sp>
        <p:nvSpPr>
          <p:cNvPr id="13" name="City caption"/>
          <p:cNvSpPr txBox="1"/>
          <p:nvPr/>
        </p:nvSpPr>
        <p:spPr>
          <a:xfrm>
            <a:off x="548640" y="5854446"/>
            <a:ext cx="6437376" cy="5029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Kwun Tong, Hong Kong: 22 open traffic cameras counted by YOLO26m, live vacancy of 28 car parks (DATA.GOV.HK). Drivers simulated.</a:t>
            </a:r>
            <a:endParaRPr lang="en-US" sz="1200" dirty="0"/>
          </a:p>
        </p:txBody>
      </p:sp>
      <p:sp>
        <p:nvSpPr>
          <p:cNvPr id="14" name="Full car park card"/>
          <p:cNvSpPr/>
          <p:nvPr/>
        </p:nvSpPr>
        <p:spPr>
          <a:xfrm>
            <a:off x="7269480" y="1691640"/>
            <a:ext cx="4373575" cy="1417320"/>
          </a:xfrm>
          <a:prstGeom prst="roundRect">
            <a:avLst>
              <a:gd name="adj" fmla="val 5161"/>
            </a:avLst>
          </a:prstGeom>
          <a:solidFill>
            <a:schemeClr val="bg2"/>
          </a:solidFill>
          <a:ln w="9525">
            <a:solidFill>
              <a:schemeClr val="accent5"/>
            </a:solidFill>
            <a:prstDash val="solid"/>
          </a:ln>
        </p:spPr>
      </p:sp>
      <p:sp>
        <p:nvSpPr>
          <p:cNvPr id="15" name="Full value"/>
          <p:cNvSpPr txBox="1"/>
          <p:nvPr/>
        </p:nvSpPr>
        <p:spPr>
          <a:xfrm>
            <a:off x="7498080" y="1764792"/>
            <a:ext cx="3916375" cy="502920"/>
          </a:xfrm>
          <a:prstGeom prst="rect">
            <a:avLst/>
          </a:prstGeom>
          <a:noFill/>
          <a:ln/>
        </p:spPr>
        <p:txBody>
          <a:bodyPr wrap="square" lIns="0" tIns="0" rIns="0" bIns="0" rtlCol="0" anchor="b"/>
          <a:lstStyle/>
          <a:p>
            <a:pPr indent="0" marL="0">
              <a:buNone/>
            </a:pPr>
            <a:r>
              <a:rPr lang="en-US" sz="3000" b="1" dirty="0">
                <a:solidFill>
                  <a:schemeClr val="accent4"/>
                </a:solidFill>
                <a:latin typeface="Arial" pitchFamily="34" charset="0"/>
                <a:ea typeface="Arial" pitchFamily="34" charset="-122"/>
                <a:cs typeface="Arial" pitchFamily="34" charset="-120"/>
              </a:rPr>
              <a:t>60 → 5</a:t>
            </a:r>
            <a:endParaRPr lang="en-US" sz="3000" dirty="0"/>
          </a:p>
        </p:txBody>
      </p:sp>
      <p:sp>
        <p:nvSpPr>
          <p:cNvPr id="16" name="Full label"/>
          <p:cNvSpPr txBox="1"/>
          <p:nvPr/>
        </p:nvSpPr>
        <p:spPr>
          <a:xfrm>
            <a:off x="7498080" y="2322576"/>
            <a:ext cx="3916375"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drivers arriving to a full car park: nearest car park against OQIM</a:t>
            </a:r>
            <a:endParaRPr lang="en-US" sz="1300" dirty="0"/>
          </a:p>
        </p:txBody>
      </p:sp>
      <p:sp>
        <p:nvSpPr>
          <p:cNvPr id="17" name="Door card"/>
          <p:cNvSpPr/>
          <p:nvPr/>
        </p:nvSpPr>
        <p:spPr>
          <a:xfrm>
            <a:off x="7269480" y="3246120"/>
            <a:ext cx="2095348" cy="1234440"/>
          </a:xfrm>
          <a:prstGeom prst="roundRect">
            <a:avLst>
              <a:gd name="adj" fmla="val 5926"/>
            </a:avLst>
          </a:prstGeom>
          <a:solidFill>
            <a:schemeClr val="bg2"/>
          </a:solidFill>
          <a:ln w="9525">
            <a:solidFill>
              <a:schemeClr val="accent5"/>
            </a:solidFill>
            <a:prstDash val="solid"/>
          </a:ln>
        </p:spPr>
      </p:sp>
      <p:sp>
        <p:nvSpPr>
          <p:cNvPr id="18" name="Door value"/>
          <p:cNvSpPr txBox="1"/>
          <p:nvPr/>
        </p:nvSpPr>
        <p:spPr>
          <a:xfrm>
            <a:off x="7452360" y="3319272"/>
            <a:ext cx="1729588" cy="438912"/>
          </a:xfrm>
          <a:prstGeom prst="rect">
            <a:avLst/>
          </a:prstGeom>
          <a:noFill/>
          <a:ln/>
        </p:spPr>
        <p:txBody>
          <a:bodyPr wrap="square" lIns="0" tIns="0" rIns="0" bIns="0" rtlCol="0" anchor="b"/>
          <a:lstStyle/>
          <a:p>
            <a:pPr indent="0" marL="0">
              <a:buNone/>
            </a:pPr>
            <a:r>
              <a:rPr lang="en-US" sz="2600" b="1" dirty="0">
                <a:solidFill>
                  <a:schemeClr val="accent4"/>
                </a:solidFill>
                <a:latin typeface="Arial" pitchFamily="34" charset="0"/>
                <a:ea typeface="Arial" pitchFamily="34" charset="-122"/>
                <a:cs typeface="Arial" pitchFamily="34" charset="-120"/>
              </a:rPr>
              <a:t>−18%</a:t>
            </a:r>
            <a:endParaRPr lang="en-US" sz="2600" dirty="0"/>
          </a:p>
        </p:txBody>
      </p:sp>
      <p:sp>
        <p:nvSpPr>
          <p:cNvPr id="19" name="Door label"/>
          <p:cNvSpPr txBox="1"/>
          <p:nvPr/>
        </p:nvSpPr>
        <p:spPr>
          <a:xfrm>
            <a:off x="7452360" y="3813048"/>
            <a:ext cx="1729588"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door to door, 15.5 to 12.7 min</a:t>
            </a:r>
            <a:endParaRPr lang="en-US" sz="1300" dirty="0"/>
          </a:p>
        </p:txBody>
      </p:sp>
      <p:sp>
        <p:nvSpPr>
          <p:cNvPr id="20" name="Km card"/>
          <p:cNvSpPr/>
          <p:nvPr/>
        </p:nvSpPr>
        <p:spPr>
          <a:xfrm>
            <a:off x="9547708" y="3246120"/>
            <a:ext cx="2095348" cy="1234440"/>
          </a:xfrm>
          <a:prstGeom prst="roundRect">
            <a:avLst>
              <a:gd name="adj" fmla="val 5926"/>
            </a:avLst>
          </a:prstGeom>
          <a:solidFill>
            <a:schemeClr val="bg2"/>
          </a:solidFill>
          <a:ln w="9525">
            <a:solidFill>
              <a:schemeClr val="accent5"/>
            </a:solidFill>
            <a:prstDash val="solid"/>
          </a:ln>
        </p:spPr>
      </p:sp>
      <p:sp>
        <p:nvSpPr>
          <p:cNvPr id="21" name="Km value"/>
          <p:cNvSpPr txBox="1"/>
          <p:nvPr/>
        </p:nvSpPr>
        <p:spPr>
          <a:xfrm>
            <a:off x="9730588" y="3319272"/>
            <a:ext cx="1729588" cy="438912"/>
          </a:xfrm>
          <a:prstGeom prst="rect">
            <a:avLst/>
          </a:prstGeom>
          <a:noFill/>
          <a:ln/>
        </p:spPr>
        <p:txBody>
          <a:bodyPr wrap="square" lIns="0" tIns="0" rIns="0" bIns="0" rtlCol="0" anchor="b"/>
          <a:lstStyle/>
          <a:p>
            <a:pPr indent="0" marL="0">
              <a:buNone/>
            </a:pPr>
            <a:r>
              <a:rPr lang="en-US" sz="2600" b="1" dirty="0">
                <a:solidFill>
                  <a:schemeClr val="accent4"/>
                </a:solidFill>
                <a:latin typeface="Arial" pitchFamily="34" charset="0"/>
                <a:ea typeface="Arial" pitchFamily="34" charset="-122"/>
                <a:cs typeface="Arial" pitchFamily="34" charset="-120"/>
              </a:rPr>
              <a:t>−41%</a:t>
            </a:r>
            <a:endParaRPr lang="en-US" sz="2600" dirty="0"/>
          </a:p>
        </p:txBody>
      </p:sp>
      <p:sp>
        <p:nvSpPr>
          <p:cNvPr id="22" name="Km label"/>
          <p:cNvSpPr txBox="1"/>
          <p:nvPr/>
        </p:nvSpPr>
        <p:spPr>
          <a:xfrm>
            <a:off x="9730588" y="3813048"/>
            <a:ext cx="1729588"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vehicle-km with searching, 305 to 181</a:t>
            </a:r>
            <a:endParaRPr lang="en-US" sz="1300" dirty="0"/>
          </a:p>
        </p:txBody>
      </p:sp>
      <p:sp>
        <p:nvSpPr>
          <p:cNvPr id="23" name="How card"/>
          <p:cNvSpPr/>
          <p:nvPr/>
        </p:nvSpPr>
        <p:spPr>
          <a:xfrm>
            <a:off x="7269480" y="4617720"/>
            <a:ext cx="4373575" cy="1554480"/>
          </a:xfrm>
          <a:prstGeom prst="roundRect">
            <a:avLst>
              <a:gd name="adj" fmla="val 4706"/>
            </a:avLst>
          </a:prstGeom>
          <a:solidFill>
            <a:schemeClr val="bg2"/>
          </a:solidFill>
          <a:ln w="9525">
            <a:solidFill>
              <a:schemeClr val="accent5"/>
            </a:solidFill>
            <a:prstDash val="solid"/>
          </a:ln>
        </p:spPr>
      </p:sp>
      <p:sp>
        <p:nvSpPr>
          <p:cNvPr id="24" name="How text"/>
          <p:cNvSpPr txBox="1"/>
          <p:nvPr/>
        </p:nvSpPr>
        <p:spPr>
          <a:xfrm>
            <a:off x="7498080" y="4681728"/>
            <a:ext cx="3916375" cy="1426464"/>
          </a:xfrm>
          <a:prstGeom prst="rect">
            <a:avLst/>
          </a:prstGeom>
          <a:noFill/>
          <a:ln/>
        </p:spPr>
        <p:txBody>
          <a:bodyPr wrap="square" lIns="0" tIns="0" rIns="0" bIns="0" rtlCol="0" anchor="ctr"/>
          <a:lstStyle/>
          <a:p>
            <a:pPr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How: </a:t>
            </a:r>
            <a:pPr indent="0" marL="0">
              <a:spcAft>
                <a:spcPts val="400"/>
              </a:spcAft>
              <a:buNone/>
            </a:pPr>
            <a:r>
              <a:rPr lang="en-US" sz="1300" dirty="0">
                <a:solidFill>
                  <a:schemeClr val="tx1"/>
                </a:solidFill>
                <a:latin typeface="Calibri" pitchFamily="34" charset="0"/>
                <a:ea typeface="Calibri" pitchFamily="34" charset="-122"/>
                <a:cs typeface="Calibri" pitchFamily="34" charset="-120"/>
              </a:rPr>
              <a:t>drivers are placed one by one. Each gets the car park and route of least door-to-door time, with the roads and spaces already taken by the drivers placed before.</a:t>
            </a:r>
            <a:endParaRPr lang="en-US" sz="1300" dirty="0"/>
          </a:p>
          <a:p>
            <a:pPr indent="0" marL="0">
              <a:spcAft>
                <a:spcPts val="400"/>
              </a:spcAft>
              <a:buNone/>
            </a:pPr>
            <a:r>
              <a:rPr lang="en-US" sz="1300" dirty="0">
                <a:solidFill>
                  <a:schemeClr val="tx2"/>
                </a:solidFill>
                <a:latin typeface="Calibri" pitchFamily="34" charset="0"/>
                <a:ea typeface="Calibri" pitchFamily="34" charset="-122"/>
                <a:cs typeface="Calibri" pitchFamily="34" charset="-120"/>
              </a:rPr>
              <a:t>Snapshot: 13:45 Hong Kong time, 11 October.</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TECHNOLOGY AND ARCHITECTURE</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From a camera frame to advice</a:t>
            </a:r>
            <a:endParaRPr lang="en-US" sz="3600" dirty="0"/>
          </a:p>
        </p:txBody>
      </p:sp>
      <p:sp>
        <p:nvSpPr>
          <p:cNvPr id="8" name="Pipeline frame"/>
          <p:cNvSpPr/>
          <p:nvPr/>
        </p:nvSpPr>
        <p:spPr>
          <a:xfrm>
            <a:off x="548640" y="1691640"/>
            <a:ext cx="11094415" cy="2880360"/>
          </a:xfrm>
          <a:prstGeom prst="roundRect">
            <a:avLst>
              <a:gd name="adj" fmla="val 2540"/>
            </a:avLst>
          </a:prstGeom>
          <a:solidFill>
            <a:schemeClr val="bg2"/>
          </a:solidFill>
          <a:ln w="9525">
            <a:solidFill>
              <a:schemeClr val="accent5"/>
            </a:solidFill>
            <a:prstDash val="solid"/>
          </a:ln>
        </p:spPr>
      </p:sp>
      <p:sp>
        <p:nvSpPr>
          <p:cNvPr id="9" name="Pipeline label"/>
          <p:cNvSpPr txBox="1"/>
          <p:nvPr/>
        </p:nvSpPr>
        <p:spPr>
          <a:xfrm>
            <a:off x="822960" y="1783080"/>
            <a:ext cx="6400800" cy="32004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For each car park camera</a:t>
            </a:r>
            <a:endParaRPr lang="en-US" sz="1400" dirty="0"/>
          </a:p>
        </p:txBody>
      </p:sp>
      <p:sp>
        <p:nvSpPr>
          <p:cNvPr id="10" name="Arch box 1"/>
          <p:cNvSpPr/>
          <p:nvPr/>
        </p:nvSpPr>
        <p:spPr>
          <a:xfrm>
            <a:off x="822960" y="2212848"/>
            <a:ext cx="1889699" cy="2194560"/>
          </a:xfrm>
          <a:prstGeom prst="roundRect">
            <a:avLst>
              <a:gd name="adj" fmla="val 3871"/>
            </a:avLst>
          </a:prstGeom>
          <a:solidFill>
            <a:schemeClr val="bg1"/>
          </a:solidFill>
          <a:ln w="9525">
            <a:solidFill>
              <a:schemeClr val="accent5"/>
            </a:solidFill>
            <a:prstDash val="solid"/>
          </a:ln>
        </p:spPr>
      </p:sp>
      <p:sp>
        <p:nvSpPr>
          <p:cNvPr id="11" name="Arch box 1 title"/>
          <p:cNvSpPr txBox="1"/>
          <p:nvPr/>
        </p:nvSpPr>
        <p:spPr>
          <a:xfrm>
            <a:off x="987552" y="2331720"/>
            <a:ext cx="1560515" cy="347472"/>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Frames</a:t>
            </a:r>
            <a:endParaRPr lang="en-US" sz="1500" dirty="0"/>
          </a:p>
        </p:txBody>
      </p:sp>
      <p:sp>
        <p:nvSpPr>
          <p:cNvPr id="12" name="Arch box 1 text"/>
          <p:cNvSpPr txBox="1"/>
          <p:nvPr/>
        </p:nvSpPr>
        <p:spPr>
          <a:xfrm>
            <a:off x="987552" y="2724912"/>
            <a:ext cx="1560515" cy="1627632"/>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frame every 5 min from an ordinary fixed camera. The spaces are outlined once per camera.</a:t>
            </a:r>
            <a:endParaRPr lang="en-US" sz="1400" dirty="0"/>
          </a:p>
        </p:txBody>
      </p:sp>
      <p:sp>
        <p:nvSpPr>
          <p:cNvPr id="13" name="Arch arrow 1"/>
          <p:cNvSpPr/>
          <p:nvPr/>
        </p:nvSpPr>
        <p:spPr>
          <a:xfrm rot="5400000">
            <a:off x="2776667" y="3246120"/>
            <a:ext cx="146304" cy="109728"/>
          </a:xfrm>
          <a:prstGeom prst="triangle">
            <a:avLst/>
          </a:prstGeom>
          <a:solidFill>
            <a:schemeClr val="accent1"/>
          </a:solidFill>
          <a:ln/>
        </p:spPr>
      </p:sp>
      <p:sp>
        <p:nvSpPr>
          <p:cNvPr id="14" name="Arch box 2"/>
          <p:cNvSpPr/>
          <p:nvPr/>
        </p:nvSpPr>
        <p:spPr>
          <a:xfrm>
            <a:off x="2986979" y="2212848"/>
            <a:ext cx="1889699" cy="2194560"/>
          </a:xfrm>
          <a:prstGeom prst="roundRect">
            <a:avLst>
              <a:gd name="adj" fmla="val 3871"/>
            </a:avLst>
          </a:prstGeom>
          <a:solidFill>
            <a:schemeClr val="bg1"/>
          </a:solidFill>
          <a:ln w="9525">
            <a:solidFill>
              <a:schemeClr val="accent5"/>
            </a:solidFill>
            <a:prstDash val="solid"/>
          </a:ln>
        </p:spPr>
      </p:sp>
      <p:sp>
        <p:nvSpPr>
          <p:cNvPr id="15" name="Arch box 2 title"/>
          <p:cNvSpPr txBox="1"/>
          <p:nvPr/>
        </p:nvSpPr>
        <p:spPr>
          <a:xfrm>
            <a:off x="3151571" y="2331720"/>
            <a:ext cx="1560515" cy="347472"/>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Detect</a:t>
            </a:r>
            <a:endParaRPr lang="en-US" sz="1500" dirty="0"/>
          </a:p>
        </p:txBody>
      </p:sp>
      <p:sp>
        <p:nvSpPr>
          <p:cNvPr id="16" name="Arch box 2 text"/>
          <p:cNvSpPr txBox="1"/>
          <p:nvPr/>
        </p:nvSpPr>
        <p:spPr>
          <a:xfrm>
            <a:off x="3151571" y="2724912"/>
            <a:ext cx="1560515" cy="1627632"/>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YOLO26n (10 MB), whole frame plus 3 x 3 tiles at 960 px. Cars, buses and trucks.</a:t>
            </a:r>
            <a:endParaRPr lang="en-US" sz="1400" dirty="0"/>
          </a:p>
        </p:txBody>
      </p:sp>
      <p:sp>
        <p:nvSpPr>
          <p:cNvPr id="17" name="Arch arrow 2"/>
          <p:cNvSpPr/>
          <p:nvPr/>
        </p:nvSpPr>
        <p:spPr>
          <a:xfrm rot="5400000">
            <a:off x="4940686" y="3246120"/>
            <a:ext cx="146304" cy="109728"/>
          </a:xfrm>
          <a:prstGeom prst="triangle">
            <a:avLst/>
          </a:prstGeom>
          <a:solidFill>
            <a:schemeClr val="accent1"/>
          </a:solidFill>
          <a:ln/>
        </p:spPr>
      </p:sp>
      <p:sp>
        <p:nvSpPr>
          <p:cNvPr id="18" name="Arch box 3"/>
          <p:cNvSpPr/>
          <p:nvPr/>
        </p:nvSpPr>
        <p:spPr>
          <a:xfrm>
            <a:off x="5150998" y="2212848"/>
            <a:ext cx="1889699" cy="2194560"/>
          </a:xfrm>
          <a:prstGeom prst="roundRect">
            <a:avLst>
              <a:gd name="adj" fmla="val 3871"/>
            </a:avLst>
          </a:prstGeom>
          <a:solidFill>
            <a:schemeClr val="bg1"/>
          </a:solidFill>
          <a:ln w="9525">
            <a:solidFill>
              <a:schemeClr val="accent5"/>
            </a:solidFill>
            <a:prstDash val="solid"/>
          </a:ln>
        </p:spPr>
      </p:sp>
      <p:sp>
        <p:nvSpPr>
          <p:cNvPr id="19" name="Arch box 3 title"/>
          <p:cNvSpPr txBox="1"/>
          <p:nvPr/>
        </p:nvSpPr>
        <p:spPr>
          <a:xfrm>
            <a:off x="5315590" y="2331720"/>
            <a:ext cx="1560515" cy="347472"/>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Space state</a:t>
            </a:r>
            <a:endParaRPr lang="en-US" sz="1500" dirty="0"/>
          </a:p>
        </p:txBody>
      </p:sp>
      <p:sp>
        <p:nvSpPr>
          <p:cNvPr id="20" name="Arch box 3 text"/>
          <p:cNvSpPr txBox="1"/>
          <p:nvPr/>
        </p:nvSpPr>
        <p:spPr>
          <a:xfrm>
            <a:off x="5315590" y="2724912"/>
            <a:ext cx="1560515" cy="1627632"/>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Taken when one box covers 40% of the space. It changes only when two frames in a row agree.</a:t>
            </a:r>
            <a:endParaRPr lang="en-US" sz="1400" dirty="0"/>
          </a:p>
        </p:txBody>
      </p:sp>
      <p:sp>
        <p:nvSpPr>
          <p:cNvPr id="21" name="Arch arrow 3"/>
          <p:cNvSpPr/>
          <p:nvPr/>
        </p:nvSpPr>
        <p:spPr>
          <a:xfrm rot="5400000">
            <a:off x="7104705" y="3246120"/>
            <a:ext cx="146304" cy="109728"/>
          </a:xfrm>
          <a:prstGeom prst="triangle">
            <a:avLst/>
          </a:prstGeom>
          <a:solidFill>
            <a:schemeClr val="accent1"/>
          </a:solidFill>
          <a:ln/>
        </p:spPr>
      </p:sp>
      <p:sp>
        <p:nvSpPr>
          <p:cNvPr id="22" name="Arch box 4"/>
          <p:cNvSpPr/>
          <p:nvPr/>
        </p:nvSpPr>
        <p:spPr>
          <a:xfrm>
            <a:off x="7315017" y="2212848"/>
            <a:ext cx="1889699" cy="2194560"/>
          </a:xfrm>
          <a:prstGeom prst="roundRect">
            <a:avLst>
              <a:gd name="adj" fmla="val 3871"/>
            </a:avLst>
          </a:prstGeom>
          <a:solidFill>
            <a:schemeClr val="bg1"/>
          </a:solidFill>
          <a:ln w="9525">
            <a:solidFill>
              <a:schemeClr val="accent5"/>
            </a:solidFill>
            <a:prstDash val="solid"/>
          </a:ln>
        </p:spPr>
      </p:sp>
      <p:sp>
        <p:nvSpPr>
          <p:cNvPr id="23" name="Arch box 4 title"/>
          <p:cNvSpPr txBox="1"/>
          <p:nvPr/>
        </p:nvSpPr>
        <p:spPr>
          <a:xfrm>
            <a:off x="7479609" y="2331720"/>
            <a:ext cx="1560515" cy="347472"/>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Forecast</a:t>
            </a:r>
            <a:endParaRPr lang="en-US" sz="1500" dirty="0"/>
          </a:p>
        </p:txBody>
      </p:sp>
      <p:sp>
        <p:nvSpPr>
          <p:cNvPr id="24" name="Arch box 4 text"/>
          <p:cNvSpPr txBox="1"/>
          <p:nvPr/>
        </p:nvSpPr>
        <p:spPr>
          <a:xfrm>
            <a:off x="7479609" y="2724912"/>
            <a:ext cx="1560515" cy="1627632"/>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Free spaces, cars in and out. Free spaces 10 min ahead from the last 20 minutes' trend and the usual weekday morning.</a:t>
            </a:r>
            <a:endParaRPr lang="en-US" sz="1400" dirty="0"/>
          </a:p>
        </p:txBody>
      </p:sp>
      <p:sp>
        <p:nvSpPr>
          <p:cNvPr id="25" name="Arch arrow 4"/>
          <p:cNvSpPr/>
          <p:nvPr/>
        </p:nvSpPr>
        <p:spPr>
          <a:xfrm rot="5400000">
            <a:off x="9268724" y="3246120"/>
            <a:ext cx="146304" cy="109728"/>
          </a:xfrm>
          <a:prstGeom prst="triangle">
            <a:avLst/>
          </a:prstGeom>
          <a:solidFill>
            <a:schemeClr val="accent1"/>
          </a:solidFill>
          <a:ln/>
        </p:spPr>
      </p:sp>
      <p:sp>
        <p:nvSpPr>
          <p:cNvPr id="26" name="Arch box 5"/>
          <p:cNvSpPr/>
          <p:nvPr/>
        </p:nvSpPr>
        <p:spPr>
          <a:xfrm>
            <a:off x="9479036" y="2212848"/>
            <a:ext cx="1889699" cy="2194560"/>
          </a:xfrm>
          <a:prstGeom prst="roundRect">
            <a:avLst>
              <a:gd name="adj" fmla="val 3871"/>
            </a:avLst>
          </a:prstGeom>
          <a:solidFill>
            <a:schemeClr val="bg1"/>
          </a:solidFill>
          <a:ln w="9525">
            <a:solidFill>
              <a:schemeClr val="accent5"/>
            </a:solidFill>
            <a:prstDash val="solid"/>
          </a:ln>
        </p:spPr>
      </p:sp>
      <p:sp>
        <p:nvSpPr>
          <p:cNvPr id="27" name="Arch box 5 title"/>
          <p:cNvSpPr txBox="1"/>
          <p:nvPr/>
        </p:nvSpPr>
        <p:spPr>
          <a:xfrm>
            <a:off x="9643628" y="2331720"/>
            <a:ext cx="1560515" cy="347472"/>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Advise</a:t>
            </a:r>
            <a:endParaRPr lang="en-US" sz="1500" dirty="0"/>
          </a:p>
        </p:txBody>
      </p:sp>
      <p:sp>
        <p:nvSpPr>
          <p:cNvPr id="28" name="Arch box 5 text"/>
          <p:cNvSpPr txBox="1"/>
          <p:nvPr/>
        </p:nvSpPr>
        <p:spPr>
          <a:xfrm>
            <a:off x="9643628" y="2724912"/>
            <a:ext cx="1560515" cy="1627632"/>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Drivers placed one by one on the car park and route of least door-to-door time, counting those already sent.</a:t>
            </a:r>
            <a:endParaRPr lang="en-US" sz="1400" dirty="0"/>
          </a:p>
        </p:txBody>
      </p:sp>
      <p:sp>
        <p:nvSpPr>
          <p:cNvPr id="29" name="Tech stat 1"/>
          <p:cNvSpPr/>
          <p:nvPr/>
        </p:nvSpPr>
        <p:spPr>
          <a:xfrm>
            <a:off x="548640" y="4800600"/>
            <a:ext cx="2567864" cy="1371600"/>
          </a:xfrm>
          <a:prstGeom prst="roundRect">
            <a:avLst>
              <a:gd name="adj" fmla="val 5333"/>
            </a:avLst>
          </a:prstGeom>
          <a:solidFill>
            <a:schemeClr val="bg2"/>
          </a:solidFill>
          <a:ln w="9525">
            <a:solidFill>
              <a:schemeClr val="accent5"/>
            </a:solidFill>
            <a:prstDash val="solid"/>
          </a:ln>
        </p:spPr>
      </p:sp>
      <p:sp>
        <p:nvSpPr>
          <p:cNvPr id="30" name="Tech stat 1 value"/>
          <p:cNvSpPr txBox="1"/>
          <p:nvPr/>
        </p:nvSpPr>
        <p:spPr>
          <a:xfrm>
            <a:off x="777240" y="4892040"/>
            <a:ext cx="2110664" cy="502920"/>
          </a:xfrm>
          <a:prstGeom prst="rect">
            <a:avLst/>
          </a:prstGeom>
          <a:noFill/>
          <a:ln/>
        </p:spPr>
        <p:txBody>
          <a:bodyPr wrap="square" lIns="0" tIns="0" rIns="0" bIns="0" rtlCol="0" anchor="b"/>
          <a:lstStyle/>
          <a:p>
            <a:pPr indent="0" marL="0">
              <a:buNone/>
            </a:pPr>
            <a:r>
              <a:rPr lang="en-US" sz="3200" b="1" dirty="0">
                <a:solidFill>
                  <a:schemeClr val="accent1"/>
                </a:solidFill>
                <a:latin typeface="Arial" pitchFamily="34" charset="0"/>
                <a:ea typeface="Arial" pitchFamily="34" charset="-122"/>
                <a:cs typeface="Arial" pitchFamily="34" charset="-120"/>
              </a:rPr>
              <a:t>10 MB</a:t>
            </a:r>
            <a:endParaRPr lang="en-US" sz="3200" dirty="0"/>
          </a:p>
        </p:txBody>
      </p:sp>
      <p:sp>
        <p:nvSpPr>
          <p:cNvPr id="31" name="Tech stat 1 label"/>
          <p:cNvSpPr txBox="1"/>
          <p:nvPr/>
        </p:nvSpPr>
        <p:spPr>
          <a:xfrm>
            <a:off x="777240" y="5449824"/>
            <a:ext cx="2110664"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detector, YOLO26n in ONNX Runtime Web: WebGPU or WebAssembly</a:t>
            </a:r>
            <a:endParaRPr lang="en-US" sz="1300" dirty="0"/>
          </a:p>
        </p:txBody>
      </p:sp>
      <p:sp>
        <p:nvSpPr>
          <p:cNvPr id="32" name="Tech stat 2"/>
          <p:cNvSpPr/>
          <p:nvPr/>
        </p:nvSpPr>
        <p:spPr>
          <a:xfrm>
            <a:off x="3390824" y="4800600"/>
            <a:ext cx="2567864" cy="1371600"/>
          </a:xfrm>
          <a:prstGeom prst="roundRect">
            <a:avLst>
              <a:gd name="adj" fmla="val 5333"/>
            </a:avLst>
          </a:prstGeom>
          <a:solidFill>
            <a:schemeClr val="bg2"/>
          </a:solidFill>
          <a:ln w="9525">
            <a:solidFill>
              <a:schemeClr val="accent5"/>
            </a:solidFill>
            <a:prstDash val="solid"/>
          </a:ln>
        </p:spPr>
      </p:sp>
      <p:sp>
        <p:nvSpPr>
          <p:cNvPr id="33" name="Tech stat 2 value"/>
          <p:cNvSpPr txBox="1"/>
          <p:nvPr/>
        </p:nvSpPr>
        <p:spPr>
          <a:xfrm>
            <a:off x="3619424" y="4892040"/>
            <a:ext cx="2110664" cy="502920"/>
          </a:xfrm>
          <a:prstGeom prst="rect">
            <a:avLst/>
          </a:prstGeom>
          <a:noFill/>
          <a:ln/>
        </p:spPr>
        <p:txBody>
          <a:bodyPr wrap="square" lIns="0" tIns="0" rIns="0" bIns="0" rtlCol="0" anchor="b"/>
          <a:lstStyle/>
          <a:p>
            <a:pPr indent="0" marL="0">
              <a:buNone/>
            </a:pPr>
            <a:r>
              <a:rPr lang="en-US" sz="3200" b="1" dirty="0">
                <a:solidFill>
                  <a:schemeClr val="accent4"/>
                </a:solidFill>
                <a:latin typeface="Arial" pitchFamily="34" charset="0"/>
                <a:ea typeface="Arial" pitchFamily="34" charset="-122"/>
                <a:cs typeface="Arial" pitchFamily="34" charset="-120"/>
              </a:rPr>
              <a:t>0</a:t>
            </a:r>
            <a:endParaRPr lang="en-US" sz="3200" dirty="0"/>
          </a:p>
        </p:txBody>
      </p:sp>
      <p:sp>
        <p:nvSpPr>
          <p:cNvPr id="34" name="Tech stat 2 label"/>
          <p:cNvSpPr txBox="1"/>
          <p:nvPr/>
        </p:nvSpPr>
        <p:spPr>
          <a:xfrm>
            <a:off x="3619424" y="5449824"/>
            <a:ext cx="2110664"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GPU servers. The detector runs in a browser tab.</a:t>
            </a:r>
            <a:endParaRPr lang="en-US" sz="1300" dirty="0"/>
          </a:p>
        </p:txBody>
      </p:sp>
      <p:sp>
        <p:nvSpPr>
          <p:cNvPr id="35" name="Tech stat 3"/>
          <p:cNvSpPr/>
          <p:nvPr/>
        </p:nvSpPr>
        <p:spPr>
          <a:xfrm>
            <a:off x="6233008" y="4800600"/>
            <a:ext cx="2567864" cy="1371600"/>
          </a:xfrm>
          <a:prstGeom prst="roundRect">
            <a:avLst>
              <a:gd name="adj" fmla="val 5333"/>
            </a:avLst>
          </a:prstGeom>
          <a:solidFill>
            <a:schemeClr val="bg2"/>
          </a:solidFill>
          <a:ln w="9525">
            <a:solidFill>
              <a:schemeClr val="accent5"/>
            </a:solidFill>
            <a:prstDash val="solid"/>
          </a:ln>
        </p:spPr>
      </p:sp>
      <p:sp>
        <p:nvSpPr>
          <p:cNvPr id="36" name="Tech stat 3 value"/>
          <p:cNvSpPr txBox="1"/>
          <p:nvPr/>
        </p:nvSpPr>
        <p:spPr>
          <a:xfrm>
            <a:off x="6461608" y="4892040"/>
            <a:ext cx="2110664" cy="502920"/>
          </a:xfrm>
          <a:prstGeom prst="rect">
            <a:avLst/>
          </a:prstGeom>
          <a:noFill/>
          <a:ln/>
        </p:spPr>
        <p:txBody>
          <a:bodyPr wrap="square" lIns="0" tIns="0" rIns="0" bIns="0" rtlCol="0" anchor="b"/>
          <a:lstStyle/>
          <a:p>
            <a:pPr indent="0" marL="0">
              <a:buNone/>
            </a:pPr>
            <a:r>
              <a:rPr lang="en-US" sz="3200" b="1" dirty="0">
                <a:solidFill>
                  <a:schemeClr val="accent1"/>
                </a:solidFill>
                <a:latin typeface="Arial" pitchFamily="34" charset="0"/>
                <a:ea typeface="Arial" pitchFamily="34" charset="-122"/>
                <a:cs typeface="Arial" pitchFamily="34" charset="-120"/>
              </a:rPr>
              <a:t>No plates</a:t>
            </a:r>
            <a:endParaRPr lang="en-US" sz="3200" dirty="0"/>
          </a:p>
        </p:txBody>
      </p:sp>
      <p:sp>
        <p:nvSpPr>
          <p:cNvPr id="37" name="Tech stat 3 label"/>
          <p:cNvSpPr txBox="1"/>
          <p:nvPr/>
        </p:nvSpPr>
        <p:spPr>
          <a:xfrm>
            <a:off x="6461608" y="5449824"/>
            <a:ext cx="2110664"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and no faces are read. Only boxes over spaces.</a:t>
            </a:r>
            <a:endParaRPr lang="en-US" sz="1300" dirty="0"/>
          </a:p>
        </p:txBody>
      </p:sp>
      <p:sp>
        <p:nvSpPr>
          <p:cNvPr id="38" name="Reuse card"/>
          <p:cNvSpPr/>
          <p:nvPr/>
        </p:nvSpPr>
        <p:spPr>
          <a:xfrm>
            <a:off x="9075191" y="4800600"/>
            <a:ext cx="2567864" cy="1371600"/>
          </a:xfrm>
          <a:prstGeom prst="roundRect">
            <a:avLst>
              <a:gd name="adj" fmla="val 5333"/>
            </a:avLst>
          </a:prstGeom>
          <a:solidFill>
            <a:schemeClr val="bg2"/>
          </a:solidFill>
          <a:ln w="9525">
            <a:solidFill>
              <a:schemeClr val="accent5"/>
            </a:solidFill>
            <a:prstDash val="solid"/>
          </a:ln>
        </p:spPr>
      </p:sp>
      <p:sp>
        <p:nvSpPr>
          <p:cNvPr id="39" name="Reuse text"/>
          <p:cNvSpPr txBox="1"/>
          <p:nvPr/>
        </p:nvSpPr>
        <p:spPr>
          <a:xfrm>
            <a:off x="9258071" y="4892040"/>
            <a:ext cx="2202104" cy="1188720"/>
          </a:xfrm>
          <a:prstGeom prst="rect">
            <a:avLst/>
          </a:prstGeom>
          <a:noFill/>
          <a:ln/>
        </p:spPr>
        <p:txBody>
          <a:bodyPr wrap="square" lIns="0" tIns="0" rIns="0" bIns="0" rtlCol="0" anchor="ctr"/>
          <a:lstStyle/>
          <a:p>
            <a:pPr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Reused, declared: </a:t>
            </a:r>
            <a:pPr indent="0" marL="0">
              <a:spcAft>
                <a:spcPts val="400"/>
              </a:spcAft>
              <a:buNone/>
            </a:pPr>
            <a:r>
              <a:rPr lang="en-US" sz="1300" dirty="0">
                <a:solidFill>
                  <a:schemeClr val="tx1"/>
                </a:solidFill>
                <a:latin typeface="Calibri" pitchFamily="34" charset="0"/>
                <a:ea typeface="Calibri" pitchFamily="34" charset="-122"/>
                <a:cs typeface="Calibri" pitchFamily="34" charset="-120"/>
              </a:rPr>
              <a:t>detector and ONNX worker from our elimination system.</a:t>
            </a:r>
            <a:endParaRPr lang="en-US" sz="1300" dirty="0"/>
          </a:p>
          <a:p>
            <a:pPr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Built for the final: </a:t>
            </a:r>
            <a:pPr indent="0" marL="0">
              <a:spcAft>
                <a:spcPts val="400"/>
              </a:spcAft>
              <a:buNone/>
            </a:pPr>
            <a:r>
              <a:rPr lang="en-US" sz="1300" dirty="0">
                <a:solidFill>
                  <a:schemeClr val="tx1"/>
                </a:solidFill>
                <a:latin typeface="Calibri" pitchFamily="34" charset="0"/>
                <a:ea typeface="Calibri" pitchFamily="34" charset="-122"/>
                <a:cs typeface="Calibri" pitchFamily="34" charset="-120"/>
              </a:rPr>
              <a:t>tracker, space rule and its test, district model, signal audit.</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ALL NUMBERS ARE ASSUMPTIONS TO CHECK WITH THE CUSTOMER</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Budget and ROI</a:t>
            </a:r>
            <a:endParaRPr lang="en-US" sz="3600" dirty="0"/>
          </a:p>
        </p:txBody>
      </p:sp>
      <p:sp>
        <p:nvSpPr>
          <p:cNvPr id="8" name="Pilot card"/>
          <p:cNvSpPr/>
          <p:nvPr/>
        </p:nvSpPr>
        <p:spPr>
          <a:xfrm>
            <a:off x="548640" y="1691640"/>
            <a:ext cx="3515258" cy="4480560"/>
          </a:xfrm>
          <a:prstGeom prst="roundRect">
            <a:avLst>
              <a:gd name="adj" fmla="val 2081"/>
            </a:avLst>
          </a:prstGeom>
          <a:solidFill>
            <a:schemeClr val="bg2"/>
          </a:solidFill>
          <a:ln w="9525">
            <a:solidFill>
              <a:schemeClr val="accent5"/>
            </a:solidFill>
            <a:prstDash val="solid"/>
          </a:ln>
        </p:spPr>
      </p:sp>
      <p:sp>
        <p:nvSpPr>
          <p:cNvPr id="9" name="Pilot heading"/>
          <p:cNvSpPr txBox="1"/>
          <p:nvPr/>
        </p:nvSpPr>
        <p:spPr>
          <a:xfrm>
            <a:off x="822960" y="1874520"/>
            <a:ext cx="2966618" cy="3474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Pilot with an operator</a:t>
            </a:r>
            <a:endParaRPr lang="en-US" sz="1800" dirty="0"/>
          </a:p>
        </p:txBody>
      </p:sp>
      <p:sp>
        <p:nvSpPr>
          <p:cNvPr id="10" name="Pilot months value"/>
          <p:cNvSpPr txBox="1"/>
          <p:nvPr/>
        </p:nvSpPr>
        <p:spPr>
          <a:xfrm>
            <a:off x="822960" y="2258568"/>
            <a:ext cx="2966618" cy="68580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3</a:t>
            </a:r>
            <a:endParaRPr lang="en-US" sz="4800" dirty="0"/>
          </a:p>
        </p:txBody>
      </p:sp>
      <p:sp>
        <p:nvSpPr>
          <p:cNvPr id="11" name="Pilot months label"/>
          <p:cNvSpPr txBox="1"/>
          <p:nvPr/>
        </p:nvSpPr>
        <p:spPr>
          <a:xfrm>
            <a:off x="822960" y="2999232"/>
            <a:ext cx="2966618" cy="292608"/>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months, on the operator's own cameras</a:t>
            </a:r>
            <a:endParaRPr lang="en-US" sz="1400" dirty="0"/>
          </a:p>
        </p:txBody>
      </p:sp>
      <p:sp>
        <p:nvSpPr>
          <p:cNvPr id="12" name="Pilot costs"/>
          <p:cNvSpPr txBox="1"/>
          <p:nvPr/>
        </p:nvSpPr>
        <p:spPr>
          <a:xfrm>
            <a:off x="822960" y="3474720"/>
            <a:ext cx="2966618" cy="256032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People: </a:t>
            </a:r>
            <a:pPr indent="0" marL="0">
              <a:spcAft>
                <a:spcPts val="800"/>
              </a:spcAft>
              <a:buNone/>
            </a:pPr>
            <a:r>
              <a:rPr lang="en-US" sz="1400" dirty="0">
                <a:solidFill>
                  <a:schemeClr val="tx1"/>
                </a:solidFill>
                <a:latin typeface="Calibri" pitchFamily="34" charset="0"/>
                <a:ea typeface="Calibri" pitchFamily="34" charset="-122"/>
                <a:cs typeface="Calibri" pitchFamily="34" charset="-120"/>
              </a:rPr>
              <a:t>3 engineers part time. The main cost.</a:t>
            </a:r>
            <a:endParaRPr lang="en-US" sz="1400" dirty="0"/>
          </a:p>
          <a:p>
            <a:pPr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Hosting: </a:t>
            </a:r>
            <a:pPr indent="0" marL="0">
              <a:spcAft>
                <a:spcPts val="800"/>
              </a:spcAft>
              <a:buNone/>
            </a:pPr>
            <a:r>
              <a:rPr lang="en-US" sz="1400" dirty="0">
                <a:solidFill>
                  <a:schemeClr val="tx1"/>
                </a:solidFill>
                <a:latin typeface="Calibri" pitchFamily="34" charset="0"/>
                <a:ea typeface="Calibri" pitchFamily="34" charset="-122"/>
                <a:cs typeface="Calibri" pitchFamily="34" charset="-120"/>
              </a:rPr>
              <a:t>static, free to USD 20 a month. No GPU server.</a:t>
            </a:r>
            <a:endParaRPr lang="en-US" sz="1400" dirty="0"/>
          </a:p>
          <a:p>
            <a:pPr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Data: </a:t>
            </a:r>
            <a:pPr indent="0" marL="0">
              <a:spcAft>
                <a:spcPts val="800"/>
              </a:spcAft>
              <a:buNone/>
            </a:pPr>
            <a:r>
              <a:rPr lang="en-US" sz="1400" dirty="0">
                <a:solidFill>
                  <a:schemeClr val="tx1"/>
                </a:solidFill>
                <a:latin typeface="Calibri" pitchFamily="34" charset="0"/>
                <a:ea typeface="Calibri" pitchFamily="34" charset="-122"/>
                <a:cs typeface="Calibri" pitchFamily="34" charset="-120"/>
              </a:rPr>
              <a:t>frames from cameras the operator already has. No licences to buy.</a:t>
            </a:r>
            <a:endParaRPr lang="en-US" sz="1400" dirty="0"/>
          </a:p>
        </p:txBody>
      </p:sp>
      <p:sp>
        <p:nvSpPr>
          <p:cNvPr id="13" name="Unit card"/>
          <p:cNvSpPr/>
          <p:nvPr/>
        </p:nvSpPr>
        <p:spPr>
          <a:xfrm>
            <a:off x="4338218" y="1691640"/>
            <a:ext cx="3515258" cy="4480560"/>
          </a:xfrm>
          <a:prstGeom prst="roundRect">
            <a:avLst>
              <a:gd name="adj" fmla="val 2081"/>
            </a:avLst>
          </a:prstGeom>
          <a:solidFill>
            <a:schemeClr val="bg2"/>
          </a:solidFill>
          <a:ln w="9525">
            <a:solidFill>
              <a:schemeClr val="accent5"/>
            </a:solidFill>
            <a:prstDash val="solid"/>
          </a:ln>
        </p:spPr>
      </p:sp>
      <p:sp>
        <p:nvSpPr>
          <p:cNvPr id="14" name="Unit heading"/>
          <p:cNvSpPr txBox="1"/>
          <p:nvPr/>
        </p:nvSpPr>
        <p:spPr>
          <a:xfrm>
            <a:off x="4612538" y="1874520"/>
            <a:ext cx="2966618" cy="3474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Per camera</a:t>
            </a:r>
            <a:endParaRPr lang="en-US" sz="1800" dirty="0"/>
          </a:p>
        </p:txBody>
      </p:sp>
      <p:sp>
        <p:nvSpPr>
          <p:cNvPr id="15" name="Sensors value"/>
          <p:cNvSpPr txBox="1"/>
          <p:nvPr/>
        </p:nvSpPr>
        <p:spPr>
          <a:xfrm>
            <a:off x="4612538" y="2258568"/>
            <a:ext cx="2966618" cy="685800"/>
          </a:xfrm>
          <a:prstGeom prst="rect">
            <a:avLst/>
          </a:prstGeom>
          <a:noFill/>
          <a:ln/>
        </p:spPr>
        <p:txBody>
          <a:bodyPr wrap="square" lIns="0" tIns="0" rIns="0" bIns="0" rtlCol="0" anchor="b"/>
          <a:lstStyle/>
          <a:p>
            <a:pPr indent="0" marL="0">
              <a:buNone/>
            </a:pPr>
            <a:r>
              <a:rPr lang="en-US" sz="4800" b="1" dirty="0">
                <a:solidFill>
                  <a:schemeClr val="accent4"/>
                </a:solidFill>
                <a:latin typeface="Arial" pitchFamily="34" charset="0"/>
                <a:ea typeface="Arial" pitchFamily="34" charset="-122"/>
                <a:cs typeface="Arial" pitchFamily="34" charset="-120"/>
              </a:rPr>
              <a:t>0</a:t>
            </a:r>
            <a:endParaRPr lang="en-US" sz="4800" dirty="0"/>
          </a:p>
        </p:txBody>
      </p:sp>
      <p:sp>
        <p:nvSpPr>
          <p:cNvPr id="16" name="Sensors label"/>
          <p:cNvSpPr txBox="1"/>
          <p:nvPr/>
        </p:nvSpPr>
        <p:spPr>
          <a:xfrm>
            <a:off x="4612538" y="2999232"/>
            <a:ext cx="2966618"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sensors in the ground. One camera covers the spaces it sees.</a:t>
            </a:r>
            <a:endParaRPr lang="en-US" sz="1400" dirty="0"/>
          </a:p>
        </p:txBody>
      </p:sp>
      <p:sp>
        <p:nvSpPr>
          <p:cNvPr id="17" name="Unit costs"/>
          <p:cNvSpPr txBox="1"/>
          <p:nvPr/>
        </p:nvSpPr>
        <p:spPr>
          <a:xfrm>
            <a:off x="4612538" y="3703320"/>
            <a:ext cx="2966618" cy="233172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Our cost: </a:t>
            </a:r>
            <a:pPr indent="0" marL="0">
              <a:spcAft>
                <a:spcPts val="800"/>
              </a:spcAft>
              <a:buNone/>
            </a:pPr>
            <a:r>
              <a:rPr lang="en-US" sz="1400" dirty="0">
                <a:solidFill>
                  <a:schemeClr val="tx1"/>
                </a:solidFill>
                <a:latin typeface="Calibri" pitchFamily="34" charset="0"/>
                <a:ea typeface="Calibri" pitchFamily="34" charset="-122"/>
                <a:cs typeface="Calibri" pitchFamily="34" charset="-120"/>
              </a:rPr>
              <a:t>outlining the spaces once, and checking a sample of frames by hand.</a:t>
            </a:r>
            <a:endParaRPr lang="en-US" sz="1400" dirty="0"/>
          </a:p>
          <a:p>
            <a:pPr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Price: </a:t>
            </a:r>
            <a:pPr indent="0" marL="0">
              <a:spcAft>
                <a:spcPts val="800"/>
              </a:spcAft>
              <a:buNone/>
            </a:pPr>
            <a:r>
              <a:rPr lang="en-US" sz="1400" dirty="0">
                <a:solidFill>
                  <a:schemeClr val="tx1"/>
                </a:solidFill>
                <a:latin typeface="Calibri" pitchFamily="34" charset="0"/>
                <a:ea typeface="Calibri" pitchFamily="34" charset="-122"/>
                <a:cs typeface="Calibri" pitchFamily="34" charset="-120"/>
              </a:rPr>
              <a:t>per camera per month, set in the pilot.</a:t>
            </a:r>
            <a:endParaRPr lang="en-US" sz="1400" dirty="0"/>
          </a:p>
        </p:txBody>
      </p:sp>
      <p:sp>
        <p:nvSpPr>
          <p:cNvPr id="18" name="Value card"/>
          <p:cNvSpPr/>
          <p:nvPr/>
        </p:nvSpPr>
        <p:spPr>
          <a:xfrm>
            <a:off x="8127797" y="1691640"/>
            <a:ext cx="3515258" cy="4480560"/>
          </a:xfrm>
          <a:prstGeom prst="roundRect">
            <a:avLst>
              <a:gd name="adj" fmla="val 2081"/>
            </a:avLst>
          </a:prstGeom>
          <a:solidFill>
            <a:schemeClr val="bg2"/>
          </a:solidFill>
          <a:ln w="9525">
            <a:solidFill>
              <a:schemeClr val="accent5"/>
            </a:solidFill>
            <a:prstDash val="solid"/>
          </a:ln>
        </p:spPr>
      </p:sp>
      <p:sp>
        <p:nvSpPr>
          <p:cNvPr id="19" name="Value heading"/>
          <p:cNvSpPr txBox="1"/>
          <p:nvPr/>
        </p:nvSpPr>
        <p:spPr>
          <a:xfrm>
            <a:off x="8402117" y="1874520"/>
            <a:ext cx="2966618" cy="3474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Value and payback</a:t>
            </a:r>
            <a:endParaRPr lang="en-US" sz="1800" dirty="0"/>
          </a:p>
        </p:txBody>
      </p:sp>
      <p:sp>
        <p:nvSpPr>
          <p:cNvPr id="20" name="Formula box"/>
          <p:cNvSpPr/>
          <p:nvPr/>
        </p:nvSpPr>
        <p:spPr>
          <a:xfrm>
            <a:off x="8402117" y="2350008"/>
            <a:ext cx="2966618" cy="1783080"/>
          </a:xfrm>
          <a:prstGeom prst="roundRect">
            <a:avLst>
              <a:gd name="adj" fmla="val 4103"/>
            </a:avLst>
          </a:prstGeom>
          <a:solidFill>
            <a:schemeClr val="bg1"/>
          </a:solidFill>
          <a:ln w="9525">
            <a:solidFill>
              <a:schemeClr val="accent5"/>
            </a:solidFill>
            <a:prstDash val="solid"/>
          </a:ln>
        </p:spPr>
      </p:sp>
      <p:sp>
        <p:nvSpPr>
          <p:cNvPr id="21" name="Formula"/>
          <p:cNvSpPr txBox="1"/>
          <p:nvPr/>
        </p:nvSpPr>
        <p:spPr>
          <a:xfrm>
            <a:off x="8566709" y="2423160"/>
            <a:ext cx="2637434" cy="1645920"/>
          </a:xfrm>
          <a:prstGeom prst="rect">
            <a:avLst/>
          </a:prstGeom>
          <a:noFill/>
          <a:ln/>
        </p:spPr>
        <p:txBody>
          <a:bodyPr wrap="square" lIns="0" tIns="0" rIns="0" bIns="0" rtlCol="0" anchor="ctr"/>
          <a:lstStyle/>
          <a:p>
            <a:pPr indent="0" marL="0">
              <a:spcAft>
                <a:spcPts val="600"/>
              </a:spcAft>
              <a:buNone/>
            </a:pPr>
            <a:r>
              <a:rPr lang="en-US" sz="1400" b="1" dirty="0">
                <a:solidFill>
                  <a:schemeClr val="accent1"/>
                </a:solidFill>
                <a:latin typeface="Calibri" pitchFamily="34" charset="0"/>
                <a:ea typeface="Calibri" pitchFamily="34" charset="-122"/>
                <a:cs typeface="Calibri" pitchFamily="34" charset="-120"/>
              </a:rPr>
              <a:t>Value a month =</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extra spaces filled × hours × tariff, plus drivers no longer turned away at the gate</a:t>
            </a:r>
            <a:endParaRPr lang="en-US" sz="1400" dirty="0"/>
          </a:p>
          <a:p>
            <a:pPr indent="0" marL="0">
              <a:spcAft>
                <a:spcPts val="600"/>
              </a:spcAft>
              <a:buNone/>
            </a:pPr>
            <a:r>
              <a:rPr lang="en-US" sz="1400" b="1" dirty="0">
                <a:solidFill>
                  <a:schemeClr val="accent1"/>
                </a:solidFill>
                <a:latin typeface="Calibri" pitchFamily="34" charset="0"/>
                <a:ea typeface="Calibri" pitchFamily="34" charset="-122"/>
                <a:cs typeface="Calibri" pitchFamily="34" charset="-120"/>
              </a:rPr>
              <a:t>Payback = price ÷ value a month</a:t>
            </a:r>
            <a:endParaRPr lang="en-US" sz="1400" dirty="0"/>
          </a:p>
        </p:txBody>
      </p:sp>
      <p:sp>
        <p:nvSpPr>
          <p:cNvPr id="22" name="Value notes"/>
          <p:cNvSpPr txBox="1"/>
          <p:nvPr/>
        </p:nvSpPr>
        <p:spPr>
          <a:xfrm>
            <a:off x="8402117" y="4297680"/>
            <a:ext cx="2966618" cy="17373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alibri" pitchFamily="34" charset="0"/>
                <a:ea typeface="Calibri" pitchFamily="34" charset="-122"/>
                <a:cs typeface="Calibri" pitchFamily="34" charset="-120"/>
              </a:rPr>
              <a:t>For the city: less searching traffic. The district model counts it in vehicle-km.</a:t>
            </a:r>
            <a:endParaRPr lang="en-US" sz="1400" dirty="0"/>
          </a:p>
          <a:p>
            <a:pPr indent="0" marL="0">
              <a:spcAft>
                <a:spcPts val="800"/>
              </a:spcAft>
              <a:buNone/>
            </a:pPr>
            <a:r>
              <a:rPr lang="en-US" sz="1400" dirty="0">
                <a:solidFill>
                  <a:schemeClr val="tx1"/>
                </a:solidFill>
                <a:latin typeface="Calibri" pitchFamily="34" charset="0"/>
                <a:ea typeface="Calibri" pitchFamily="34" charset="-122"/>
                <a:cs typeface="Calibri" pitchFamily="34" charset="-120"/>
              </a:rPr>
              <a:t>We state payback from the pilot inputs, not before.</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OUR EDGE</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Why it is hard to copy</a:t>
            </a:r>
            <a:endParaRPr lang="en-US" sz="3600" dirty="0"/>
          </a:p>
        </p:txBody>
      </p:sp>
      <p:sp>
        <p:nvSpPr>
          <p:cNvPr id="8" name="Moat 1 lamp"/>
          <p:cNvSpPr/>
          <p:nvPr/>
        </p:nvSpPr>
        <p:spPr>
          <a:xfrm>
            <a:off x="548640" y="1764792"/>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9" name="Moat 1 title"/>
          <p:cNvSpPr txBox="1"/>
          <p:nvPr/>
        </p:nvSpPr>
        <p:spPr>
          <a:xfrm>
            <a:off x="1234440" y="1691640"/>
            <a:ext cx="562356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A forecast, not only a count</a:t>
            </a:r>
            <a:endParaRPr lang="en-US" sz="1800" dirty="0"/>
          </a:p>
        </p:txBody>
      </p:sp>
      <p:sp>
        <p:nvSpPr>
          <p:cNvPr id="10" name="Moat 1 text"/>
          <p:cNvSpPr txBox="1"/>
          <p:nvPr/>
        </p:nvSpPr>
        <p:spPr>
          <a:xfrm>
            <a:off x="1234440" y="2075688"/>
            <a:ext cx="5623560" cy="603504"/>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Free spaces for the minute you arrive, checked against "same as now" (3.0 vs 4.6 spaces off, 10 min ahead).</a:t>
            </a:r>
            <a:endParaRPr lang="en-US" sz="1500" dirty="0"/>
          </a:p>
        </p:txBody>
      </p:sp>
      <p:sp>
        <p:nvSpPr>
          <p:cNvPr id="11" name="Moat 2 lamp"/>
          <p:cNvSpPr/>
          <p:nvPr/>
        </p:nvSpPr>
        <p:spPr>
          <a:xfrm>
            <a:off x="548640" y="2926080"/>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2" name="Moat 2 title"/>
          <p:cNvSpPr txBox="1"/>
          <p:nvPr/>
        </p:nvSpPr>
        <p:spPr>
          <a:xfrm>
            <a:off x="1234440" y="2852928"/>
            <a:ext cx="562356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Drivers spread, not herded</a:t>
            </a:r>
            <a:endParaRPr lang="en-US" sz="1800" dirty="0"/>
          </a:p>
        </p:txBody>
      </p:sp>
      <p:sp>
        <p:nvSpPr>
          <p:cNvPr id="13" name="Moat 2 text"/>
          <p:cNvSpPr txBox="1"/>
          <p:nvPr/>
        </p:nvSpPr>
        <p:spPr>
          <a:xfrm>
            <a:off x="1234440" y="3236976"/>
            <a:ext cx="5623560" cy="603504"/>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Each driver counts against the spaces and roads of the next. A navigator sends all of them to the nearest car park.</a:t>
            </a:r>
            <a:endParaRPr lang="en-US" sz="1500" dirty="0"/>
          </a:p>
        </p:txBody>
      </p:sp>
      <p:sp>
        <p:nvSpPr>
          <p:cNvPr id="14" name="Moat 3 lamp"/>
          <p:cNvSpPr/>
          <p:nvPr/>
        </p:nvSpPr>
        <p:spPr>
          <a:xfrm>
            <a:off x="548640" y="408736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5" name="Moat 3 title"/>
          <p:cNvSpPr txBox="1"/>
          <p:nvPr/>
        </p:nvSpPr>
        <p:spPr>
          <a:xfrm>
            <a:off x="1234440" y="4014216"/>
            <a:ext cx="562356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Ordinary cameras</a:t>
            </a:r>
            <a:endParaRPr lang="en-US" sz="1800" dirty="0"/>
          </a:p>
        </p:txBody>
      </p:sp>
      <p:sp>
        <p:nvSpPr>
          <p:cNvPr id="16" name="Moat 3 text"/>
          <p:cNvSpPr txBox="1"/>
          <p:nvPr/>
        </p:nvSpPr>
        <p:spPr>
          <a:xfrm>
            <a:off x="1234440" y="4398264"/>
            <a:ext cx="5623560" cy="603504"/>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No sensor per space. The detector runs in a browser tab; no plates or faces are read.</a:t>
            </a:r>
            <a:endParaRPr lang="en-US" sz="1500" dirty="0"/>
          </a:p>
        </p:txBody>
      </p:sp>
      <p:sp>
        <p:nvSpPr>
          <p:cNvPr id="17" name="Moat 4 lamp"/>
          <p:cNvSpPr/>
          <p:nvPr/>
        </p:nvSpPr>
        <p:spPr>
          <a:xfrm>
            <a:off x="548640" y="5248656"/>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4</a:t>
            </a:r>
            <a:endParaRPr lang="en-US" sz="1800" dirty="0"/>
          </a:p>
        </p:txBody>
      </p:sp>
      <p:sp>
        <p:nvSpPr>
          <p:cNvPr id="18" name="Moat 4 title"/>
          <p:cNvSpPr txBox="1"/>
          <p:nvPr/>
        </p:nvSpPr>
        <p:spPr>
          <a:xfrm>
            <a:off x="1234440" y="5175504"/>
            <a:ext cx="562356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The same cameras, more products</a:t>
            </a:r>
            <a:endParaRPr lang="en-US" sz="1800" dirty="0"/>
          </a:p>
        </p:txBody>
      </p:sp>
      <p:sp>
        <p:nvSpPr>
          <p:cNvPr id="19" name="Moat 4 text"/>
          <p:cNvSpPr txBox="1"/>
          <p:nvPr/>
        </p:nvSpPr>
        <p:spPr>
          <a:xfrm>
            <a:off x="1234440" y="5559552"/>
            <a:ext cx="5623560" cy="603504"/>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Our signal audit reads traffic lights from pixels, with no controller access. That is the next stage.</a:t>
            </a:r>
            <a:endParaRPr lang="en-US" sz="1500" dirty="0"/>
          </a:p>
        </p:txBody>
      </p:sp>
      <p:sp>
        <p:nvSpPr>
          <p:cNvPr id="20" name="Reader panel"/>
          <p:cNvSpPr/>
          <p:nvPr/>
        </p:nvSpPr>
        <p:spPr>
          <a:xfrm>
            <a:off x="7223760" y="1691640"/>
            <a:ext cx="4419295" cy="2890076"/>
          </a:xfrm>
          <a:prstGeom prst="roundRect">
            <a:avLst>
              <a:gd name="adj" fmla="val 2531"/>
            </a:avLst>
          </a:prstGeom>
          <a:solidFill>
            <a:schemeClr val="bg2"/>
          </a:solidFill>
          <a:ln w="9525">
            <a:solidFill>
              <a:schemeClr val="accent5"/>
            </a:solidFill>
            <a:prstDash val="solid"/>
          </a:ln>
        </p:spPr>
      </p:sp>
      <p:pic>
        <p:nvPicPr>
          <p:cNvPr id="21" name="Reader frame" descr="Signal lamp reader on the Tashkent junction">    </p:cNvPr>
          <p:cNvPicPr>
            <a:picLocks noChangeAspect="1"/>
          </p:cNvPicPr>
          <p:nvPr/>
        </p:nvPicPr>
        <p:blipFill>
          <a:blip r:embed="rId1"/>
          <a:srcRect l="0" r="0" t="0" b="0"/>
          <a:stretch/>
        </p:blipFill>
        <p:spPr>
          <a:xfrm>
            <a:off x="7287768" y="1755648"/>
            <a:ext cx="4291279" cy="2762060"/>
          </a:xfrm>
          <a:prstGeom prst="rect">
            <a:avLst/>
          </a:prstGeom>
        </p:spPr>
      </p:pic>
      <p:sp>
        <p:nvSpPr>
          <p:cNvPr id="22" name="Reader caption"/>
          <p:cNvSpPr txBox="1"/>
          <p:nvPr/>
        </p:nvSpPr>
        <p:spPr>
          <a:xfrm>
            <a:off x="7223760" y="4636580"/>
            <a:ext cx="4419295" cy="237744"/>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Our lamp reader on the organisers' footage, from pixels only.</a:t>
            </a:r>
            <a:endParaRPr lang="en-US" sz="1200" dirty="0"/>
          </a:p>
        </p:txBody>
      </p:sp>
      <p:sp>
        <p:nvSpPr>
          <p:cNvPr id="23" name="Agreement panel"/>
          <p:cNvSpPr/>
          <p:nvPr/>
        </p:nvSpPr>
        <p:spPr>
          <a:xfrm>
            <a:off x="7223760" y="4983480"/>
            <a:ext cx="4419295" cy="1188720"/>
          </a:xfrm>
          <a:prstGeom prst="roundRect">
            <a:avLst>
              <a:gd name="adj" fmla="val 6154"/>
            </a:avLst>
          </a:prstGeom>
          <a:solidFill>
            <a:schemeClr val="bg2"/>
          </a:solidFill>
          <a:ln w="9525">
            <a:solidFill>
              <a:schemeClr val="accent5"/>
            </a:solidFill>
            <a:prstDash val="solid"/>
          </a:ln>
        </p:spPr>
      </p:sp>
      <p:sp>
        <p:nvSpPr>
          <p:cNvPr id="24" name="Agreement value"/>
          <p:cNvSpPr txBox="1"/>
          <p:nvPr/>
        </p:nvSpPr>
        <p:spPr>
          <a:xfrm>
            <a:off x="7452360" y="5047488"/>
            <a:ext cx="3962095" cy="438912"/>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98.8%</a:t>
            </a:r>
            <a:endParaRPr lang="en-US" sz="2800" dirty="0"/>
          </a:p>
        </p:txBody>
      </p:sp>
      <p:sp>
        <p:nvSpPr>
          <p:cNvPr id="25" name="Agreement label"/>
          <p:cNvSpPr txBox="1"/>
          <p:nvPr/>
        </p:nvSpPr>
        <p:spPr>
          <a:xfrm>
            <a:off x="7452360" y="5541264"/>
            <a:ext cx="3962095" cy="566928"/>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of frames of C3896: the browser's signal reading agrees with our elimination lamp reader.</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NEXT STAGE  ·  /audit</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The same cameras can later time the lights</a:t>
            </a:r>
            <a:endParaRPr lang="en-US" sz="3600" dirty="0"/>
          </a:p>
        </p:txBody>
      </p:sp>
      <p:sp>
        <p:nvSpPr>
          <p:cNvPr id="8" name="Audit intro"/>
          <p:cNvSpPr txBox="1"/>
          <p:nvPr/>
        </p:nvSpPr>
        <p:spPr>
          <a:xfrm>
            <a:off x="548640" y="1572768"/>
            <a:ext cx="11094415" cy="5029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Signal audit from one video: the lights read from pixels, every vehicle over the stop line, then signal plans checked on a replay of the junction's own vehicles. Organisers' footage of one Tashkent junction, southbound.</a:t>
            </a:r>
            <a:endParaRPr lang="en-US" sz="1400" dirty="0"/>
          </a:p>
        </p:txBody>
      </p:sp>
      <p:graphicFrame>
        <p:nvGraphicFramePr>
          <p:cNvPr id="10" name="Audit 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1097280"/>
                <a:gridCol w="1005840"/>
                <a:gridCol w="1234440"/>
                <a:gridCol w="1143000"/>
                <a:gridCol w="2377440"/>
                <a:gridCol w="1280160"/>
                <a:gridCol w="1417320"/>
                <a:gridCol w="1536192"/>
              </a:tblGrid>
              <a:tr h="566928">
                <a:tc>
                  <a:txBody>
                    <a:bodyPr/>
                    <a:lstStyle/>
                    <a:p>
                      <a:pPr indent="0" marL="0">
                        <a:buNone/>
                      </a:pPr>
                      <a:r>
                        <a:rPr lang="en-US" sz="1100" b="1" dirty="0">
                          <a:solidFill>
                            <a:schemeClr val="tx2"/>
                          </a:solidFill>
                          <a:latin typeface="Arial" pitchFamily="34" charset="0"/>
                          <a:ea typeface="Arial" pitchFamily="34" charset="-122"/>
                          <a:cs typeface="Arial" pitchFamily="34" charset="-120"/>
                        </a:rPr>
                        <a:t>Clip</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Length</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Cycle read</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Vehicles</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Replay check: median departure error</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Wait now</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Webster (1958)</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tx2"/>
                          </a:solidFill>
                          <a:latin typeface="Arial" pitchFamily="34" charset="0"/>
                          <a:ea typeface="Arial" pitchFamily="34" charset="-122"/>
                          <a:cs typeface="Arial" pitchFamily="34" charset="-120"/>
                        </a:rPr>
                        <a:t>OQIM predictive</a:t>
                      </a:r>
                      <a:endParaRPr lang="en-US" sz="1100" dirty="0">
                        <a:latin typeface="Arial" charset="0"/>
                        <a:ea typeface="Arial" charset="0"/>
                        <a:cs typeface="Arial"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accent5"/>
                    </a:solidFill>
                  </a:tcPr>
                </a:tc>
              </a:tr>
              <a:tr h="420624">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C3896</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5:40</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75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130</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0.50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9.3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32.6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4"/>
                          </a:solidFill>
                          <a:latin typeface="Calibri" pitchFamily="34" charset="0"/>
                          <a:ea typeface="Calibri" pitchFamily="34" charset="-122"/>
                          <a:cs typeface="Calibri" pitchFamily="34" charset="-120"/>
                        </a:rPr>
                        <a:t>9.1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r>
              <a:tr h="420624">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C3897</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5:18</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75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0.29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10.0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29.7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4"/>
                          </a:solidFill>
                          <a:latin typeface="Calibri" pitchFamily="34" charset="0"/>
                          <a:ea typeface="Calibri" pitchFamily="34" charset="-122"/>
                          <a:cs typeface="Calibri" pitchFamily="34" charset="-120"/>
                        </a:rPr>
                        <a:t>8.7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r>
              <a:tr h="420624">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C3902</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5:18</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80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170</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0.55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12.3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28.8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4"/>
                          </a:solidFill>
                          <a:latin typeface="Calibri" pitchFamily="34" charset="0"/>
                          <a:ea typeface="Calibri" pitchFamily="34" charset="-122"/>
                          <a:cs typeface="Calibri" pitchFamily="34" charset="-120"/>
                        </a:rPr>
                        <a:t>10.1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r>
              <a:tr h="420624">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C3905</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2:08</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80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59</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4.54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10.3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11.9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7.3 s</a:t>
                      </a:r>
                      <a:endParaRPr lang="en-US" sz="1500" dirty="0">
                        <a:latin typeface="Calibri" charset="0"/>
                        <a:ea typeface="Calibri" charset="0"/>
                        <a:cs typeface="Calibri" charset="0"/>
                      </a:endParaRPr>
                    </a:p>
                  </a:txBody>
                  <a:tcPr marL="91440" marR="91440" marT="36576" marB="36576" anchor="ctr">
                    <a:lnL w="9525" cap="flat" cmpd="sng" algn="ctr">
                      <a:solidFill>
                        <a:srgbClr val="2A2D31"/>
                      </a:solidFill>
                      <a:prstDash val="solid"/>
                      <a:round/>
                      <a:headEnd type="none" w="med" len="med"/>
                      <a:tailEnd type="none" w="med" len="med"/>
                    </a:lnL>
                    <a:lnR w="9525" cap="flat" cmpd="sng" algn="ctr">
                      <a:solidFill>
                        <a:srgbClr val="2A2D31"/>
                      </a:solidFill>
                      <a:prstDash val="solid"/>
                      <a:round/>
                      <a:headEnd type="none" w="med" len="med"/>
                      <a:tailEnd type="none" w="med" len="med"/>
                    </a:lnR>
                    <a:lnT w="9525" cap="flat" cmpd="sng" algn="ctr">
                      <a:solidFill>
                        <a:srgbClr val="2A2D31"/>
                      </a:solidFill>
                      <a:prstDash val="solid"/>
                      <a:round/>
                      <a:headEnd type="none" w="med" len="med"/>
                      <a:tailEnd type="none" w="med" len="med"/>
                    </a:lnT>
                    <a:lnB w="9525" cap="flat" cmpd="sng" algn="ctr">
                      <a:solidFill>
                        <a:srgbClr val="2A2D31"/>
                      </a:solidFill>
                      <a:prstDash val="solid"/>
                      <a:round/>
                      <a:headEnd type="none" w="med" len="med"/>
                      <a:tailEnd type="none" w="med" len="med"/>
                    </a:lnB>
                    <a:solidFill>
                      <a:schemeClr val="bg2"/>
                    </a:solidFill>
                  </a:tcPr>
                </a:tc>
              </a:tr>
            </a:tbl>
          </a:graphicData>
        </a:graphic>
      </p:graphicFrame>
      <p:sp>
        <p:nvSpPr>
          <p:cNvPr id="10" name="Webster callout"/>
          <p:cNvSpPr/>
          <p:nvPr/>
        </p:nvSpPr>
        <p:spPr>
          <a:xfrm>
            <a:off x="548640" y="4663440"/>
            <a:ext cx="3017520" cy="1508760"/>
          </a:xfrm>
          <a:prstGeom prst="roundRect">
            <a:avLst>
              <a:gd name="adj" fmla="val 4848"/>
            </a:avLst>
          </a:prstGeom>
          <a:solidFill>
            <a:schemeClr val="bg2"/>
          </a:solidFill>
          <a:ln w="9525">
            <a:solidFill>
              <a:schemeClr val="accent5"/>
            </a:solidFill>
            <a:prstDash val="solid"/>
          </a:ln>
        </p:spPr>
      </p:sp>
      <p:sp>
        <p:nvSpPr>
          <p:cNvPr id="11" name="Webster value"/>
          <p:cNvSpPr txBox="1"/>
          <p:nvPr/>
        </p:nvSpPr>
        <p:spPr>
          <a:xfrm>
            <a:off x="777240" y="4736592"/>
            <a:ext cx="2560320" cy="457200"/>
          </a:xfrm>
          <a:prstGeom prst="rect">
            <a:avLst/>
          </a:prstGeom>
          <a:noFill/>
          <a:ln/>
        </p:spPr>
        <p:txBody>
          <a:bodyPr wrap="square" lIns="0" tIns="0" rIns="0" bIns="0" rtlCol="0" anchor="b"/>
          <a:lstStyle/>
          <a:p>
            <a:pPr indent="0" marL="0">
              <a:buNone/>
            </a:pPr>
            <a:r>
              <a:rPr lang="en-US" sz="2800" b="1" dirty="0">
                <a:solidFill>
                  <a:schemeClr val="accent2"/>
                </a:solidFill>
                <a:latin typeface="Arial" pitchFamily="34" charset="0"/>
                <a:ea typeface="Arial" pitchFamily="34" charset="-122"/>
                <a:cs typeface="Arial" pitchFamily="34" charset="-120"/>
              </a:rPr>
              <a:t>29.7 vs 10.0 s</a:t>
            </a:r>
            <a:endParaRPr lang="en-US" sz="2800" dirty="0"/>
          </a:p>
        </p:txBody>
      </p:sp>
      <p:sp>
        <p:nvSpPr>
          <p:cNvPr id="12" name="Webster label"/>
          <p:cNvSpPr txBox="1"/>
          <p:nvPr/>
        </p:nvSpPr>
        <p:spPr>
          <a:xfrm>
            <a:off x="777240" y="5248656"/>
            <a:ext cx="256032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C3897: the textbook plan against the timing now. Worse on all 4 clips.</a:t>
            </a:r>
            <a:endParaRPr lang="en-US" sz="1300" dirty="0"/>
          </a:p>
        </p:txBody>
      </p:sp>
      <p:sp>
        <p:nvSpPr>
          <p:cNvPr id="13" name="Audit notes panel"/>
          <p:cNvSpPr/>
          <p:nvPr/>
        </p:nvSpPr>
        <p:spPr>
          <a:xfrm>
            <a:off x="3840480" y="4663440"/>
            <a:ext cx="7802575" cy="1508760"/>
          </a:xfrm>
          <a:prstGeom prst="roundRect">
            <a:avLst>
              <a:gd name="adj" fmla="val 4848"/>
            </a:avLst>
          </a:prstGeom>
          <a:solidFill>
            <a:schemeClr val="bg2"/>
          </a:solidFill>
          <a:ln w="9525">
            <a:solidFill>
              <a:schemeClr val="accent5"/>
            </a:solidFill>
            <a:prstDash val="solid"/>
          </a:ln>
        </p:spPr>
      </p:sp>
      <p:sp>
        <p:nvSpPr>
          <p:cNvPr id="14" name="Audit notes"/>
          <p:cNvSpPr txBox="1"/>
          <p:nvPr/>
        </p:nvSpPr>
        <p:spPr>
          <a:xfrm>
            <a:off x="4069080" y="4736592"/>
            <a:ext cx="7345375" cy="1371600"/>
          </a:xfrm>
          <a:prstGeom prst="rect">
            <a:avLst/>
          </a:prstGeom>
          <a:noFill/>
          <a:ln/>
        </p:spPr>
        <p:txBody>
          <a:bodyPr wrap="square" lIns="0" tIns="0" rIns="0" bIns="0" rtlCol="0" anchor="ctr"/>
          <a:lstStyle/>
          <a:p>
            <a:pPr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So OQIM never recommends a plan before it replays it. </a:t>
            </a:r>
            <a:pPr indent="0" marL="0">
              <a:spcAft>
                <a:spcPts val="400"/>
              </a:spcAft>
              <a:buNone/>
            </a:pPr>
            <a:r>
              <a:rPr lang="en-US" sz="1300" dirty="0">
                <a:solidFill>
                  <a:schemeClr val="tx1"/>
                </a:solidFill>
                <a:latin typeface="Calibri" pitchFamily="34" charset="0"/>
                <a:ea typeface="Calibri" pitchFamily="34" charset="-122"/>
                <a:cs typeface="Calibri" pitchFamily="34" charset="-120"/>
              </a:rPr>
              <a:t>Mean wait per vehicle on the replay, lower is better. Predictive assumes the next 30 s of arrivals are known, which needs a camera upstream. C3905 (2:08, under 2 cycles) fails the replay check, and the page says so.</a:t>
            </a:r>
            <a:endParaRPr lang="en-US" sz="1300" dirty="0"/>
          </a:p>
          <a:p>
            <a:pPr indent="0" marL="0">
              <a:spcAft>
                <a:spcPts val="400"/>
              </a:spcAft>
              <a:buNone/>
            </a:pPr>
            <a:r>
              <a:rPr lang="en-US" sz="1300" dirty="0">
                <a:solidFill>
                  <a:schemeClr val="tx2"/>
                </a:solidFill>
                <a:latin typeface="Calibri" pitchFamily="34" charset="0"/>
                <a:ea typeface="Calibri" pitchFamily="34" charset="-122"/>
                <a:cs typeface="Calibri" pitchFamily="34" charset="-120"/>
              </a:rPr>
              <a:t>Tracks: our elimination pipeline (YOLO26m, 1280 px, 10 fps). Night and rain not yet measured on a test set of our own.</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NEXT STAGE  ·  /network AND /roads</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A green wave in 3D, and road damage on a map</a:t>
            </a:r>
            <a:endParaRPr lang="en-US" sz="3600" dirty="0"/>
          </a:p>
        </p:txBody>
      </p:sp>
      <p:sp>
        <p:nvSpPr>
          <p:cNvPr id="8" name="Image panel 1"/>
          <p:cNvSpPr/>
          <p:nvPr/>
        </p:nvSpPr>
        <p:spPr>
          <a:xfrm>
            <a:off x="548640" y="1691640"/>
            <a:ext cx="5410048" cy="2459736"/>
          </a:xfrm>
          <a:prstGeom prst="roundRect">
            <a:avLst>
              <a:gd name="adj" fmla="val 2974"/>
            </a:avLst>
          </a:prstGeom>
          <a:solidFill>
            <a:schemeClr val="bg2"/>
          </a:solidFill>
          <a:ln w="9525">
            <a:solidFill>
              <a:schemeClr val="accent5"/>
            </a:solidFill>
            <a:prstDash val="solid"/>
          </a:ln>
        </p:spPr>
      </p:sp>
      <p:pic>
        <p:nvPicPr>
          <p:cNvPr id="9" name="Image 1" descr="3D corridor of Tashkent">    </p:cNvPr>
          <p:cNvPicPr>
            <a:picLocks noChangeAspect="1"/>
          </p:cNvPicPr>
          <p:nvPr/>
        </p:nvPicPr>
        <p:blipFill>
          <a:blip r:embed="rId1"/>
          <a:srcRect l="0" r="0" t="0" b="0"/>
          <a:stretch/>
        </p:blipFill>
        <p:spPr>
          <a:xfrm>
            <a:off x="612648" y="1755648"/>
            <a:ext cx="5282032" cy="2331720"/>
          </a:xfrm>
          <a:prstGeom prst="rect">
            <a:avLst/>
          </a:prstGeom>
        </p:spPr>
      </p:pic>
      <p:sp>
        <p:nvSpPr>
          <p:cNvPr id="10" name="Image 1 tag"/>
          <p:cNvSpPr/>
          <p:nvPr/>
        </p:nvSpPr>
        <p:spPr>
          <a:xfrm>
            <a:off x="704088" y="3767328"/>
            <a:ext cx="1143000" cy="274320"/>
          </a:xfrm>
          <a:prstGeom prst="roundRect">
            <a:avLst>
              <a:gd name="adj" fmla="val 16667"/>
            </a:avLst>
          </a:prstGeom>
          <a:solidFill>
            <a:schemeClr val="bg1"/>
          </a:solidFill>
          <a:ln/>
        </p:spPr>
        <p:txBody>
          <a:bodyPr wrap="square" lIns="0" tIns="0" rIns="0" bIns="0" rtlCol="0" anchor="ctr"/>
          <a:lstStyle/>
          <a:p>
            <a:pPr algn="ctr" indent="0" marL="0">
              <a:buNone/>
            </a:pPr>
            <a:r>
              <a:rPr lang="en-US" sz="1000" b="1" spc="200" kern="0" dirty="0">
                <a:solidFill>
                  <a:schemeClr val="accent3"/>
                </a:solidFill>
                <a:latin typeface="Arial" pitchFamily="34" charset="0"/>
                <a:ea typeface="Arial" pitchFamily="34" charset="-122"/>
                <a:cs typeface="Arial" pitchFamily="34" charset="-120"/>
              </a:rPr>
              <a:t>SIMULATION</a:t>
            </a:r>
            <a:endParaRPr lang="en-US" sz="1000" dirty="0"/>
          </a:p>
        </p:txBody>
      </p:sp>
      <p:sp>
        <p:nvSpPr>
          <p:cNvPr id="11" name="Column 1 label"/>
          <p:cNvSpPr txBox="1"/>
          <p:nvPr/>
        </p:nvSpPr>
        <p:spPr>
          <a:xfrm>
            <a:off x="548640" y="4224528"/>
            <a:ext cx="5410048"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Amir Temur Avenue, Tashkent: 1.46 km, 5 signals, 224 vehicles in 10 min, Intelligent Driver Model. Green wave against the timing now; only offsets change.</a:t>
            </a:r>
            <a:endParaRPr lang="en-US" sz="1300" dirty="0"/>
          </a:p>
        </p:txBody>
      </p:sp>
      <p:sp>
        <p:nvSpPr>
          <p:cNvPr id="12" name="Column 1 stat 1 value"/>
          <p:cNvSpPr txBox="1"/>
          <p:nvPr/>
        </p:nvSpPr>
        <p:spPr>
          <a:xfrm>
            <a:off x="548640" y="4846320"/>
            <a:ext cx="2567864" cy="457200"/>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141 s → 24 s</a:t>
            </a:r>
            <a:endParaRPr lang="en-US" sz="2800" dirty="0"/>
          </a:p>
        </p:txBody>
      </p:sp>
      <p:sp>
        <p:nvSpPr>
          <p:cNvPr id="13" name="Column 1 stat 1 label"/>
          <p:cNvSpPr txBox="1"/>
          <p:nvPr/>
        </p:nvSpPr>
        <p:spPr>
          <a:xfrm>
            <a:off x="548640" y="5358384"/>
            <a:ext cx="2567864" cy="292608"/>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mean delay at the signals</a:t>
            </a:r>
            <a:endParaRPr lang="en-US" sz="1300" dirty="0"/>
          </a:p>
        </p:txBody>
      </p:sp>
      <p:sp>
        <p:nvSpPr>
          <p:cNvPr id="14" name="Column 1 stat 2 value"/>
          <p:cNvSpPr txBox="1"/>
          <p:nvPr/>
        </p:nvSpPr>
        <p:spPr>
          <a:xfrm>
            <a:off x="3390824" y="4846320"/>
            <a:ext cx="2567864" cy="457200"/>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4.58 → 0.60</a:t>
            </a:r>
            <a:endParaRPr lang="en-US" sz="2800" dirty="0"/>
          </a:p>
        </p:txBody>
      </p:sp>
      <p:sp>
        <p:nvSpPr>
          <p:cNvPr id="15" name="Column 1 stat 2 label"/>
          <p:cNvSpPr txBox="1"/>
          <p:nvPr/>
        </p:nvSpPr>
        <p:spPr>
          <a:xfrm>
            <a:off x="3390824" y="5358384"/>
            <a:ext cx="2567864" cy="292608"/>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stops per vehicle</a:t>
            </a:r>
            <a:endParaRPr lang="en-US" sz="1300" dirty="0"/>
          </a:p>
        </p:txBody>
      </p:sp>
      <p:sp>
        <p:nvSpPr>
          <p:cNvPr id="16" name="Image panel 2"/>
          <p:cNvSpPr/>
          <p:nvPr/>
        </p:nvSpPr>
        <p:spPr>
          <a:xfrm>
            <a:off x="6233008" y="1691640"/>
            <a:ext cx="5410048" cy="2459736"/>
          </a:xfrm>
          <a:prstGeom prst="roundRect">
            <a:avLst>
              <a:gd name="adj" fmla="val 2974"/>
            </a:avLst>
          </a:prstGeom>
          <a:solidFill>
            <a:schemeClr val="bg2"/>
          </a:solidFill>
          <a:ln w="9525">
            <a:solidFill>
              <a:schemeClr val="accent5"/>
            </a:solidFill>
            <a:prstDash val="solid"/>
          </a:ln>
        </p:spPr>
      </p:sp>
      <p:pic>
        <p:nvPicPr>
          <p:cNvPr id="17" name="Image 2" descr="Road damage photo">    </p:cNvPr>
          <p:cNvPicPr>
            <a:picLocks noChangeAspect="1"/>
          </p:cNvPicPr>
          <p:nvPr/>
        </p:nvPicPr>
        <p:blipFill>
          <a:blip r:embed="rId2"/>
          <a:srcRect l="0" r="0" t="0" b="0"/>
          <a:stretch/>
        </p:blipFill>
        <p:spPr>
          <a:xfrm>
            <a:off x="6297016" y="1755648"/>
            <a:ext cx="5282032" cy="2331720"/>
          </a:xfrm>
          <a:prstGeom prst="rect">
            <a:avLst/>
          </a:prstGeom>
        </p:spPr>
      </p:pic>
      <p:sp>
        <p:nvSpPr>
          <p:cNvPr id="18" name="Image 2 tag"/>
          <p:cNvSpPr/>
          <p:nvPr/>
        </p:nvSpPr>
        <p:spPr>
          <a:xfrm>
            <a:off x="6388456" y="3767328"/>
            <a:ext cx="1143000" cy="274320"/>
          </a:xfrm>
          <a:prstGeom prst="roundRect">
            <a:avLst>
              <a:gd name="adj" fmla="val 16667"/>
            </a:avLst>
          </a:prstGeom>
          <a:solidFill>
            <a:schemeClr val="bg1"/>
          </a:solidFill>
          <a:ln/>
        </p:spPr>
        <p:txBody>
          <a:bodyPr wrap="square" lIns="0" tIns="0" rIns="0" bIns="0" rtlCol="0" anchor="ctr"/>
          <a:lstStyle/>
          <a:p>
            <a:pPr algn="ctr" indent="0" marL="0">
              <a:buNone/>
            </a:pPr>
            <a:r>
              <a:rPr lang="en-US" sz="1000" b="1" spc="200" kern="0" dirty="0">
                <a:solidFill>
                  <a:schemeClr val="accent4"/>
                </a:solidFill>
                <a:latin typeface="Arial" pitchFamily="34" charset="0"/>
                <a:ea typeface="Arial" pitchFamily="34" charset="-122"/>
                <a:cs typeface="Arial" pitchFamily="34" charset="-120"/>
              </a:rPr>
              <a:t>MEASURED</a:t>
            </a:r>
            <a:endParaRPr lang="en-US" sz="1000" dirty="0"/>
          </a:p>
        </p:txBody>
      </p:sp>
      <p:sp>
        <p:nvSpPr>
          <p:cNvPr id="19" name="Column 2 label"/>
          <p:cNvSpPr txBox="1"/>
          <p:nvPr/>
        </p:nvSpPr>
        <p:spPr>
          <a:xfrm>
            <a:off x="6233008" y="4224528"/>
            <a:ext cx="5410048"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YOLOv8n fine-tuned on RDD2022 (4 classes), in the browser, on phone photos. Measured on a 300-image sample of the RDD2022 test split.</a:t>
            </a:r>
            <a:endParaRPr lang="en-US" sz="1300" dirty="0"/>
          </a:p>
        </p:txBody>
      </p:sp>
      <p:sp>
        <p:nvSpPr>
          <p:cNvPr id="20" name="Column 2 stat 1 value"/>
          <p:cNvSpPr txBox="1"/>
          <p:nvPr/>
        </p:nvSpPr>
        <p:spPr>
          <a:xfrm>
            <a:off x="6233008" y="4846320"/>
            <a:ext cx="2567864" cy="457200"/>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0.66</a:t>
            </a:r>
            <a:endParaRPr lang="en-US" sz="2800" dirty="0"/>
          </a:p>
        </p:txBody>
      </p:sp>
      <p:sp>
        <p:nvSpPr>
          <p:cNvPr id="21" name="Column 2 stat 1 label"/>
          <p:cNvSpPr txBox="1"/>
          <p:nvPr/>
        </p:nvSpPr>
        <p:spPr>
          <a:xfrm>
            <a:off x="6233008" y="5358384"/>
            <a:ext cx="2567864" cy="292608"/>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mAP50</a:t>
            </a:r>
            <a:endParaRPr lang="en-US" sz="1300" dirty="0"/>
          </a:p>
        </p:txBody>
      </p:sp>
      <p:sp>
        <p:nvSpPr>
          <p:cNvPr id="22" name="Column 2 stat 2 value"/>
          <p:cNvSpPr txBox="1"/>
          <p:nvPr/>
        </p:nvSpPr>
        <p:spPr>
          <a:xfrm>
            <a:off x="9075191" y="4846320"/>
            <a:ext cx="2567864" cy="457200"/>
          </a:xfrm>
          <a:prstGeom prst="rect">
            <a:avLst/>
          </a:prstGeom>
          <a:noFill/>
          <a:ln/>
        </p:spPr>
        <p:txBody>
          <a:bodyPr wrap="square" lIns="0" tIns="0" rIns="0" bIns="0" rtlCol="0" anchor="b"/>
          <a:lstStyle/>
          <a:p>
            <a:pPr indent="0" marL="0">
              <a:buNone/>
            </a:pPr>
            <a:r>
              <a:rPr lang="en-US" sz="2800" b="1" dirty="0">
                <a:solidFill>
                  <a:schemeClr val="accent4"/>
                </a:solidFill>
                <a:latin typeface="Arial" pitchFamily="34" charset="0"/>
                <a:ea typeface="Arial" pitchFamily="34" charset="-122"/>
                <a:cs typeface="Arial" pitchFamily="34" charset="-120"/>
              </a:rPr>
              <a:t>66%</a:t>
            </a:r>
            <a:endParaRPr lang="en-US" sz="2800" dirty="0"/>
          </a:p>
        </p:txBody>
      </p:sp>
      <p:sp>
        <p:nvSpPr>
          <p:cNvPr id="23" name="Column 2 stat 2 label"/>
          <p:cNvSpPr txBox="1"/>
          <p:nvPr/>
        </p:nvSpPr>
        <p:spPr>
          <a:xfrm>
            <a:off x="9075191" y="5358384"/>
            <a:ext cx="2567864" cy="292608"/>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precision</a:t>
            </a:r>
            <a:endParaRPr lang="en-US" sz="1300" dirty="0"/>
          </a:p>
        </p:txBody>
      </p:sp>
      <p:sp>
        <p:nvSpPr>
          <p:cNvPr id="24" name="Elsewhere note"/>
          <p:cNvSpPr txBox="1"/>
          <p:nvPr/>
        </p:nvSpPr>
        <p:spPr>
          <a:xfrm>
            <a:off x="548640" y="5870448"/>
            <a:ext cx="11094415"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Elsewhere: Copenhagen's green wave cut travel time by 17% (Centre for Public Impact); Google Project Green Light, up to 30% fewer stops (Seattle DOT).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ignal lamps housing"/>
          <p:cNvSpPr/>
          <p:nvPr/>
        </p:nvSpPr>
        <p:spPr>
          <a:xfrm>
            <a:off x="548640" y="320040"/>
            <a:ext cx="716890" cy="277978"/>
          </a:xfrm>
          <a:prstGeom prst="roundRect">
            <a:avLst>
              <a:gd name="adj" fmla="val 50000"/>
            </a:avLst>
          </a:prstGeom>
          <a:solidFill>
            <a:schemeClr val="bg2"/>
          </a:solidFill>
          <a:ln w="9525">
            <a:solidFill>
              <a:schemeClr val="accent5"/>
            </a:solidFill>
            <a:prstDash val="solid"/>
          </a:ln>
        </p:spPr>
      </p:sp>
      <p:sp>
        <p:nvSpPr>
          <p:cNvPr id="3" name="Signal lamps lamp 1"/>
          <p:cNvSpPr/>
          <p:nvPr/>
        </p:nvSpPr>
        <p:spPr>
          <a:xfrm>
            <a:off x="621792" y="385877"/>
            <a:ext cx="146304" cy="146304"/>
          </a:xfrm>
          <a:prstGeom prst="ellipse">
            <a:avLst/>
          </a:prstGeom>
          <a:solidFill>
            <a:schemeClr val="accent2"/>
          </a:solidFill>
          <a:ln/>
        </p:spPr>
      </p:sp>
      <p:sp>
        <p:nvSpPr>
          <p:cNvPr id="4" name="Signal lamps lamp 2"/>
          <p:cNvSpPr/>
          <p:nvPr/>
        </p:nvSpPr>
        <p:spPr>
          <a:xfrm>
            <a:off x="833933" y="385877"/>
            <a:ext cx="146304" cy="146304"/>
          </a:xfrm>
          <a:prstGeom prst="ellipse">
            <a:avLst/>
          </a:prstGeom>
          <a:solidFill>
            <a:schemeClr val="accent3"/>
          </a:solidFill>
          <a:ln/>
        </p:spPr>
      </p:sp>
      <p:sp>
        <p:nvSpPr>
          <p:cNvPr id="5" name="Signal lamps lamp 3"/>
          <p:cNvSpPr/>
          <p:nvPr/>
        </p:nvSpPr>
        <p:spPr>
          <a:xfrm>
            <a:off x="1046074" y="385877"/>
            <a:ext cx="146304" cy="146304"/>
          </a:xfrm>
          <a:prstGeom prst="ellipse">
            <a:avLst/>
          </a:prstGeom>
          <a:solidFill>
            <a:schemeClr val="accent4"/>
          </a:solidFill>
          <a:ln/>
        </p:spPr>
      </p:sp>
      <p:sp>
        <p:nvSpPr>
          <p:cNvPr id="6" name="Text 0"/>
          <p:cNvSpPr/>
          <p:nvPr>
            <p:ph idx="100" type="body" hasCustomPrompt="1"/>
          </p:nvPr>
        </p:nvSpPr>
        <p:spPr>
          <a:xfrm>
            <a:off x="1444752" y="310896"/>
            <a:ext cx="8686800" cy="310896"/>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Arial" pitchFamily="34" charset="0"/>
                <a:ea typeface="Arial" pitchFamily="34" charset="-122"/>
                <a:cs typeface="Arial" pitchFamily="34" charset="-120"/>
              </a:rPr>
              <a:t>TEAM AND NEXT STEPS</a:t>
            </a:r>
            <a:endParaRPr lang="en-US" sz="1200" dirty="0"/>
          </a:p>
        </p:txBody>
      </p:sp>
      <p:sp>
        <p:nvSpPr>
          <p:cNvPr id="7" name="Text 0"/>
          <p:cNvSpPr/>
          <p:nvPr>
            <p:ph idx="101" type="title" hasCustomPrompt="1"/>
          </p:nvPr>
        </p:nvSpPr>
        <p:spPr>
          <a:xfrm>
            <a:off x="548640" y="713232"/>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latin typeface="Arial" pitchFamily="34" charset="0"/>
                <a:ea typeface="Arial" pitchFamily="34" charset="-122"/>
                <a:cs typeface="Arial" pitchFamily="34" charset="-120"/>
              </a:rPr>
              <a:t>Team PariVision</a:t>
            </a:r>
            <a:endParaRPr lang="en-US" sz="3600" dirty="0"/>
          </a:p>
        </p:txBody>
      </p:sp>
      <p:sp>
        <p:nvSpPr>
          <p:cNvPr id="8" name="Member 1 card"/>
          <p:cNvSpPr/>
          <p:nvPr/>
        </p:nvSpPr>
        <p:spPr>
          <a:xfrm>
            <a:off x="548640" y="1691640"/>
            <a:ext cx="3515258" cy="1188720"/>
          </a:xfrm>
          <a:prstGeom prst="roundRect">
            <a:avLst>
              <a:gd name="adj" fmla="val 6154"/>
            </a:avLst>
          </a:prstGeom>
          <a:solidFill>
            <a:schemeClr val="bg2"/>
          </a:solidFill>
          <a:ln w="9525">
            <a:solidFill>
              <a:schemeClr val="accent5"/>
            </a:solidFill>
            <a:prstDash val="solid"/>
          </a:ln>
        </p:spPr>
      </p:sp>
      <p:sp>
        <p:nvSpPr>
          <p:cNvPr id="9" name="Member 1 lamp"/>
          <p:cNvSpPr/>
          <p:nvPr/>
        </p:nvSpPr>
        <p:spPr>
          <a:xfrm>
            <a:off x="777240" y="1874520"/>
            <a:ext cx="274320" cy="274320"/>
          </a:xfrm>
          <a:prstGeom prst="ellipse">
            <a:avLst/>
          </a:prstGeom>
          <a:solidFill>
            <a:schemeClr val="accent2"/>
          </a:solidFill>
          <a:ln/>
        </p:spPr>
      </p:sp>
      <p:sp>
        <p:nvSpPr>
          <p:cNvPr id="10" name="Member 1 name"/>
          <p:cNvSpPr txBox="1"/>
          <p:nvPr/>
        </p:nvSpPr>
        <p:spPr>
          <a:xfrm>
            <a:off x="1188720" y="1810512"/>
            <a:ext cx="2692298" cy="38404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Amal Karimov</a:t>
            </a:r>
            <a:endParaRPr lang="en-US" sz="1800" dirty="0"/>
          </a:p>
        </p:txBody>
      </p:sp>
      <p:sp>
        <p:nvSpPr>
          <p:cNvPr id="11" name="Member 1 role"/>
          <p:cNvSpPr txBox="1"/>
          <p:nvPr/>
        </p:nvSpPr>
        <p:spPr>
          <a:xfrm>
            <a:off x="1188720" y="2212848"/>
            <a:ext cx="2692298"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Captain. Scene layout and the signal and vehicle rules</a:t>
            </a:r>
            <a:endParaRPr lang="en-US" sz="1300" dirty="0"/>
          </a:p>
        </p:txBody>
      </p:sp>
      <p:sp>
        <p:nvSpPr>
          <p:cNvPr id="12" name="Member 2 card"/>
          <p:cNvSpPr/>
          <p:nvPr/>
        </p:nvSpPr>
        <p:spPr>
          <a:xfrm>
            <a:off x="4338218" y="1691640"/>
            <a:ext cx="3515258" cy="1188720"/>
          </a:xfrm>
          <a:prstGeom prst="roundRect">
            <a:avLst>
              <a:gd name="adj" fmla="val 6154"/>
            </a:avLst>
          </a:prstGeom>
          <a:solidFill>
            <a:schemeClr val="bg2"/>
          </a:solidFill>
          <a:ln w="9525">
            <a:solidFill>
              <a:schemeClr val="accent5"/>
            </a:solidFill>
            <a:prstDash val="solid"/>
          </a:ln>
        </p:spPr>
      </p:sp>
      <p:sp>
        <p:nvSpPr>
          <p:cNvPr id="13" name="Member 2 lamp"/>
          <p:cNvSpPr/>
          <p:nvPr/>
        </p:nvSpPr>
        <p:spPr>
          <a:xfrm>
            <a:off x="4566818" y="1874520"/>
            <a:ext cx="274320" cy="274320"/>
          </a:xfrm>
          <a:prstGeom prst="ellipse">
            <a:avLst/>
          </a:prstGeom>
          <a:solidFill>
            <a:schemeClr val="accent3"/>
          </a:solidFill>
          <a:ln/>
        </p:spPr>
      </p:sp>
      <p:sp>
        <p:nvSpPr>
          <p:cNvPr id="14" name="Member 2 name"/>
          <p:cNvSpPr txBox="1"/>
          <p:nvPr/>
        </p:nvSpPr>
        <p:spPr>
          <a:xfrm>
            <a:off x="4978298" y="1810512"/>
            <a:ext cx="2692298" cy="38404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Komronbek Qodirov</a:t>
            </a:r>
            <a:endParaRPr lang="en-US" sz="1800" dirty="0"/>
          </a:p>
        </p:txBody>
      </p:sp>
      <p:sp>
        <p:nvSpPr>
          <p:cNvPr id="15" name="Member 2 role"/>
          <p:cNvSpPr txBox="1"/>
          <p:nvPr/>
        </p:nvSpPr>
        <p:spPr>
          <a:xfrm>
            <a:off x="4978298" y="2212848"/>
            <a:ext cx="2692298"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Pipeline, live demo and website</a:t>
            </a:r>
            <a:endParaRPr lang="en-US" sz="1300" dirty="0"/>
          </a:p>
        </p:txBody>
      </p:sp>
      <p:sp>
        <p:nvSpPr>
          <p:cNvPr id="16" name="Member 3 card"/>
          <p:cNvSpPr/>
          <p:nvPr/>
        </p:nvSpPr>
        <p:spPr>
          <a:xfrm>
            <a:off x="8127797" y="1691640"/>
            <a:ext cx="3515258" cy="1188720"/>
          </a:xfrm>
          <a:prstGeom prst="roundRect">
            <a:avLst>
              <a:gd name="adj" fmla="val 6154"/>
            </a:avLst>
          </a:prstGeom>
          <a:solidFill>
            <a:schemeClr val="bg2"/>
          </a:solidFill>
          <a:ln w="9525">
            <a:solidFill>
              <a:schemeClr val="accent5"/>
            </a:solidFill>
            <a:prstDash val="solid"/>
          </a:ln>
        </p:spPr>
      </p:sp>
      <p:sp>
        <p:nvSpPr>
          <p:cNvPr id="17" name="Member 3 lamp"/>
          <p:cNvSpPr/>
          <p:nvPr/>
        </p:nvSpPr>
        <p:spPr>
          <a:xfrm>
            <a:off x="8356397" y="1874520"/>
            <a:ext cx="274320" cy="274320"/>
          </a:xfrm>
          <a:prstGeom prst="ellipse">
            <a:avLst/>
          </a:prstGeom>
          <a:solidFill>
            <a:schemeClr val="accent4"/>
          </a:solidFill>
          <a:ln/>
        </p:spPr>
      </p:sp>
      <p:sp>
        <p:nvSpPr>
          <p:cNvPr id="18" name="Member 3 name"/>
          <p:cNvSpPr txBox="1"/>
          <p:nvPr/>
        </p:nvSpPr>
        <p:spPr>
          <a:xfrm>
            <a:off x="8767877" y="1810512"/>
            <a:ext cx="2692298" cy="38404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Aziza Adizova</a:t>
            </a:r>
            <a:endParaRPr lang="en-US" sz="1800" dirty="0"/>
          </a:p>
        </p:txBody>
      </p:sp>
      <p:sp>
        <p:nvSpPr>
          <p:cNvPr id="19" name="Member 3 role"/>
          <p:cNvSpPr txBox="1"/>
          <p:nvPr/>
        </p:nvSpPr>
        <p:spPr>
          <a:xfrm>
            <a:off x="8767877" y="2212848"/>
            <a:ext cx="2692298"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Dev set, pedestrian rules and report</a:t>
            </a:r>
            <a:endParaRPr lang="en-US" sz="1300" dirty="0"/>
          </a:p>
        </p:txBody>
      </p:sp>
      <p:sp>
        <p:nvSpPr>
          <p:cNvPr id="20" name="Step track"/>
          <p:cNvSpPr/>
          <p:nvPr/>
        </p:nvSpPr>
        <p:spPr>
          <a:xfrm>
            <a:off x="822960" y="3429000"/>
            <a:ext cx="8526551" cy="0"/>
          </a:xfrm>
          <a:prstGeom prst="line">
            <a:avLst/>
          </a:prstGeom>
          <a:noFill/>
          <a:ln w="25400">
            <a:solidFill>
              <a:schemeClr val="accent5"/>
            </a:solidFill>
            <a:prstDash val="solid"/>
          </a:ln>
        </p:spPr>
      </p:sp>
      <p:sp>
        <p:nvSpPr>
          <p:cNvPr id="21" name="Next 1 lamp"/>
          <p:cNvSpPr/>
          <p:nvPr/>
        </p:nvSpPr>
        <p:spPr>
          <a:xfrm>
            <a:off x="548640" y="3154680"/>
            <a:ext cx="548640" cy="548640"/>
          </a:xfrm>
          <a:prstGeom prst="ellipse">
            <a:avLst/>
          </a:prstGeom>
          <a:solidFill>
            <a:schemeClr val="accent4"/>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1</a:t>
            </a:r>
            <a:endParaRPr lang="en-US" sz="2200" dirty="0"/>
          </a:p>
        </p:txBody>
      </p:sp>
      <p:sp>
        <p:nvSpPr>
          <p:cNvPr id="22" name="Next 1 title"/>
          <p:cNvSpPr txBox="1"/>
          <p:nvPr/>
        </p:nvSpPr>
        <p:spPr>
          <a:xfrm>
            <a:off x="548640" y="3840480"/>
            <a:ext cx="2567864"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Pilot</a:t>
            </a:r>
            <a:endParaRPr lang="en-US" sz="1800" dirty="0"/>
          </a:p>
        </p:txBody>
      </p:sp>
      <p:sp>
        <p:nvSpPr>
          <p:cNvPr id="23" name="Next 1 text"/>
          <p:cNvSpPr txBox="1"/>
          <p:nvPr/>
        </p:nvSpPr>
        <p:spPr>
          <a:xfrm>
            <a:off x="548640" y="4224528"/>
            <a:ext cx="2430704" cy="566928"/>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car park operator, its own cameras, 3 months.</a:t>
            </a:r>
            <a:endParaRPr lang="en-US" sz="1400" dirty="0"/>
          </a:p>
        </p:txBody>
      </p:sp>
      <p:sp>
        <p:nvSpPr>
          <p:cNvPr id="24" name="Next 2 lamp"/>
          <p:cNvSpPr/>
          <p:nvPr/>
        </p:nvSpPr>
        <p:spPr>
          <a:xfrm>
            <a:off x="3390824" y="3154680"/>
            <a:ext cx="548640" cy="548640"/>
          </a:xfrm>
          <a:prstGeom prst="ellipse">
            <a:avLst/>
          </a:prstGeom>
          <a:solidFill>
            <a:schemeClr val="accent4"/>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2</a:t>
            </a:r>
            <a:endParaRPr lang="en-US" sz="2200" dirty="0"/>
          </a:p>
        </p:txBody>
      </p:sp>
      <p:sp>
        <p:nvSpPr>
          <p:cNvPr id="25" name="Next 2 title"/>
          <p:cNvSpPr txBox="1"/>
          <p:nvPr/>
        </p:nvSpPr>
        <p:spPr>
          <a:xfrm>
            <a:off x="3390824" y="3840480"/>
            <a:ext cx="2567864"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Live feed</a:t>
            </a:r>
            <a:endParaRPr lang="en-US" sz="1800" dirty="0"/>
          </a:p>
        </p:txBody>
      </p:sp>
      <p:sp>
        <p:nvSpPr>
          <p:cNvPr id="26" name="Next 2 text"/>
          <p:cNvSpPr txBox="1"/>
          <p:nvPr/>
        </p:nvSpPr>
        <p:spPr>
          <a:xfrm>
            <a:off x="3390824" y="4224528"/>
            <a:ext cx="2430704" cy="566928"/>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Frames from a live camera, not a recorded morning.</a:t>
            </a:r>
            <a:endParaRPr lang="en-US" sz="1400" dirty="0"/>
          </a:p>
        </p:txBody>
      </p:sp>
      <p:sp>
        <p:nvSpPr>
          <p:cNvPr id="27" name="Next 3 lamp"/>
          <p:cNvSpPr/>
          <p:nvPr/>
        </p:nvSpPr>
        <p:spPr>
          <a:xfrm>
            <a:off x="6233008" y="3154680"/>
            <a:ext cx="548640" cy="54864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3</a:t>
            </a:r>
            <a:endParaRPr lang="en-US" sz="2200" dirty="0"/>
          </a:p>
        </p:txBody>
      </p:sp>
      <p:sp>
        <p:nvSpPr>
          <p:cNvPr id="28" name="Next 3 title"/>
          <p:cNvSpPr txBox="1"/>
          <p:nvPr/>
        </p:nvSpPr>
        <p:spPr>
          <a:xfrm>
            <a:off x="6233008" y="3840480"/>
            <a:ext cx="2567864"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Night test</a:t>
            </a:r>
            <a:endParaRPr lang="en-US" sz="1800" dirty="0"/>
          </a:p>
        </p:txBody>
      </p:sp>
      <p:sp>
        <p:nvSpPr>
          <p:cNvPr id="29" name="Next 3 text"/>
          <p:cNvSpPr txBox="1"/>
          <p:nvPr/>
        </p:nvSpPr>
        <p:spPr>
          <a:xfrm>
            <a:off x="6233008" y="4224528"/>
            <a:ext cx="2430704" cy="566928"/>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PKLot has no night frames. A test set of our own, with hand labels.</a:t>
            </a:r>
            <a:endParaRPr lang="en-US" sz="1400" dirty="0"/>
          </a:p>
        </p:txBody>
      </p:sp>
      <p:sp>
        <p:nvSpPr>
          <p:cNvPr id="30" name="Next 4 lamp"/>
          <p:cNvSpPr/>
          <p:nvPr/>
        </p:nvSpPr>
        <p:spPr>
          <a:xfrm>
            <a:off x="9075191" y="3154680"/>
            <a:ext cx="548640" cy="54864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4</a:t>
            </a:r>
            <a:endParaRPr lang="en-US" sz="2200" dirty="0"/>
          </a:p>
        </p:txBody>
      </p:sp>
      <p:sp>
        <p:nvSpPr>
          <p:cNvPr id="31" name="Next 4 title"/>
          <p:cNvSpPr txBox="1"/>
          <p:nvPr/>
        </p:nvSpPr>
        <p:spPr>
          <a:xfrm>
            <a:off x="9075191" y="3840480"/>
            <a:ext cx="2567864"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Signals</a:t>
            </a:r>
            <a:endParaRPr lang="en-US" sz="1800" dirty="0"/>
          </a:p>
        </p:txBody>
      </p:sp>
      <p:sp>
        <p:nvSpPr>
          <p:cNvPr id="32" name="Next 4 text"/>
          <p:cNvSpPr txBox="1"/>
          <p:nvPr/>
        </p:nvSpPr>
        <p:spPr>
          <a:xfrm>
            <a:off x="9075191" y="4224528"/>
            <a:ext cx="2430704" cy="566928"/>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Then the same cameras time the lights: audit and green wave.</a:t>
            </a:r>
            <a:endParaRPr lang="en-US" sz="1400" dirty="0"/>
          </a:p>
        </p:txBody>
      </p:sp>
      <p:sp>
        <p:nvSpPr>
          <p:cNvPr id="33" name="Closing panel"/>
          <p:cNvSpPr/>
          <p:nvPr/>
        </p:nvSpPr>
        <p:spPr>
          <a:xfrm>
            <a:off x="548640" y="5074920"/>
            <a:ext cx="11094415" cy="1097280"/>
          </a:xfrm>
          <a:prstGeom prst="roundRect">
            <a:avLst>
              <a:gd name="adj" fmla="val 6667"/>
            </a:avLst>
          </a:prstGeom>
          <a:solidFill>
            <a:schemeClr val="bg2"/>
          </a:solidFill>
          <a:ln w="9525">
            <a:solidFill>
              <a:schemeClr val="accent5"/>
            </a:solidFill>
            <a:prstDash val="solid"/>
          </a:ln>
        </p:spPr>
      </p:sp>
      <p:sp>
        <p:nvSpPr>
          <p:cNvPr id="34" name="Closing lamps housing"/>
          <p:cNvSpPr/>
          <p:nvPr/>
        </p:nvSpPr>
        <p:spPr>
          <a:xfrm>
            <a:off x="868680" y="5394960"/>
            <a:ext cx="1344168" cy="521208"/>
          </a:xfrm>
          <a:prstGeom prst="roundRect">
            <a:avLst>
              <a:gd name="adj" fmla="val 50000"/>
            </a:avLst>
          </a:prstGeom>
          <a:solidFill>
            <a:schemeClr val="bg2"/>
          </a:solidFill>
          <a:ln w="9525">
            <a:solidFill>
              <a:schemeClr val="accent5"/>
            </a:solidFill>
            <a:prstDash val="solid"/>
          </a:ln>
        </p:spPr>
      </p:sp>
      <p:sp>
        <p:nvSpPr>
          <p:cNvPr id="35" name="Closing lamps lamp 1"/>
          <p:cNvSpPr/>
          <p:nvPr/>
        </p:nvSpPr>
        <p:spPr>
          <a:xfrm>
            <a:off x="1005840" y="5518404"/>
            <a:ext cx="274320" cy="274320"/>
          </a:xfrm>
          <a:prstGeom prst="ellipse">
            <a:avLst/>
          </a:prstGeom>
          <a:solidFill>
            <a:schemeClr val="accent2"/>
          </a:solidFill>
          <a:ln/>
        </p:spPr>
      </p:sp>
      <p:sp>
        <p:nvSpPr>
          <p:cNvPr id="36" name="Closing lamps lamp 2"/>
          <p:cNvSpPr/>
          <p:nvPr/>
        </p:nvSpPr>
        <p:spPr>
          <a:xfrm>
            <a:off x="1403604" y="5518404"/>
            <a:ext cx="274320" cy="274320"/>
          </a:xfrm>
          <a:prstGeom prst="ellipse">
            <a:avLst/>
          </a:prstGeom>
          <a:solidFill>
            <a:schemeClr val="accent3"/>
          </a:solidFill>
          <a:ln/>
        </p:spPr>
      </p:sp>
      <p:sp>
        <p:nvSpPr>
          <p:cNvPr id="37" name="Closing lamps lamp 3"/>
          <p:cNvSpPr/>
          <p:nvPr/>
        </p:nvSpPr>
        <p:spPr>
          <a:xfrm>
            <a:off x="1801368" y="5518404"/>
            <a:ext cx="274320" cy="274320"/>
          </a:xfrm>
          <a:prstGeom prst="ellipse">
            <a:avLst/>
          </a:prstGeom>
          <a:solidFill>
            <a:schemeClr val="accent4"/>
          </a:solidFill>
          <a:ln/>
        </p:spPr>
      </p:sp>
      <p:sp>
        <p:nvSpPr>
          <p:cNvPr id="38" name="Closing text"/>
          <p:cNvSpPr txBox="1"/>
          <p:nvPr/>
        </p:nvSpPr>
        <p:spPr>
          <a:xfrm>
            <a:off x="2377440" y="5120640"/>
            <a:ext cx="8991295" cy="1005840"/>
          </a:xfrm>
          <a:prstGeom prst="rect">
            <a:avLst/>
          </a:prstGeom>
          <a:noFill/>
          <a:ln/>
        </p:spPr>
        <p:txBody>
          <a:bodyPr wrap="square" lIns="0" tIns="0" rIns="0" bIns="0" rtlCol="0" anchor="ctr"/>
          <a:lstStyle/>
          <a:p>
            <a:pPr indent="0" marL="0">
              <a:spcAft>
                <a:spcPts val="400"/>
              </a:spcAft>
              <a:buNone/>
            </a:pPr>
            <a:r>
              <a:rPr lang="en-US" sz="2200" b="1" dirty="0">
                <a:solidFill>
                  <a:schemeClr val="tx1"/>
                </a:solidFill>
                <a:latin typeface="Arial" pitchFamily="34" charset="0"/>
                <a:ea typeface="Arial" pitchFamily="34" charset="-122"/>
                <a:cs typeface="Arial" pitchFamily="34" charset="-120"/>
              </a:rPr>
              <a:t>Thank you. Questions?</a:t>
            </a:r>
            <a:endParaRPr lang="en-US" sz="1500" dirty="0"/>
          </a:p>
          <a:p>
            <a:pPr indent="0" marL="0">
              <a:spcAft>
                <a:spcPts val="400"/>
              </a:spcAft>
              <a:buNone/>
            </a:pPr>
            <a:r>
              <a:rPr lang="en-US" sz="1500" dirty="0">
                <a:solidFill>
                  <a:schemeClr val="tx2"/>
                </a:solidFill>
                <a:latin typeface="Calibri" pitchFamily="34" charset="0"/>
                <a:ea typeface="Calibri" pitchFamily="34" charset="-122"/>
                <a:cs typeface="Calibri" pitchFamily="34" charset="-120"/>
              </a:rPr>
              <a:t>Try it: </a:t>
            </a:r>
            <a:pPr indent="0" marL="0">
              <a:spcAft>
                <a:spcPts val="400"/>
              </a:spcAft>
              <a:buNone/>
            </a:pPr>
            <a:r>
              <a:rPr lang="en-US" sz="1500" u="sng" dirty="0">
                <a:solidFill>
                  <a:schemeClr val="accent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https://oqim-audit.vercel.app/tracker</a:t>
            </a:r>
            <a:pPr indent="0" marL="0">
              <a:spcAft>
                <a:spcPts val="400"/>
              </a:spcAft>
              <a:buNone/>
            </a:pPr>
            <a:r>
              <a:rPr lang="en-US" sz="1500" dirty="0">
                <a:solidFill>
                  <a:schemeClr val="tx2"/>
                </a:solidFill>
                <a:latin typeface="Calibri" pitchFamily="34" charset="0"/>
                <a:ea typeface="Calibri" pitchFamily="34" charset="-122"/>
                <a:cs typeface="Calibri" pitchFamily="34" charset="-120"/>
              </a:rPr>
              <a:t>     Code: </a:t>
            </a:r>
            <a:pPr indent="0" marL="0">
              <a:spcAft>
                <a:spcPts val="400"/>
              </a:spcAft>
              <a:buNone/>
            </a:pPr>
            <a:r>
              <a:rPr lang="en-US" sz="1500" u="sng" dirty="0">
                <a:solidFill>
                  <a:schemeClr val="accent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https://github.com/baytoooo/oqim</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A59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QIM Signal">
  <a:themeElements>
    <a:clrScheme name="OQIM Signal">
      <a:dk1>
        <a:srgbClr val="F1EEE6"/>
      </a:dk1>
      <a:lt1>
        <a:srgbClr val="151618"/>
      </a:lt1>
      <a:dk2>
        <a:srgbClr val="A9A59C"/>
      </a:dk2>
      <a:lt2>
        <a:srgbClr val="1C1E21"/>
      </a:lt2>
      <a:accent1>
        <a:srgbClr val="F3C316"/>
      </a:accent1>
      <a:accent2>
        <a:srgbClr val="FF5B4C"/>
      </a:accent2>
      <a:accent3>
        <a:srgbClr val="FFB224"/>
      </a:accent3>
      <a:accent4>
        <a:srgbClr val="3FD27F"/>
      </a:accent4>
      <a:accent5>
        <a:srgbClr val="2A2D31"/>
      </a:accent5>
      <a:accent6>
        <a:srgbClr val="6E737B"/>
      </a:accent6>
      <a:hlink>
        <a:srgbClr val="F3C316"/>
      </a:hlink>
      <a:folHlink>
        <a:srgbClr val="FFB224"/>
      </a:folHlink>
    </a:clrScheme>
    <a:fontScheme name="OQIM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Webster University in Tashkent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OQIM: a parking tracker from car park cameras</dc:title>
  <dc:subject>PptxGenJS Presentation</dc:subject>
  <dc:creator>Team PariVision</dc:creator>
  <cp:lastModifiedBy>Team PariVision</cp:lastModifiedBy>
  <cp:revision>1</cp:revision>
  <dcterms:created xsi:type="dcterms:W3CDTF">2026-10-11T06:43:49Z</dcterms:created>
  <dcterms:modified xsi:type="dcterms:W3CDTF">2026-10-11T06:43:49Z</dcterms:modified>
</cp:coreProperties>
</file>