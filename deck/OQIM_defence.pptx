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b4c5b4-b66c-3638-65e7-0bc9665be11f}">
          <p14:sldIdLst>
            <p14:sldId id="256"/>
          </p14:sldIdLst>
        </p14:section>
        <p14:section name="Problem" id="{d0327b4c-8ebe-3b44-d263-9d22f08cc740}">
          <p14:sldIdLst>
            <p14:sldId id="257"/>
          </p14:sldIdLst>
        </p14:section>
        <p14:section name="Product and demo" id="{79d65e54-e329-2979-ea58-b592f48527a4}">
          <p14:sldIdLst>
            <p14:sldId id="258"/>
            <p14:sldId id="259"/>
          </p14:sldIdLst>
        </p14:section>
        <p14:section name="Technology" id="{afc97b8a-09bb-7ee7-4aa0-d8f96d9331d2}">
          <p14:sldIdLst>
            <p14:sldId id="260"/>
            <p14:sldId id="261"/>
            <p14:sldId id="262"/>
            <p14:sldId id="263"/>
          </p14:sldIdLst>
        </p14:section>
        <p14:section name="Business" id="{29c28e0e-fc32-9219-067f-8ff7311f1fb2}">
          <p14:sldIdLst>
            <p14:sldId id="264"/>
            <p14:sldId id="265"/>
            <p14:sldId id="266"/>
          </p14:sldIdLst>
        </p14:section>
        <p14:section name="Next steps" id="{35ad9bda-a9a9-8564-eb2e-15a6ed3560d0}">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1EEE6"/>
                </a:solidFill>
                <a:latin typeface="+mn-lt"/>
              </a:defRPr>
            </a:pPr>
            <a:r>
              <a:rPr sz="1400" b="0" i="0" u="none" strike="noStrike">
                <a:solidFill>
                  <a:srgbClr val="F1EEE6"/>
                </a:solidFill>
                <a:latin typeface="+mn-lt"/>
              </a:rPr>
              <a:t>Mean wait per vehicle on the replay, seconds</a:t>
            </a:r>
          </a:p>
        </c:rich>
      </c:tx>
      <c:layout/>
      <c:overlay val="0"/>
    </c:title>
    <c:autoTitleDeleted val="0"/>
    <c:plotArea>
      <c:layout/>
      <c:barChart>
        <c:barDir val="col"/>
        <c:grouping val="clustered"/>
        <c:varyColors val="0"/>
        <c:ser>
          <c:idx val="0"/>
          <c:order val="0"/>
          <c:tx>
            <c:strRef>
              <c:f>Sheet1!$B$1</c:f>
              <c:strCache>
                <c:ptCount val="1"/>
                <c:pt idx="0">
                  <c:v>Now</c:v>
                </c:pt>
              </c:strCache>
            </c:strRef>
          </c:tx>
          <c:spPr>
            <a:solidFill>
              <a:srgbClr val="D9D4C9"/>
            </a:solidFill>
            <a:effectLst/>
          </c:spPr>
          <c:invertIfNegative val="0"/>
          <c:dLbls>
            <c:numFmt formatCode="0.0" sourceLinked="0"/>
            <c:txPr>
              <a:bodyPr/>
              <a:lstStyle/>
              <a:p>
                <a:pPr>
                  <a:defRPr b="0" i="0" strike="noStrike" sz="1000" u="none">
                    <a:solidFill>
                      <a:srgbClr val="F1EEE6"/>
                    </a:solidFill>
                    <a:latin typeface="+mn-lt"/>
                  </a:defRPr>
                </a:pPr>
              </a:p>
            </c:txPr>
            <c:showLegendKey val="0"/>
            <c:showVal val="1"/>
            <c:showCatName val="0"/>
            <c:showSerName val="0"/>
            <c:showPercent val="0"/>
            <c:showBubbleSize val="0"/>
            <c:showLeaderLines val="0"/>
          </c:dLbls>
          <c:cat>
            <c:multiLvlStrRef>
              <c:f>Sheet1!$A$2:$A$4</c:f>
              <c:multiLvlStrCache>
                <c:ptCount val="3"/>
                <c:lvl>
                  <c:pt idx="0">
                    <c:v>C3896</c:v>
                  </c:pt>
                  <c:pt idx="1">
                    <c:v>C3897</c:v>
                  </c:pt>
                  <c:pt idx="2">
                    <c:v>C3902</c:v>
                  </c:pt>
                </c:lvl>
              </c:multiLvlStrCache>
            </c:multiLvlStrRef>
          </c:cat>
          <c:val>
            <c:numRef>
              <c:f>Sheet1!$B$2:$B$4</c:f>
              <c:numCache>
                <c:formatCode>General</c:formatCode>
                <c:ptCount val="3"/>
                <c:pt idx="0">
                  <c:v>9.3</c:v>
                </c:pt>
                <c:pt idx="1">
                  <c:v>10</c:v>
                </c:pt>
                <c:pt idx="2">
                  <c:v>12.3</c:v>
                </c:pt>
              </c:numCache>
            </c:numRef>
          </c:val>
        </c:ser>
        <c:ser>
          <c:idx val="1"/>
          <c:order val="1"/>
          <c:tx>
            <c:strRef>
              <c:f>Sheet1!$C$1</c:f>
              <c:strCache>
                <c:ptCount val="1"/>
                <c:pt idx="0">
                  <c:v>Webster (1958)</c:v>
                </c:pt>
              </c:strCache>
            </c:strRef>
          </c:tx>
          <c:spPr>
            <a:solidFill>
              <a:srgbClr val="FF5B4C"/>
            </a:solidFill>
            <a:effectLst/>
          </c:spPr>
          <c:invertIfNegative val="0"/>
          <c:dLbls>
            <c:numFmt formatCode="0.0" sourceLinked="0"/>
            <c:txPr>
              <a:bodyPr/>
              <a:lstStyle/>
              <a:p>
                <a:pPr>
                  <a:defRPr b="0" i="0" strike="noStrike" sz="1000" u="none">
                    <a:solidFill>
                      <a:srgbClr val="F1EEE6"/>
                    </a:solidFill>
                    <a:latin typeface="+mn-lt"/>
                  </a:defRPr>
                </a:pPr>
              </a:p>
            </c:txPr>
            <c:showLegendKey val="0"/>
            <c:showVal val="1"/>
            <c:showCatName val="0"/>
            <c:showSerName val="0"/>
            <c:showPercent val="0"/>
            <c:showBubbleSize val="0"/>
            <c:showLeaderLines val="0"/>
          </c:dLbls>
          <c:cat>
            <c:multiLvlStrRef>
              <c:f>Sheet1!$A$2:$A$4</c:f>
              <c:multiLvlStrCache>
                <c:ptCount val="3"/>
                <c:lvl>
                  <c:pt idx="0">
                    <c:v>C3896</c:v>
                  </c:pt>
                  <c:pt idx="1">
                    <c:v>C3897</c:v>
                  </c:pt>
                  <c:pt idx="2">
                    <c:v>C3902</c:v>
                  </c:pt>
                </c:lvl>
              </c:multiLvlStrCache>
            </c:multiLvlStrRef>
          </c:cat>
          <c:val>
            <c:numRef>
              <c:f>Sheet1!$C$2:$C$4</c:f>
              <c:numCache>
                <c:formatCode>General</c:formatCode>
                <c:ptCount val="3"/>
                <c:pt idx="0">
                  <c:v>32.6</c:v>
                </c:pt>
                <c:pt idx="1">
                  <c:v>29.7</c:v>
                </c:pt>
                <c:pt idx="2">
                  <c:v>28.8</c:v>
                </c:pt>
              </c:numCache>
            </c:numRef>
          </c:val>
        </c:ser>
        <c:ser>
          <c:idx val="2"/>
          <c:order val="2"/>
          <c:tx>
            <c:strRef>
              <c:f>Sheet1!$D$1</c:f>
              <c:strCache>
                <c:ptCount val="1"/>
                <c:pt idx="0">
                  <c:v>Searched fixed plan</c:v>
                </c:pt>
              </c:strCache>
            </c:strRef>
          </c:tx>
          <c:spPr>
            <a:solidFill>
              <a:srgbClr val="FFB224"/>
            </a:solidFill>
            <a:effectLst/>
          </c:spPr>
          <c:invertIfNegative val="0"/>
          <c:dLbls>
            <c:numFmt formatCode="0.0" sourceLinked="0"/>
            <c:txPr>
              <a:bodyPr/>
              <a:lstStyle/>
              <a:p>
                <a:pPr>
                  <a:defRPr b="0" i="0" strike="noStrike" sz="1000" u="none">
                    <a:solidFill>
                      <a:srgbClr val="F1EEE6"/>
                    </a:solidFill>
                    <a:latin typeface="+mn-lt"/>
                  </a:defRPr>
                </a:pPr>
              </a:p>
            </c:txPr>
            <c:showLegendKey val="0"/>
            <c:showVal val="1"/>
            <c:showCatName val="0"/>
            <c:showSerName val="0"/>
            <c:showPercent val="0"/>
            <c:showBubbleSize val="0"/>
            <c:showLeaderLines val="0"/>
          </c:dLbls>
          <c:cat>
            <c:multiLvlStrRef>
              <c:f>Sheet1!$A$2:$A$4</c:f>
              <c:multiLvlStrCache>
                <c:ptCount val="3"/>
                <c:lvl>
                  <c:pt idx="0">
                    <c:v>C3896</c:v>
                  </c:pt>
                  <c:pt idx="1">
                    <c:v>C3897</c:v>
                  </c:pt>
                  <c:pt idx="2">
                    <c:v>C3902</c:v>
                  </c:pt>
                </c:lvl>
              </c:multiLvlStrCache>
            </c:multiLvlStrRef>
          </c:cat>
          <c:val>
            <c:numRef>
              <c:f>Sheet1!$D$2:$D$4</c:f>
              <c:numCache>
                <c:formatCode>General</c:formatCode>
                <c:ptCount val="3"/>
                <c:pt idx="0">
                  <c:v>9.4</c:v>
                </c:pt>
                <c:pt idx="1">
                  <c:v>9.4</c:v>
                </c:pt>
                <c:pt idx="2">
                  <c:v>13</c:v>
                </c:pt>
              </c:numCache>
            </c:numRef>
          </c:val>
        </c:ser>
        <c:ser>
          <c:idx val="3"/>
          <c:order val="3"/>
          <c:tx>
            <c:strRef>
              <c:f>Sheet1!$E$1</c:f>
              <c:strCache>
                <c:ptCount val="1"/>
                <c:pt idx="0">
                  <c:v>Actuated</c:v>
                </c:pt>
              </c:strCache>
            </c:strRef>
          </c:tx>
          <c:spPr>
            <a:solidFill>
              <a:srgbClr val="5E636B"/>
            </a:solidFill>
            <a:effectLst/>
          </c:spPr>
          <c:invertIfNegative val="0"/>
          <c:dLbls>
            <c:numFmt formatCode="0.0" sourceLinked="0"/>
            <c:txPr>
              <a:bodyPr/>
              <a:lstStyle/>
              <a:p>
                <a:pPr>
                  <a:defRPr b="0" i="0" strike="noStrike" sz="1000" u="none">
                    <a:solidFill>
                      <a:srgbClr val="F1EEE6"/>
                    </a:solidFill>
                    <a:latin typeface="+mn-lt"/>
                  </a:defRPr>
                </a:pPr>
              </a:p>
            </c:txPr>
            <c:showLegendKey val="0"/>
            <c:showVal val="1"/>
            <c:showCatName val="0"/>
            <c:showSerName val="0"/>
            <c:showPercent val="0"/>
            <c:showBubbleSize val="0"/>
            <c:showLeaderLines val="0"/>
          </c:dLbls>
          <c:cat>
            <c:multiLvlStrRef>
              <c:f>Sheet1!$A$2:$A$4</c:f>
              <c:multiLvlStrCache>
                <c:ptCount val="3"/>
                <c:lvl>
                  <c:pt idx="0">
                    <c:v>C3896</c:v>
                  </c:pt>
                  <c:pt idx="1">
                    <c:v>C3897</c:v>
                  </c:pt>
                  <c:pt idx="2">
                    <c:v>C3902</c:v>
                  </c:pt>
                </c:lvl>
              </c:multiLvlStrCache>
            </c:multiLvlStrRef>
          </c:cat>
          <c:val>
            <c:numRef>
              <c:f>Sheet1!$E$2:$E$4</c:f>
              <c:numCache>
                <c:formatCode>General</c:formatCode>
                <c:ptCount val="3"/>
                <c:pt idx="0">
                  <c:v>21.6</c:v>
                </c:pt>
                <c:pt idx="1">
                  <c:v>24.6</c:v>
                </c:pt>
                <c:pt idx="2">
                  <c:v>21.1</c:v>
                </c:pt>
              </c:numCache>
            </c:numRef>
          </c:val>
        </c:ser>
        <c:ser>
          <c:idx val="4"/>
          <c:order val="4"/>
          <c:tx>
            <c:strRef>
              <c:f>Sheet1!$F$1</c:f>
              <c:strCache>
                <c:ptCount val="1"/>
                <c:pt idx="0">
                  <c:v>Max-pressure</c:v>
                </c:pt>
              </c:strCache>
            </c:strRef>
          </c:tx>
          <c:spPr>
            <a:solidFill>
              <a:srgbClr val="8C9098"/>
            </a:solidFill>
            <a:effectLst/>
          </c:spPr>
          <c:invertIfNegative val="0"/>
          <c:dLbls>
            <c:numFmt formatCode="0.0" sourceLinked="0"/>
            <c:txPr>
              <a:bodyPr/>
              <a:lstStyle/>
              <a:p>
                <a:pPr>
                  <a:defRPr b="0" i="0" strike="noStrike" sz="1000" u="none">
                    <a:solidFill>
                      <a:srgbClr val="F1EEE6"/>
                    </a:solidFill>
                    <a:latin typeface="+mn-lt"/>
                  </a:defRPr>
                </a:pPr>
              </a:p>
            </c:txPr>
            <c:showLegendKey val="0"/>
            <c:showVal val="1"/>
            <c:showCatName val="0"/>
            <c:showSerName val="0"/>
            <c:showPercent val="0"/>
            <c:showBubbleSize val="0"/>
            <c:showLeaderLines val="0"/>
          </c:dLbls>
          <c:cat>
            <c:multiLvlStrRef>
              <c:f>Sheet1!$A$2:$A$4</c:f>
              <c:multiLvlStrCache>
                <c:ptCount val="3"/>
                <c:lvl>
                  <c:pt idx="0">
                    <c:v>C3896</c:v>
                  </c:pt>
                  <c:pt idx="1">
                    <c:v>C3897</c:v>
                  </c:pt>
                  <c:pt idx="2">
                    <c:v>C3902</c:v>
                  </c:pt>
                </c:lvl>
              </c:multiLvlStrCache>
            </c:multiLvlStrRef>
          </c:cat>
          <c:val>
            <c:numRef>
              <c:f>Sheet1!$F$2:$F$4</c:f>
              <c:numCache>
                <c:formatCode>General</c:formatCode>
                <c:ptCount val="3"/>
                <c:pt idx="0">
                  <c:v>16.9</c:v>
                </c:pt>
                <c:pt idx="1">
                  <c:v>8.6</c:v>
                </c:pt>
                <c:pt idx="2">
                  <c:v>12.7</c:v>
                </c:pt>
              </c:numCache>
            </c:numRef>
          </c:val>
        </c:ser>
        <c:ser>
          <c:idx val="5"/>
          <c:order val="5"/>
          <c:tx>
            <c:strRef>
              <c:f>Sheet1!$G$1</c:f>
              <c:strCache>
                <c:ptCount val="1"/>
                <c:pt idx="0">
                  <c:v>OQIM predictive</c:v>
                </c:pt>
              </c:strCache>
            </c:strRef>
          </c:tx>
          <c:spPr>
            <a:solidFill>
              <a:srgbClr val="3FD27F"/>
            </a:solidFill>
            <a:effectLst/>
          </c:spPr>
          <c:invertIfNegative val="0"/>
          <c:dLbls>
            <c:numFmt formatCode="0.0" sourceLinked="0"/>
            <c:txPr>
              <a:bodyPr/>
              <a:lstStyle/>
              <a:p>
                <a:pPr>
                  <a:defRPr b="0" i="0" strike="noStrike" sz="1000" u="none">
                    <a:solidFill>
                      <a:srgbClr val="F1EEE6"/>
                    </a:solidFill>
                    <a:latin typeface="+mn-lt"/>
                  </a:defRPr>
                </a:pPr>
              </a:p>
            </c:txPr>
            <c:showLegendKey val="0"/>
            <c:showVal val="1"/>
            <c:showCatName val="0"/>
            <c:showSerName val="0"/>
            <c:showPercent val="0"/>
            <c:showBubbleSize val="0"/>
            <c:showLeaderLines val="0"/>
          </c:dLbls>
          <c:cat>
            <c:multiLvlStrRef>
              <c:f>Sheet1!$A$2:$A$4</c:f>
              <c:multiLvlStrCache>
                <c:ptCount val="3"/>
                <c:lvl>
                  <c:pt idx="0">
                    <c:v>C3896</c:v>
                  </c:pt>
                  <c:pt idx="1">
                    <c:v>C3897</c:v>
                  </c:pt>
                  <c:pt idx="2">
                    <c:v>C3902</c:v>
                  </c:pt>
                </c:lvl>
              </c:multiLvlStrCache>
            </c:multiLvlStrRef>
          </c:cat>
          <c:val>
            <c:numRef>
              <c:f>Sheet1!$G$2:$G$4</c:f>
              <c:numCache>
                <c:formatCode>General</c:formatCode>
                <c:ptCount val="3"/>
                <c:pt idx="0">
                  <c:v>9.1</c:v>
                </c:pt>
                <c:pt idx="1">
                  <c:v>8.7</c:v>
                </c:pt>
                <c:pt idx="2">
                  <c:v>10.1</c:v>
                </c:pt>
              </c:numCache>
            </c:numRef>
          </c:val>
        </c:ser>
        <c:dLbls>
          <c:numFmt formatCode="0.0" sourceLinked="0"/>
          <c:txPr>
            <a:bodyPr/>
            <a:lstStyle/>
            <a:p>
              <a:pPr>
                <a:defRPr b="0" i="0" strike="noStrike" sz="1000" u="none">
                  <a:solidFill>
                    <a:srgbClr val="F1EEE6"/>
                  </a:solidFill>
                  <a:latin typeface="+mn-lt"/>
                </a:defRPr>
              </a:pPr>
            </a:p>
          </c:txPr>
          <c:showLegendKey val="0"/>
          <c:showVal val="1"/>
          <c:showCatName val="0"/>
          <c:showSerName val="0"/>
          <c:showPercent val="0"/>
          <c:showBubbleSize val="0"/>
          <c:showLeaderLines val="0"/>
        </c:dLbls>
        <c:gapWidth val="55"/>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1EEE6"/>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2A2D3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A9A59C"/>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F1EEE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Good morning. We are team PariVision from Webster University in Tashkent. Our mode is Startup (say it out loud, the rules ask for it). OQIM is a traffic signal audit from one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Tashkent has about 1,000 signalised junctions. 125 are connected to TsODD's adaptive system and 545 are planned for 2026, after the presidential decree of 4 December 2025. No measured results have been published. Today a junction is checked by a manual study: people count at the roadside, then an engineer calculates. Most controllers are not connected, so their timing cannot be read centrally. US cities measure this from controller logs (ATSPM); we do not have those logs. Our user is TsODD's traffic engineer and the contractors who do junction studies. The city pays: it already buys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This is the whole product. Video in. OQIM reads the lights from the pixels, then counts crossings, waits and discharge. It replays the clip's own vehicles and checks that the replay gives back what it measured. Only then does it compare plans. All of it runs on the user's device; the video is never uploaded.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live. Open https://oqim-audit.vercel.app/audit on the jury's laptop or phone. Take the jury's video, or a sample. Draw the stop line (2 clicks), click the signal head. Run. Show: the lights read from the head, every crossing as a tick, the queue line, the plans table, the model check line, the traffic events and the Purdue coordination diagram. If the jury's video has no signal head in view, leave the head unset; OQIM reads the lights from the traffic. Then a few seconds each on /network, /city, /parking and /roads (road damage from phone photos: RDD2022 YOLOv8n, mAP50 0.66 on a 300-image sample of the test split; /elsewhere has the results of other cities). Backup if anything fails: the recorded run of C3896.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Browser only. Frames at 5 per second go to a Web Worker. YOLO26n (10 MB) runs by default, YOLO26s (38 MB) as an option, in ONNX Runtime Web on WebGPU, or WebAssembly on the CPU, then a ByteTrack port. Measured today: the 5:40 clip C3896 is audited in about 65 s on an Apple M5 laptop. Detector, worker and tracker are reused from our elimination system, and we say so. The audit core reads the lights from the colour contrast of the lit lamp, scaled per clip; with no head in view, greens come from when the queue moves off. It measures crossings by side, waits, arrivals on green, discharge from the busiest 10 s of each green, red-light runs and the queue. The replay is a point-queue model. Plans: now, Webster 1958, a fixed plan searched on the replay, actuated, max-pressure (Varaiya 2013), and OQIM predictive, a rollout over the next 30 s of arrivals.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Four clips of one Tashkent junction, the organisers' footage, 18 minutes, southbound approach. On three clips the replay gives back when each vehicle left within about half a second, and the modelled wait is close to the measured one. C3905 is 2:08, under 2 cycles, and the check fails; OQIM shows that instead of hiding it. Known failure cases are on the slide. The table uses the elimination pipeline's tracks (YOLO26m at 1280 px, 10 fps). Today we re-ran C3896 in the browser with YOLO26n: cycle 76 s, green 36 s, 127 vehicles over the stop line against 130 in the Python pipeline, and a median departure error of 0.07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Mean wait per vehicle for each plan, on the replay of each clip. Webster's textbook plan was worse than the current timing on all four clips, for example 29.7 s against 10 s on C3897. That is why OQIM never recommends a plan before replaying it on the junction's own vehicles. Every plan keeps the share of the cycle the cross street has today, because its traffic is out of view. The searched fixed plan is close to the current timing; the predictive mode cuts the wait on C3897 from 10 s to 8.7 s. Be honest: predictive assumes the arrivals of the next 30 s are known; in the field that needs a camera at the junction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(often shown live in the demo). Corridor and district are simulations. Corridor: Amir Temur Avenue northbound, 1.46 km, 5 signals, 3 lanes from the discharge rate on the video, 224 vehicles in 10 minutes, Intelligent Driver Model, one direction. Only the offsets change, so cross streets keep their time; the real offsets are unknown to us. Mean delay 141 s to 24 s, stops per vehicle 4.58 to 0.60. Kwun Tong: 22 Transport Department cameras counted by YOLO26m at 960 px every 2 minutes, live car park spaces, 60 simulated drivers. At 13:45 Hong Kong time on 11 October the nearest car park had 0 free spaces: all 60 'nearest' drivers arrived to a full car park; with OQIM 5 did. Door to door 15.5 against 12.7 minutes, minus 18%; vehicle-km 305 against 181, minus 41%. Parking is measured, not simulated: free and taken spaces from ordinary car park camera frames (PKLot dataset), detected in the browser. 97.4% of spaces right on 240 held-out images, 13,447 spaces; precision 99.1% and recall 95.3% for taken. Sunny 97.0%, cloudy 99.0%, rainy 96.1%. No night frames in the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Line to say: cities that retime and coordinate signals cut stops and delay. They can do it because they measure. Most junctions in Tashkent cannot be measured today; OQIM measures them from one video. Sources, if asked: Seattle DOT blog on Project Green Light; Smart Cities Dive on Surtrac; DfT Traffic Advisory Leaflet 7/99 on SCOOT; FHWA on Utah ATSPM; Centre for Public Impact on Copenhagen; ACCESS Magazine on SFpark.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Four reasons. One: we read the lights from pixels with no controller access; our elimination work (signal reader, registration, rules, 98 labelled events) made this possible in a day. In the browser it agrees with the elimination lamp reader on 98.8% of frames of C3896. Two: the replay check; plans are judged on the junction's own vehicles, and the model must reproduce the measured crossings first. Three: it runs in the browser; no server, no GPU bill, and the video stays on the device, which fits Uzbekistan's personal data law. Four: domain knowledge, Webster's method, saturation flow, ATSPM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All numbers here are assumptions to check with the customer. Pilot: 3 months, 20 junctions in Tashkent with TsODD. The main cost is people, 3 engineers part time. Hosting is static, free to USD 20 a month; no GPU server, inference runs on the user's laptop. Data: videos the service already records or films for us, no licences. Per audit our cost is an engineer's 30 minutes to film and check; compute is zero. Price: below a manual study of the same junction, set in the pilot. Value: the page turns saved vehicle-hours into money with inputs the engineer sets: hours a day at this traffic, value of an hour, fuel while idling at 0.8 litres an hour, 2.31 kg CO2 a litre. Payback: we state it from the pilot inputs; we do not quote a number we have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Next: a pilot with TsODD on 20 junctions, with their videos, where their engineer marks the lines. A test set of our own at night and in rain, with manual counts. The network: link neighbouring junctions, because the predictive mode needs the camera upstream, and set offsets for green waves. And export a timing sheet the engineer can enter into the controller. Thank you; we are ready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QIM 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63040" y="658368"/>
            <a:ext cx="7315200" cy="365760"/>
          </a:xfrm>
          <a:prstGeom prst="rect">
            <a:avLst/>
          </a:prstGeom>
          <a:noFill/>
          <a:ln/>
        </p:spPr>
        <p:txBody>
          <a:bodyPr wrap="square" rtlCol="0"/>
          <a:lstStyle>
            <a:lvl1pPr indent="0" marL="0">
              <a:buNone/>
              <a:defRPr lang="en-US" sz="13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300" dirty="0"/>
          </a:p>
        </p:txBody>
      </p:sp>
      <p:sp>
        <p:nvSpPr>
          <p:cNvPr id="3" name="Text 0"/>
          <p:cNvSpPr/>
          <p:nvPr>
            <p:ph idx="101" type="title" hasCustomPrompt="1"/>
          </p:nvPr>
        </p:nvSpPr>
        <p:spPr>
          <a:xfrm>
            <a:off x="548640" y="1188720"/>
            <a:ext cx="5486400" cy="1417320"/>
          </a:xfrm>
          <a:prstGeom prst="rect">
            <a:avLst/>
          </a:prstGeom>
          <a:noFill/>
          <a:ln/>
        </p:spPr>
        <p:txBody>
          <a:bodyPr wrap="square" rtlCol="0"/>
          <a:lstStyle>
            <a:lvl1pPr algn="l" indent="0" marL="0">
              <a:buNone/>
              <a:defRPr lang="en-US" sz="9600" b="1" dirty="0">
                <a:solidFill>
                  <a:schemeClr val="tx1"/>
                </a:solidFill>
                <a:latin typeface="Arial" pitchFamily="34" charset="0"/>
                <a:ea typeface="Arial" pitchFamily="34" charset="-122"/>
                <a:cs typeface="Arial" pitchFamily="34" charset="-120"/>
              </a:defRPr>
            </a:lvl1pPr>
          </a:lstStyle>
          <a:p>
            <a:pPr algn="l" indent="0" marL="0">
              <a:buNone/>
            </a:pPr>
            <a:endParaRPr lang="en-US" sz="9600" dirty="0"/>
          </a:p>
        </p:txBody>
      </p:sp>
      <p:sp>
        <p:nvSpPr>
          <p:cNvPr id="4" name="Text 0"/>
          <p:cNvSpPr/>
          <p:nvPr>
            <p:ph idx="102" type="body" hasCustomPrompt="1"/>
          </p:nvPr>
        </p:nvSpPr>
        <p:spPr>
          <a:xfrm>
            <a:off x="548640" y="2651760"/>
            <a:ext cx="5486400" cy="914400"/>
          </a:xfrm>
          <a:prstGeom prst="rect">
            <a:avLst/>
          </a:prstGeom>
          <a:noFill/>
          <a:ln/>
        </p:spPr>
        <p:txBody>
          <a:bodyPr wrap="square" rtlCol="0"/>
          <a:lstStyle>
            <a:lvl1pPr algn="l" indent="0" marL="0">
              <a:buNone/>
              <a:defRPr lang="en-US" sz="2600" b="1" dirty="0">
                <a:solidFill>
                  <a:schemeClr val="tx1"/>
                </a:solidFill>
                <a:latin typeface="Arial" pitchFamily="34" charset="0"/>
                <a:ea typeface="Arial" pitchFamily="34" charset="-122"/>
                <a:cs typeface="Arial" pitchFamily="34" charset="-120"/>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QIM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44752" y="310896"/>
            <a:ext cx="8686800" cy="310896"/>
          </a:xfrm>
          <a:prstGeom prst="rect">
            <a:avLst/>
          </a:prstGeom>
          <a:noFill/>
          <a:ln/>
        </p:spPr>
        <p:txBody>
          <a:bodyPr wrap="square" rtlCol="0"/>
          <a:lstStyle>
            <a:lvl1pPr indent="0" marL="0">
              <a:buNone/>
              <a:defRPr lang="en-US" sz="12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200" dirty="0"/>
          </a:p>
        </p:txBody>
      </p:sp>
      <p:sp>
        <p:nvSpPr>
          <p:cNvPr id="3" name="Text 0"/>
          <p:cNvSpPr/>
          <p:nvPr>
            <p:ph idx="101" type="title" hasCustomPrompt="1"/>
          </p:nvPr>
        </p:nvSpPr>
        <p:spPr>
          <a:xfrm>
            <a:off x="548640" y="713232"/>
            <a:ext cx="11094415" cy="73152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4" name="Text 0"/>
          <p:cNvSpPr/>
          <p:nvPr/>
        </p:nvSpPr>
        <p:spPr>
          <a:xfrm>
            <a:off x="548640" y="6400800"/>
            <a:ext cx="8686800" cy="274320"/>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OQIM  ·  Team PariVision  ·  WIUT Hackathon 2026, Computer Vision final  ·  Mode: Startup</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oqim-audit.vercel.app" TargetMode="External"/><Relationship Id="rId2" Type="http://schemas.openxmlformats.org/officeDocument/2006/relationships/hyperlink" Target="https://github.com/baytoooo/oqim" TargetMode="External"/><Relationship Id="rId3" Type="http://schemas.openxmlformats.org/officeDocument/2006/relationships/image" Target="../media/image-1-1.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oqim-audit.vercel.app" TargetMode="Externa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oqim-audit.vercel.app" TargetMode="External"/><Relationship Id="rId2" Type="http://schemas.openxmlformats.org/officeDocument/2006/relationships/hyperlink" Target="https://github.com/baytoooo/oqim" TargetMode="Externa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ignal lamps housing"/>
          <p:cNvSpPr/>
          <p:nvPr/>
        </p:nvSpPr>
        <p:spPr>
          <a:xfrm>
            <a:off x="548640" y="685800"/>
            <a:ext cx="896112" cy="347472"/>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40080" y="768096"/>
            <a:ext cx="182880" cy="182880"/>
          </a:xfrm>
          <a:prstGeom prst="ellipse">
            <a:avLst/>
          </a:prstGeom>
          <a:solidFill>
            <a:schemeClr val="accent2"/>
          </a:solidFill>
          <a:ln/>
        </p:spPr>
      </p:sp>
      <p:sp>
        <p:nvSpPr>
          <p:cNvPr id="4" name="Signal lamps lamp 2"/>
          <p:cNvSpPr/>
          <p:nvPr/>
        </p:nvSpPr>
        <p:spPr>
          <a:xfrm>
            <a:off x="905256" y="768096"/>
            <a:ext cx="182880" cy="182880"/>
          </a:xfrm>
          <a:prstGeom prst="ellipse">
            <a:avLst/>
          </a:prstGeom>
          <a:solidFill>
            <a:schemeClr val="accent3"/>
          </a:solidFill>
          <a:ln/>
        </p:spPr>
      </p:sp>
      <p:sp>
        <p:nvSpPr>
          <p:cNvPr id="5" name="Signal lamps lamp 3"/>
          <p:cNvSpPr/>
          <p:nvPr/>
        </p:nvSpPr>
        <p:spPr>
          <a:xfrm>
            <a:off x="1170432" y="768096"/>
            <a:ext cx="182880" cy="182880"/>
          </a:xfrm>
          <a:prstGeom prst="ellipse">
            <a:avLst/>
          </a:prstGeom>
          <a:solidFill>
            <a:schemeClr val="accent4"/>
          </a:solidFill>
          <a:ln/>
        </p:spPr>
      </p:sp>
      <p:sp>
        <p:nvSpPr>
          <p:cNvPr id="6" name="Text 0"/>
          <p:cNvSpPr/>
          <p:nvPr>
            <p:ph idx="100" type="body" hasCustomPrompt="1"/>
          </p:nvPr>
        </p:nvSpPr>
        <p:spPr>
          <a:xfrm>
            <a:off x="1463040" y="658368"/>
            <a:ext cx="7315200" cy="365760"/>
          </a:xfrm>
          <a:prstGeom prst="rect">
            <a:avLst/>
          </a:prstGeom>
          <a:noFill/>
          <a:ln/>
        </p:spPr>
        <p:txBody>
          <a:bodyPr wrap="square" lIns="0" tIns="0" rIns="0" bIns="0" rtlCol="0" anchor="ctr"/>
          <a:lstStyle/>
          <a:p>
            <a:pPr indent="0" marL="0">
              <a:buNone/>
            </a:pPr>
            <a:r>
              <a:rPr lang="en-US" sz="1300" b="1" spc="300" kern="0" dirty="0">
                <a:solidFill>
                  <a:schemeClr val="accent1"/>
                </a:solidFill>
                <a:latin typeface="Arial" pitchFamily="34" charset="0"/>
                <a:ea typeface="Arial" pitchFamily="34" charset="-122"/>
                <a:cs typeface="Arial" pitchFamily="34" charset="-120"/>
              </a:rPr>
              <a:t>WIUT HACKATHON 2026  ·  COMPUTER VISION FINAL</a:t>
            </a:r>
            <a:endParaRPr lang="en-US" sz="1300" dirty="0"/>
          </a:p>
        </p:txBody>
      </p:sp>
      <p:sp>
        <p:nvSpPr>
          <p:cNvPr id="7" name="Text 0"/>
          <p:cNvSpPr/>
          <p:nvPr>
            <p:ph idx="101" type="title" hasCustomPrompt="1"/>
          </p:nvPr>
        </p:nvSpPr>
        <p:spPr>
          <a:xfrm>
            <a:off x="548640" y="1188720"/>
            <a:ext cx="5486400" cy="1417320"/>
          </a:xfrm>
          <a:prstGeom prst="rect">
            <a:avLst/>
          </a:prstGeom>
          <a:noFill/>
          <a:ln/>
        </p:spPr>
        <p:txBody>
          <a:bodyPr wrap="square" lIns="0" tIns="0" rIns="0" bIns="0" rtlCol="0" anchor="ctr"/>
          <a:lstStyle/>
          <a:p>
            <a:pPr algn="l" indent="0" marL="0">
              <a:buNone/>
            </a:pPr>
            <a:r>
              <a:rPr lang="en-US" sz="9600" b="1" dirty="0">
                <a:solidFill>
                  <a:schemeClr val="tx1"/>
                </a:solidFill>
                <a:latin typeface="Arial" pitchFamily="34" charset="0"/>
                <a:ea typeface="Arial" pitchFamily="34" charset="-122"/>
                <a:cs typeface="Arial" pitchFamily="34" charset="-120"/>
              </a:rPr>
              <a:t>OQIM</a:t>
            </a:r>
            <a:endParaRPr lang="en-US" sz="9600" dirty="0"/>
          </a:p>
        </p:txBody>
      </p:sp>
      <p:sp>
        <p:nvSpPr>
          <p:cNvPr id="8" name="Text 0"/>
          <p:cNvSpPr/>
          <p:nvPr>
            <p:ph idx="102" type="body" hasCustomPrompt="1"/>
          </p:nvPr>
        </p:nvSpPr>
        <p:spPr>
          <a:xfrm>
            <a:off x="548640" y="2651760"/>
            <a:ext cx="5486400" cy="91440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A traffic signal audit</a:t>
            </a:r>
            <a:endParaRPr lang="en-US" sz="2600" dirty="0"/>
          </a:p>
          <a:p>
            <a:pPr algn="l" indent="0" marL="0">
              <a:buNone/>
            </a:pPr>
            <a:r>
              <a:rPr lang="en-US" sz="2600" b="1" dirty="0">
                <a:solidFill>
                  <a:schemeClr val="tx1"/>
                </a:solidFill>
                <a:latin typeface="Arial" pitchFamily="34" charset="0"/>
                <a:ea typeface="Arial" pitchFamily="34" charset="-122"/>
                <a:cs typeface="Arial" pitchFamily="34" charset="-120"/>
              </a:rPr>
              <a:t>from one video</a:t>
            </a:r>
            <a:endParaRPr lang="en-US" sz="2600" dirty="0"/>
          </a:p>
        </p:txBody>
      </p:sp>
      <p:sp>
        <p:nvSpPr>
          <p:cNvPr id="9" name="Mode badge"/>
          <p:cNvSpPr/>
          <p:nvPr/>
        </p:nvSpPr>
        <p:spPr>
          <a:xfrm>
            <a:off x="548640" y="3703320"/>
            <a:ext cx="2743200" cy="566928"/>
          </a:xfrm>
          <a:prstGeom prst="roundRect">
            <a:avLst>
              <a:gd name="adj" fmla="val 19355"/>
            </a:avLst>
          </a:prstGeom>
          <a:solidFill>
            <a:schemeClr val="accent1"/>
          </a:solidFill>
          <a:ln/>
        </p:spPr>
        <p:txBody>
          <a:bodyPr wrap="square" lIns="0" tIns="0" rIns="0" bIns="0" rtlCol="0" anchor="ctr"/>
          <a:lstStyle/>
          <a:p>
            <a:pPr algn="ctr" indent="0" marL="0">
              <a:buNone/>
            </a:pPr>
            <a:r>
              <a:rPr lang="en-US" sz="2200" b="1" spc="200" kern="0" dirty="0">
                <a:solidFill>
                  <a:schemeClr val="bg1"/>
                </a:solidFill>
                <a:latin typeface="Arial" pitchFamily="34" charset="0"/>
                <a:ea typeface="Arial" pitchFamily="34" charset="-122"/>
                <a:cs typeface="Arial" pitchFamily="34" charset="-120"/>
              </a:rPr>
              <a:t>MODE: STARTUP</a:t>
            </a:r>
            <a:endParaRPr lang="en-US" sz="2200" dirty="0"/>
          </a:p>
        </p:txBody>
      </p:sp>
      <p:sp>
        <p:nvSpPr>
          <p:cNvPr id="10" name="Team"/>
          <p:cNvSpPr txBox="1"/>
          <p:nvPr/>
        </p:nvSpPr>
        <p:spPr>
          <a:xfrm>
            <a:off x="548640" y="4526280"/>
            <a:ext cx="5486400" cy="960120"/>
          </a:xfrm>
          <a:prstGeom prst="rect">
            <a:avLst/>
          </a:prstGeom>
          <a:noFill/>
          <a:ln/>
        </p:spPr>
        <p:txBody>
          <a:bodyPr wrap="square" lIns="0" tIns="0" rIns="0" bIns="0" rtlCol="0" anchor="t"/>
          <a:lstStyle/>
          <a:p>
            <a:pPr indent="0" marL="0">
              <a:spcAft>
                <a:spcPts val="200"/>
              </a:spcAft>
              <a:buNone/>
            </a:pPr>
            <a:r>
              <a:rPr lang="en-US" sz="1800" b="1" dirty="0">
                <a:solidFill>
                  <a:schemeClr val="tx1"/>
                </a:solidFill>
                <a:latin typeface="Calibri" pitchFamily="34" charset="0"/>
                <a:ea typeface="Calibri" pitchFamily="34" charset="-122"/>
                <a:cs typeface="Calibri" pitchFamily="34" charset="-120"/>
              </a:rPr>
              <a:t>Team PariVision</a:t>
            </a:r>
            <a:endParaRPr lang="en-US" sz="1800" dirty="0"/>
          </a:p>
          <a:p>
            <a:pPr indent="0" marL="0">
              <a:spcAft>
                <a:spcPts val="200"/>
              </a:spcAft>
              <a:buNone/>
            </a:pPr>
            <a:r>
              <a:rPr lang="en-US" sz="1600" dirty="0">
                <a:solidFill>
                  <a:schemeClr val="tx1"/>
                </a:solidFill>
                <a:latin typeface="Calibri" pitchFamily="34" charset="0"/>
                <a:ea typeface="Calibri" pitchFamily="34" charset="-122"/>
                <a:cs typeface="Calibri" pitchFamily="34" charset="-120"/>
              </a:rPr>
              <a:t>Amal Karimov, Komronbek Qodirov, Aziza Adizova</a:t>
            </a:r>
            <a:endParaRPr lang="en-US" sz="1800" dirty="0"/>
          </a:p>
          <a:p>
            <a:pPr indent="0" marL="0">
              <a:spcAft>
                <a:spcPts val="200"/>
              </a:spcAft>
              <a:buNone/>
            </a:pPr>
            <a:r>
              <a:rPr lang="en-US" sz="1600" dirty="0">
                <a:solidFill>
                  <a:schemeClr val="tx2"/>
                </a:solidFill>
                <a:latin typeface="Calibri" pitchFamily="34" charset="0"/>
                <a:ea typeface="Calibri" pitchFamily="34" charset="-122"/>
                <a:cs typeface="Calibri" pitchFamily="34" charset="-120"/>
              </a:rPr>
              <a:t>Webster University in Tashkent</a:t>
            </a:r>
            <a:endParaRPr lang="en-US" sz="1800" dirty="0"/>
          </a:p>
        </p:txBody>
      </p:sp>
      <p:sp>
        <p:nvSpPr>
          <p:cNvPr id="11" name="Links"/>
          <p:cNvSpPr txBox="1"/>
          <p:nvPr/>
        </p:nvSpPr>
        <p:spPr>
          <a:xfrm>
            <a:off x="548640" y="5623560"/>
            <a:ext cx="5486400" cy="640080"/>
          </a:xfrm>
          <a:prstGeom prst="rect">
            <a:avLst/>
          </a:prstGeom>
          <a:noFill/>
          <a:ln/>
        </p:spPr>
        <p:txBody>
          <a:bodyPr wrap="square" lIns="0" tIns="0" rIns="0" bIns="0" rtlCol="0" anchor="t"/>
          <a:lstStyle/>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Live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a:t>
            </a:r>
            <a:endParaRPr lang="en-US" sz="1500" dirty="0"/>
          </a:p>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Code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500" dirty="0"/>
          </a:p>
        </p:txBody>
      </p:sp>
      <p:sp>
        <p:nvSpPr>
          <p:cNvPr id="12" name="Frame panel"/>
          <p:cNvSpPr/>
          <p:nvPr/>
        </p:nvSpPr>
        <p:spPr>
          <a:xfrm>
            <a:off x="6263640" y="1143000"/>
            <a:ext cx="5376672" cy="3136392"/>
          </a:xfrm>
          <a:prstGeom prst="roundRect">
            <a:avLst>
              <a:gd name="adj" fmla="val 2332"/>
            </a:avLst>
          </a:prstGeom>
          <a:solidFill>
            <a:schemeClr val="bg2"/>
          </a:solidFill>
          <a:ln w="9525">
            <a:solidFill>
              <a:schemeClr val="accent5"/>
            </a:solidFill>
            <a:prstDash val="solid"/>
          </a:ln>
        </p:spPr>
      </p:sp>
      <p:pic>
        <p:nvPicPr>
          <p:cNvPr id="13" name="Junction frame" descr="Camera frame of the Tashkent junction, clip C3896">    </p:cNvPr>
          <p:cNvPicPr>
            <a:picLocks noChangeAspect="1"/>
          </p:cNvPicPr>
          <p:nvPr/>
        </p:nvPicPr>
        <p:blipFill>
          <a:blip r:embed="rId3"/>
          <a:srcRect l="0" r="0" t="0" b="0"/>
          <a:stretch/>
        </p:blipFill>
        <p:spPr>
          <a:xfrm>
            <a:off x="6327648" y="1207008"/>
            <a:ext cx="5248656" cy="3008376"/>
          </a:xfrm>
          <a:prstGeom prst="rect">
            <a:avLst/>
          </a:prstGeom>
        </p:spPr>
      </p:pic>
      <p:sp>
        <p:nvSpPr>
          <p:cNvPr id="14" name="Frame caption"/>
          <p:cNvSpPr txBox="1"/>
          <p:nvPr/>
        </p:nvSpPr>
        <p:spPr>
          <a:xfrm>
            <a:off x="6263640" y="4389120"/>
            <a:ext cx="5376672" cy="502920"/>
          </a:xfrm>
          <a:prstGeom prst="rect">
            <a:avLst/>
          </a:prstGeom>
          <a:noFill/>
          <a:ln/>
        </p:spPr>
        <p:txBody>
          <a:bodyPr wrap="square" lIns="0" tIns="0" rIns="0" bIns="0" rtlCol="0" anchor="t"/>
          <a:lstStyle/>
          <a:p>
            <a:pPr indent="0" marL="0">
              <a:buNone/>
            </a:pPr>
            <a:r>
              <a:rPr lang="en-US" sz="1100" dirty="0">
                <a:solidFill>
                  <a:schemeClr val="tx2"/>
                </a:solidFill>
                <a:latin typeface="Calibri" pitchFamily="34" charset="0"/>
                <a:ea typeface="Calibri" pitchFamily="34" charset="-122"/>
                <a:cs typeface="Calibri" pitchFamily="34" charset="-120"/>
              </a:rPr>
              <a:t>A real frame of the Tashkent junction (organisers' footage, clip C3896), with detections from our elimination-stage system.</a:t>
            </a:r>
            <a:endParaRPr lang="en-US" sz="1100" dirty="0"/>
          </a:p>
        </p:txBody>
      </p:sp>
      <p:sp>
        <p:nvSpPr>
          <p:cNvPr id="15" name="Frame chip 1"/>
          <p:cNvSpPr/>
          <p:nvPr/>
        </p:nvSpPr>
        <p:spPr>
          <a:xfrm>
            <a:off x="6263640" y="5074920"/>
            <a:ext cx="91440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accent1"/>
                </a:solidFill>
                <a:latin typeface="Arial" pitchFamily="34" charset="0"/>
                <a:ea typeface="Arial" pitchFamily="34" charset="-122"/>
                <a:cs typeface="Arial" pitchFamily="34" charset="-120"/>
              </a:rPr>
              <a:t>C3896</a:t>
            </a:r>
            <a:endParaRPr lang="en-US" sz="1300" dirty="0"/>
          </a:p>
        </p:txBody>
      </p:sp>
      <p:sp>
        <p:nvSpPr>
          <p:cNvPr id="16" name="Frame chip 2"/>
          <p:cNvSpPr/>
          <p:nvPr/>
        </p:nvSpPr>
        <p:spPr>
          <a:xfrm>
            <a:off x="7315200" y="5074920"/>
            <a:ext cx="123444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cycle 75 s</a:t>
            </a:r>
            <a:endParaRPr lang="en-US" sz="1300" dirty="0"/>
          </a:p>
        </p:txBody>
      </p:sp>
      <p:sp>
        <p:nvSpPr>
          <p:cNvPr id="17" name="Frame chip 3"/>
          <p:cNvSpPr/>
          <p:nvPr/>
        </p:nvSpPr>
        <p:spPr>
          <a:xfrm>
            <a:off x="8686800" y="5074920"/>
            <a:ext cx="237744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130 vehicles southbound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PROBLEM AND USER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Signal timing is rarely checked</a:t>
            </a:r>
            <a:endParaRPr lang="en-US" sz="3600" dirty="0"/>
          </a:p>
        </p:txBody>
      </p:sp>
      <p:sp>
        <p:nvSpPr>
          <p:cNvPr id="8" name="Stat card 1"/>
          <p:cNvSpPr/>
          <p:nvPr/>
        </p:nvSpPr>
        <p:spPr>
          <a:xfrm>
            <a:off x="548640" y="1691640"/>
            <a:ext cx="3515258" cy="1463040"/>
          </a:xfrm>
          <a:prstGeom prst="roundRect">
            <a:avLst>
              <a:gd name="adj" fmla="val 5000"/>
            </a:avLst>
          </a:prstGeom>
          <a:solidFill>
            <a:schemeClr val="bg2"/>
          </a:solidFill>
          <a:ln w="9525">
            <a:solidFill>
              <a:schemeClr val="accent5"/>
            </a:solidFill>
            <a:prstDash val="solid"/>
          </a:ln>
        </p:spPr>
      </p:sp>
      <p:sp>
        <p:nvSpPr>
          <p:cNvPr id="9" name="Stat 1 value"/>
          <p:cNvSpPr txBox="1"/>
          <p:nvPr/>
        </p:nvSpPr>
        <p:spPr>
          <a:xfrm>
            <a:off x="822960" y="1801368"/>
            <a:ext cx="2966618" cy="719328"/>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~1,000</a:t>
            </a:r>
            <a:endParaRPr lang="en-US" sz="4800" dirty="0"/>
          </a:p>
        </p:txBody>
      </p:sp>
      <p:sp>
        <p:nvSpPr>
          <p:cNvPr id="10" name="Stat 1 label"/>
          <p:cNvSpPr txBox="1"/>
          <p:nvPr/>
        </p:nvSpPr>
        <p:spPr>
          <a:xfrm>
            <a:off x="822960" y="2575560"/>
            <a:ext cx="2966618" cy="365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signalised junctions in Tashkent</a:t>
            </a:r>
            <a:endParaRPr lang="en-US" sz="1400" dirty="0"/>
          </a:p>
        </p:txBody>
      </p:sp>
      <p:sp>
        <p:nvSpPr>
          <p:cNvPr id="11" name="Stat card 2"/>
          <p:cNvSpPr/>
          <p:nvPr/>
        </p:nvSpPr>
        <p:spPr>
          <a:xfrm>
            <a:off x="4338218" y="1691640"/>
            <a:ext cx="3515258" cy="1463040"/>
          </a:xfrm>
          <a:prstGeom prst="roundRect">
            <a:avLst>
              <a:gd name="adj" fmla="val 5000"/>
            </a:avLst>
          </a:prstGeom>
          <a:solidFill>
            <a:schemeClr val="bg2"/>
          </a:solidFill>
          <a:ln w="9525">
            <a:solidFill>
              <a:schemeClr val="accent5"/>
            </a:solidFill>
            <a:prstDash val="solid"/>
          </a:ln>
        </p:spPr>
      </p:sp>
      <p:sp>
        <p:nvSpPr>
          <p:cNvPr id="12" name="Stat 2 value"/>
          <p:cNvSpPr txBox="1"/>
          <p:nvPr/>
        </p:nvSpPr>
        <p:spPr>
          <a:xfrm>
            <a:off x="4612538" y="1801368"/>
            <a:ext cx="2966618" cy="719328"/>
          </a:xfrm>
          <a:prstGeom prst="rect">
            <a:avLst/>
          </a:prstGeom>
          <a:noFill/>
          <a:ln/>
        </p:spPr>
        <p:txBody>
          <a:bodyPr wrap="square" lIns="0" tIns="0" rIns="0" bIns="0" rtlCol="0" anchor="b"/>
          <a:lstStyle/>
          <a:p>
            <a:pPr indent="0" marL="0">
              <a:buNone/>
            </a:pPr>
            <a:r>
              <a:rPr lang="en-US" sz="4800" b="1" dirty="0">
                <a:solidFill>
                  <a:schemeClr val="accent4"/>
                </a:solidFill>
                <a:latin typeface="Arial" pitchFamily="34" charset="0"/>
                <a:ea typeface="Arial" pitchFamily="34" charset="-122"/>
                <a:cs typeface="Arial" pitchFamily="34" charset="-120"/>
              </a:rPr>
              <a:t>125</a:t>
            </a:r>
            <a:endParaRPr lang="en-US" sz="4800" dirty="0"/>
          </a:p>
        </p:txBody>
      </p:sp>
      <p:sp>
        <p:nvSpPr>
          <p:cNvPr id="13" name="Stat 2 label"/>
          <p:cNvSpPr txBox="1"/>
          <p:nvPr/>
        </p:nvSpPr>
        <p:spPr>
          <a:xfrm>
            <a:off x="4612538" y="2575560"/>
            <a:ext cx="2966618" cy="365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connected to TsODD's adaptive system</a:t>
            </a:r>
            <a:endParaRPr lang="en-US" sz="1400" dirty="0"/>
          </a:p>
        </p:txBody>
      </p:sp>
      <p:sp>
        <p:nvSpPr>
          <p:cNvPr id="14" name="Stat card 3"/>
          <p:cNvSpPr/>
          <p:nvPr/>
        </p:nvSpPr>
        <p:spPr>
          <a:xfrm>
            <a:off x="8127797" y="1691640"/>
            <a:ext cx="3515258" cy="1463040"/>
          </a:xfrm>
          <a:prstGeom prst="roundRect">
            <a:avLst>
              <a:gd name="adj" fmla="val 5000"/>
            </a:avLst>
          </a:prstGeom>
          <a:solidFill>
            <a:schemeClr val="bg2"/>
          </a:solidFill>
          <a:ln w="9525">
            <a:solidFill>
              <a:schemeClr val="accent5"/>
            </a:solidFill>
            <a:prstDash val="solid"/>
          </a:ln>
        </p:spPr>
      </p:sp>
      <p:sp>
        <p:nvSpPr>
          <p:cNvPr id="15" name="Stat 3 value"/>
          <p:cNvSpPr txBox="1"/>
          <p:nvPr/>
        </p:nvSpPr>
        <p:spPr>
          <a:xfrm>
            <a:off x="8402117" y="1801368"/>
            <a:ext cx="2966618" cy="719328"/>
          </a:xfrm>
          <a:prstGeom prst="rect">
            <a:avLst/>
          </a:prstGeom>
          <a:noFill/>
          <a:ln/>
        </p:spPr>
        <p:txBody>
          <a:bodyPr wrap="square" lIns="0" tIns="0" rIns="0" bIns="0" rtlCol="0" anchor="b"/>
          <a:lstStyle/>
          <a:p>
            <a:pPr indent="0" marL="0">
              <a:buNone/>
            </a:pPr>
            <a:r>
              <a:rPr lang="en-US" sz="4800" b="1" dirty="0">
                <a:solidFill>
                  <a:schemeClr val="accent3"/>
                </a:solidFill>
                <a:latin typeface="Arial" pitchFamily="34" charset="0"/>
                <a:ea typeface="Arial" pitchFamily="34" charset="-122"/>
                <a:cs typeface="Arial" pitchFamily="34" charset="-120"/>
              </a:rPr>
              <a:t>545</a:t>
            </a:r>
            <a:endParaRPr lang="en-US" sz="4800" dirty="0"/>
          </a:p>
        </p:txBody>
      </p:sp>
      <p:sp>
        <p:nvSpPr>
          <p:cNvPr id="16" name="Stat 3 label"/>
          <p:cNvSpPr txBox="1"/>
          <p:nvPr/>
        </p:nvSpPr>
        <p:spPr>
          <a:xfrm>
            <a:off x="8402117" y="2575560"/>
            <a:ext cx="2966618" cy="365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planned to be connected in 2026</a:t>
            </a:r>
            <a:endParaRPr lang="en-US" sz="1400" dirty="0"/>
          </a:p>
        </p:txBody>
      </p:sp>
      <p:sp>
        <p:nvSpPr>
          <p:cNvPr id="17" name="Decree line"/>
          <p:cNvSpPr txBox="1"/>
          <p:nvPr/>
        </p:nvSpPr>
        <p:spPr>
          <a:xfrm>
            <a:off x="548640" y="3273552"/>
            <a:ext cx="11094415" cy="3200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Presidential decree of 4 December 2025 on congestion. No measured results published so far.  </a:t>
            </a:r>
            <a:pPr indent="0" marL="0">
              <a:buNone/>
            </a:pPr>
            <a:r>
              <a:rPr lang="en-US" sz="1400" dirty="0">
                <a:solidFill>
                  <a:schemeClr val="tx2"/>
                </a:solidFill>
                <a:latin typeface="Calibri" pitchFamily="34" charset="0"/>
                <a:ea typeface="Calibri" pitchFamily="34" charset="-122"/>
                <a:cs typeface="Calibri" pitchFamily="34" charset="-120"/>
              </a:rPr>
              <a:t>Sources: Anhor.uz, Yuz.uz</a:t>
            </a:r>
            <a:endParaRPr lang="en-US" sz="1400" dirty="0"/>
          </a:p>
        </p:txBody>
      </p:sp>
      <p:sp>
        <p:nvSpPr>
          <p:cNvPr id="18" name="Why panel"/>
          <p:cNvSpPr/>
          <p:nvPr/>
        </p:nvSpPr>
        <p:spPr>
          <a:xfrm>
            <a:off x="548640" y="3794760"/>
            <a:ext cx="6309360" cy="2377440"/>
          </a:xfrm>
          <a:prstGeom prst="roundRect">
            <a:avLst>
              <a:gd name="adj" fmla="val 3077"/>
            </a:avLst>
          </a:prstGeom>
          <a:solidFill>
            <a:schemeClr val="bg2"/>
          </a:solidFill>
          <a:ln w="9525">
            <a:solidFill>
              <a:schemeClr val="accent5"/>
            </a:solidFill>
            <a:prstDash val="solid"/>
          </a:ln>
        </p:spPr>
      </p:sp>
      <p:sp>
        <p:nvSpPr>
          <p:cNvPr id="19" name="Why heading"/>
          <p:cNvSpPr txBox="1"/>
          <p:nvPr/>
        </p:nvSpPr>
        <p:spPr>
          <a:xfrm>
            <a:off x="822960" y="3931920"/>
            <a:ext cx="576072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a junction is checked today</a:t>
            </a:r>
            <a:endParaRPr lang="en-US" sz="1800" dirty="0"/>
          </a:p>
        </p:txBody>
      </p:sp>
      <p:sp>
        <p:nvSpPr>
          <p:cNvPr id="20" name="Why bullets"/>
          <p:cNvSpPr txBox="1"/>
          <p:nvPr/>
        </p:nvSpPr>
        <p:spPr>
          <a:xfrm>
            <a:off x="822960" y="4370832"/>
            <a:ext cx="5760720" cy="16916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 manual study: people at the roadside count vehicles, then an engineer calculates.</a:t>
            </a:r>
            <a:endParaRPr lang="en-US" sz="1500" dirty="0"/>
          </a:p>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Most controllers are not connected, so their timing cannot be read centrally.</a:t>
            </a:r>
            <a:endParaRPr lang="en-US" sz="1500" dirty="0"/>
          </a:p>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US cities measure arrivals on green and split failures from controller logs (ATSPM). Here those logs are not available.</a:t>
            </a:r>
            <a:endParaRPr lang="en-US" sz="1500" dirty="0"/>
          </a:p>
        </p:txBody>
      </p:sp>
      <p:sp>
        <p:nvSpPr>
          <p:cNvPr id="21" name="User panel"/>
          <p:cNvSpPr/>
          <p:nvPr/>
        </p:nvSpPr>
        <p:spPr>
          <a:xfrm>
            <a:off x="7132320" y="3794760"/>
            <a:ext cx="4510735" cy="2377440"/>
          </a:xfrm>
          <a:prstGeom prst="roundRect">
            <a:avLst>
              <a:gd name="adj" fmla="val 3077"/>
            </a:avLst>
          </a:prstGeom>
          <a:solidFill>
            <a:schemeClr val="bg2"/>
          </a:solidFill>
          <a:ln w="9525">
            <a:solidFill>
              <a:schemeClr val="accent5"/>
            </a:solidFill>
            <a:prstDash val="solid"/>
          </a:ln>
        </p:spPr>
      </p:sp>
      <p:sp>
        <p:nvSpPr>
          <p:cNvPr id="22" name="User lamp"/>
          <p:cNvSpPr/>
          <p:nvPr/>
        </p:nvSpPr>
        <p:spPr>
          <a:xfrm>
            <a:off x="7406640" y="3986784"/>
            <a:ext cx="201168" cy="201168"/>
          </a:xfrm>
          <a:prstGeom prst="ellipse">
            <a:avLst/>
          </a:prstGeom>
          <a:solidFill>
            <a:schemeClr val="accent4"/>
          </a:solidFill>
          <a:ln/>
        </p:spPr>
      </p:sp>
      <p:sp>
        <p:nvSpPr>
          <p:cNvPr id="23" name="User heading"/>
          <p:cNvSpPr txBox="1"/>
          <p:nvPr/>
        </p:nvSpPr>
        <p:spPr>
          <a:xfrm>
            <a:off x="7726680" y="3931920"/>
            <a:ext cx="3596335"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The user</a:t>
            </a:r>
            <a:endParaRPr lang="en-US" sz="1800" dirty="0"/>
          </a:p>
        </p:txBody>
      </p:sp>
      <p:sp>
        <p:nvSpPr>
          <p:cNvPr id="24" name="User text"/>
          <p:cNvSpPr txBox="1"/>
          <p:nvPr/>
        </p:nvSpPr>
        <p:spPr>
          <a:xfrm>
            <a:off x="7406640" y="4370832"/>
            <a:ext cx="3962095" cy="1691640"/>
          </a:xfrm>
          <a:prstGeom prst="rect">
            <a:avLst/>
          </a:prstGeom>
          <a:noFill/>
          <a:ln/>
        </p:spPr>
        <p:txBody>
          <a:bodyPr wrap="square" lIns="0" tIns="0" rIns="0" bIns="0" rtlCol="0" anchor="t"/>
          <a:lstStyle/>
          <a:p>
            <a:pPr indent="0" marL="0">
              <a:spcAft>
                <a:spcPts val="800"/>
              </a:spcAft>
              <a:buNone/>
            </a:pPr>
            <a:r>
              <a:rPr lang="en-US" sz="1500" dirty="0">
                <a:solidFill>
                  <a:schemeClr val="tx1"/>
                </a:solidFill>
                <a:latin typeface="Calibri" pitchFamily="34" charset="0"/>
                <a:ea typeface="Calibri" pitchFamily="34" charset="-122"/>
                <a:cs typeface="Calibri" pitchFamily="34" charset="-120"/>
              </a:rPr>
              <a:t>TsODD's traffic engineer, and the contractors who do junction studies for it.</a:t>
            </a:r>
            <a:endParaRPr lang="en-US" sz="1500" dirty="0"/>
          </a:p>
          <a:p>
            <a:pPr indent="0" marL="0">
              <a:spcAft>
                <a:spcPts val="800"/>
              </a:spcAft>
              <a:buNone/>
            </a:pPr>
            <a:r>
              <a:rPr lang="en-US" sz="1500" b="1" dirty="0">
                <a:solidFill>
                  <a:schemeClr val="accent1"/>
                </a:solidFill>
                <a:latin typeface="Calibri" pitchFamily="34" charset="0"/>
                <a:ea typeface="Calibri" pitchFamily="34" charset="-122"/>
                <a:cs typeface="Calibri" pitchFamily="34" charset="-120"/>
              </a:rPr>
              <a:t>Who pays: </a:t>
            </a:r>
            <a:pPr indent="0" marL="0">
              <a:spcAft>
                <a:spcPts val="800"/>
              </a:spcAft>
              <a:buNone/>
            </a:pPr>
            <a:r>
              <a:rPr lang="en-US" sz="1500" dirty="0">
                <a:solidFill>
                  <a:schemeClr val="tx1"/>
                </a:solidFill>
                <a:latin typeface="Calibri" pitchFamily="34" charset="0"/>
                <a:ea typeface="Calibri" pitchFamily="34" charset="-122"/>
                <a:cs typeface="Calibri" pitchFamily="34" charset="-120"/>
              </a:rPr>
              <a:t>the city, which already buys studies; road-safety and transport projects.</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THE PRODUCT IN ONE PICTURE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One video in, a checked plan out</a:t>
            </a:r>
            <a:endParaRPr lang="en-US" sz="3600" dirty="0"/>
          </a:p>
        </p:txBody>
      </p:sp>
      <p:sp>
        <p:nvSpPr>
          <p:cNvPr id="8" name="Step 1 card"/>
          <p:cNvSpPr/>
          <p:nvPr/>
        </p:nvSpPr>
        <p:spPr>
          <a:xfrm>
            <a:off x="548640" y="1783080"/>
            <a:ext cx="1955536" cy="2971800"/>
          </a:xfrm>
          <a:prstGeom prst="roundRect">
            <a:avLst>
              <a:gd name="adj" fmla="val 3741"/>
            </a:avLst>
          </a:prstGeom>
          <a:solidFill>
            <a:schemeClr val="bg2"/>
          </a:solidFill>
          <a:ln w="9525">
            <a:solidFill>
              <a:schemeClr val="accent5"/>
            </a:solidFill>
            <a:prstDash val="solid"/>
          </a:ln>
        </p:spPr>
      </p:sp>
      <p:sp>
        <p:nvSpPr>
          <p:cNvPr id="9" name="Step 1 lamp"/>
          <p:cNvSpPr/>
          <p:nvPr/>
        </p:nvSpPr>
        <p:spPr>
          <a:xfrm>
            <a:off x="777240" y="2011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1</a:t>
            </a:r>
            <a:endParaRPr lang="en-US" sz="1800" dirty="0"/>
          </a:p>
        </p:txBody>
      </p:sp>
      <p:sp>
        <p:nvSpPr>
          <p:cNvPr id="10" name="Step 1 title"/>
          <p:cNvSpPr txBox="1"/>
          <p:nvPr/>
        </p:nvSpPr>
        <p:spPr>
          <a:xfrm>
            <a:off x="777240" y="2606040"/>
            <a:ext cx="1589776" cy="59436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Video in</a:t>
            </a:r>
            <a:endParaRPr lang="en-US" sz="1700" dirty="0"/>
          </a:p>
        </p:txBody>
      </p:sp>
      <p:sp>
        <p:nvSpPr>
          <p:cNvPr id="11" name="Step 1 text"/>
          <p:cNvSpPr txBox="1"/>
          <p:nvPr/>
        </p:nvSpPr>
        <p:spPr>
          <a:xfrm>
            <a:off x="777240" y="3200400"/>
            <a:ext cx="1589776" cy="14173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A clip of the junction. Draw the stop line, click the signal head.</a:t>
            </a:r>
            <a:endParaRPr lang="en-US" sz="1500" dirty="0"/>
          </a:p>
        </p:txBody>
      </p:sp>
      <p:sp>
        <p:nvSpPr>
          <p:cNvPr id="12" name="Arrow 1"/>
          <p:cNvSpPr/>
          <p:nvPr/>
        </p:nvSpPr>
        <p:spPr>
          <a:xfrm rot="5400000">
            <a:off x="2604760" y="3186684"/>
            <a:ext cx="164592" cy="128016"/>
          </a:xfrm>
          <a:prstGeom prst="triangle">
            <a:avLst/>
          </a:prstGeom>
          <a:solidFill>
            <a:schemeClr val="accent1"/>
          </a:solidFill>
          <a:ln/>
        </p:spPr>
      </p:sp>
      <p:sp>
        <p:nvSpPr>
          <p:cNvPr id="13" name="Step 2 card"/>
          <p:cNvSpPr/>
          <p:nvPr/>
        </p:nvSpPr>
        <p:spPr>
          <a:xfrm>
            <a:off x="2833360" y="1783080"/>
            <a:ext cx="1955536" cy="2971800"/>
          </a:xfrm>
          <a:prstGeom prst="roundRect">
            <a:avLst>
              <a:gd name="adj" fmla="val 3741"/>
            </a:avLst>
          </a:prstGeom>
          <a:solidFill>
            <a:schemeClr val="bg2"/>
          </a:solidFill>
          <a:ln w="9525">
            <a:solidFill>
              <a:schemeClr val="accent5"/>
            </a:solidFill>
            <a:prstDash val="solid"/>
          </a:ln>
        </p:spPr>
      </p:sp>
      <p:sp>
        <p:nvSpPr>
          <p:cNvPr id="14" name="Step 2 lamp"/>
          <p:cNvSpPr/>
          <p:nvPr/>
        </p:nvSpPr>
        <p:spPr>
          <a:xfrm>
            <a:off x="3061960" y="2011680"/>
            <a:ext cx="457200" cy="457200"/>
          </a:xfrm>
          <a:prstGeom prst="ellipse">
            <a:avLst/>
          </a:prstGeom>
          <a:solidFill>
            <a:schemeClr val="accent3"/>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2</a:t>
            </a:r>
            <a:endParaRPr lang="en-US" sz="1800" dirty="0"/>
          </a:p>
        </p:txBody>
      </p:sp>
      <p:sp>
        <p:nvSpPr>
          <p:cNvPr id="15" name="Step 2 title"/>
          <p:cNvSpPr txBox="1"/>
          <p:nvPr/>
        </p:nvSpPr>
        <p:spPr>
          <a:xfrm>
            <a:off x="3061960" y="2606040"/>
            <a:ext cx="1589776" cy="59436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Lights from pixels</a:t>
            </a:r>
            <a:endParaRPr lang="en-US" sz="1700" dirty="0"/>
          </a:p>
        </p:txBody>
      </p:sp>
      <p:sp>
        <p:nvSpPr>
          <p:cNvPr id="16" name="Step 2 text"/>
          <p:cNvSpPr txBox="1"/>
          <p:nvPr/>
        </p:nvSpPr>
        <p:spPr>
          <a:xfrm>
            <a:off x="3061960" y="3200400"/>
            <a:ext cx="1589776" cy="14173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The lit lamp inside the head's box. No controller access needed.</a:t>
            </a:r>
            <a:endParaRPr lang="en-US" sz="1500" dirty="0"/>
          </a:p>
        </p:txBody>
      </p:sp>
      <p:sp>
        <p:nvSpPr>
          <p:cNvPr id="17" name="Arrow 2"/>
          <p:cNvSpPr/>
          <p:nvPr/>
        </p:nvSpPr>
        <p:spPr>
          <a:xfrm rot="5400000">
            <a:off x="4889480" y="3186684"/>
            <a:ext cx="164592" cy="128016"/>
          </a:xfrm>
          <a:prstGeom prst="triangle">
            <a:avLst/>
          </a:prstGeom>
          <a:solidFill>
            <a:schemeClr val="accent1"/>
          </a:solidFill>
          <a:ln/>
        </p:spPr>
      </p:sp>
      <p:sp>
        <p:nvSpPr>
          <p:cNvPr id="18" name="Step 3 card"/>
          <p:cNvSpPr/>
          <p:nvPr/>
        </p:nvSpPr>
        <p:spPr>
          <a:xfrm>
            <a:off x="5118080" y="1783080"/>
            <a:ext cx="1955536" cy="2971800"/>
          </a:xfrm>
          <a:prstGeom prst="roundRect">
            <a:avLst>
              <a:gd name="adj" fmla="val 3741"/>
            </a:avLst>
          </a:prstGeom>
          <a:solidFill>
            <a:schemeClr val="bg2"/>
          </a:solidFill>
          <a:ln w="9525">
            <a:solidFill>
              <a:schemeClr val="accent5"/>
            </a:solidFill>
            <a:prstDash val="solid"/>
          </a:ln>
        </p:spPr>
      </p:sp>
      <p:sp>
        <p:nvSpPr>
          <p:cNvPr id="19" name="Step 3 lamp"/>
          <p:cNvSpPr/>
          <p:nvPr/>
        </p:nvSpPr>
        <p:spPr>
          <a:xfrm>
            <a:off x="5346680" y="2011680"/>
            <a:ext cx="457200" cy="457200"/>
          </a:xfrm>
          <a:prstGeom prst="ellipse">
            <a:avLst/>
          </a:prstGeom>
          <a:solidFill>
            <a:schemeClr val="accent4"/>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3</a:t>
            </a:r>
            <a:endParaRPr lang="en-US" sz="1800" dirty="0"/>
          </a:p>
        </p:txBody>
      </p:sp>
      <p:sp>
        <p:nvSpPr>
          <p:cNvPr id="20" name="Step 3 title"/>
          <p:cNvSpPr txBox="1"/>
          <p:nvPr/>
        </p:nvSpPr>
        <p:spPr>
          <a:xfrm>
            <a:off x="5346680" y="2606040"/>
            <a:ext cx="1589776" cy="59436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Measure</a:t>
            </a:r>
            <a:endParaRPr lang="en-US" sz="1700" dirty="0"/>
          </a:p>
        </p:txBody>
      </p:sp>
      <p:sp>
        <p:nvSpPr>
          <p:cNvPr id="21" name="Step 3 text"/>
          <p:cNvSpPr txBox="1"/>
          <p:nvPr/>
        </p:nvSpPr>
        <p:spPr>
          <a:xfrm>
            <a:off x="5346680" y="3200400"/>
            <a:ext cx="1589776" cy="14173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Crossings by side, waits before the line, arrivals on green, discharge, red-light runs, queue.</a:t>
            </a:r>
            <a:endParaRPr lang="en-US" sz="1500" dirty="0"/>
          </a:p>
        </p:txBody>
      </p:sp>
      <p:sp>
        <p:nvSpPr>
          <p:cNvPr id="22" name="Arrow 3"/>
          <p:cNvSpPr/>
          <p:nvPr/>
        </p:nvSpPr>
        <p:spPr>
          <a:xfrm rot="5400000">
            <a:off x="7174200" y="3186684"/>
            <a:ext cx="164592" cy="128016"/>
          </a:xfrm>
          <a:prstGeom prst="triangle">
            <a:avLst/>
          </a:prstGeom>
          <a:solidFill>
            <a:schemeClr val="accent1"/>
          </a:solidFill>
          <a:ln/>
        </p:spPr>
      </p:sp>
      <p:sp>
        <p:nvSpPr>
          <p:cNvPr id="23" name="Step 4 card"/>
          <p:cNvSpPr/>
          <p:nvPr/>
        </p:nvSpPr>
        <p:spPr>
          <a:xfrm>
            <a:off x="7402800" y="1783080"/>
            <a:ext cx="1955536" cy="2971800"/>
          </a:xfrm>
          <a:prstGeom prst="roundRect">
            <a:avLst>
              <a:gd name="adj" fmla="val 3741"/>
            </a:avLst>
          </a:prstGeom>
          <a:solidFill>
            <a:schemeClr val="bg2"/>
          </a:solidFill>
          <a:ln w="9525">
            <a:solidFill>
              <a:schemeClr val="accent5"/>
            </a:solidFill>
            <a:prstDash val="solid"/>
          </a:ln>
        </p:spPr>
      </p:sp>
      <p:sp>
        <p:nvSpPr>
          <p:cNvPr id="24" name="Step 4 lamp"/>
          <p:cNvSpPr/>
          <p:nvPr/>
        </p:nvSpPr>
        <p:spPr>
          <a:xfrm>
            <a:off x="7631400" y="2011680"/>
            <a:ext cx="457200" cy="457200"/>
          </a:xfrm>
          <a:prstGeom prst="ellipse">
            <a:avLst/>
          </a:prstGeom>
          <a:solidFill>
            <a:schemeClr val="accent3"/>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4</a:t>
            </a:r>
            <a:endParaRPr lang="en-US" sz="1800" dirty="0"/>
          </a:p>
        </p:txBody>
      </p:sp>
      <p:sp>
        <p:nvSpPr>
          <p:cNvPr id="25" name="Step 4 title"/>
          <p:cNvSpPr txBox="1"/>
          <p:nvPr/>
        </p:nvSpPr>
        <p:spPr>
          <a:xfrm>
            <a:off x="7631400" y="2606040"/>
            <a:ext cx="1589776" cy="59436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Replay check</a:t>
            </a:r>
            <a:endParaRPr lang="en-US" sz="1700" dirty="0"/>
          </a:p>
        </p:txBody>
      </p:sp>
      <p:sp>
        <p:nvSpPr>
          <p:cNvPr id="26" name="Step 4 text"/>
          <p:cNvSpPr txBox="1"/>
          <p:nvPr/>
        </p:nvSpPr>
        <p:spPr>
          <a:xfrm>
            <a:off x="7631400" y="3200400"/>
            <a:ext cx="1589776" cy="14173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The clip's own vehicles run through a queue model. It must give back the measured crossings.</a:t>
            </a:r>
            <a:endParaRPr lang="en-US" sz="1500" dirty="0"/>
          </a:p>
        </p:txBody>
      </p:sp>
      <p:sp>
        <p:nvSpPr>
          <p:cNvPr id="27" name="Arrow 4"/>
          <p:cNvSpPr/>
          <p:nvPr/>
        </p:nvSpPr>
        <p:spPr>
          <a:xfrm rot="5400000">
            <a:off x="9458919" y="3186684"/>
            <a:ext cx="164592" cy="128016"/>
          </a:xfrm>
          <a:prstGeom prst="triangle">
            <a:avLst/>
          </a:prstGeom>
          <a:solidFill>
            <a:schemeClr val="accent1"/>
          </a:solidFill>
          <a:ln/>
        </p:spPr>
      </p:sp>
      <p:sp>
        <p:nvSpPr>
          <p:cNvPr id="28" name="Step 5 card"/>
          <p:cNvSpPr/>
          <p:nvPr/>
        </p:nvSpPr>
        <p:spPr>
          <a:xfrm>
            <a:off x="9687519" y="1783080"/>
            <a:ext cx="1955536" cy="2971800"/>
          </a:xfrm>
          <a:prstGeom prst="roundRect">
            <a:avLst>
              <a:gd name="adj" fmla="val 3741"/>
            </a:avLst>
          </a:prstGeom>
          <a:solidFill>
            <a:schemeClr val="bg2"/>
          </a:solidFill>
          <a:ln w="9525">
            <a:solidFill>
              <a:schemeClr val="accent5"/>
            </a:solidFill>
            <a:prstDash val="solid"/>
          </a:ln>
        </p:spPr>
      </p:sp>
      <p:sp>
        <p:nvSpPr>
          <p:cNvPr id="29" name="Step 5 lamp"/>
          <p:cNvSpPr/>
          <p:nvPr/>
        </p:nvSpPr>
        <p:spPr>
          <a:xfrm>
            <a:off x="9916119" y="2011680"/>
            <a:ext cx="457200" cy="457200"/>
          </a:xfrm>
          <a:prstGeom prst="ellipse">
            <a:avLst/>
          </a:prstGeom>
          <a:solidFill>
            <a:schemeClr val="accent4"/>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5</a:t>
            </a:r>
            <a:endParaRPr lang="en-US" sz="1800" dirty="0"/>
          </a:p>
        </p:txBody>
      </p:sp>
      <p:sp>
        <p:nvSpPr>
          <p:cNvPr id="30" name="Step 5 title"/>
          <p:cNvSpPr txBox="1"/>
          <p:nvPr/>
        </p:nvSpPr>
        <p:spPr>
          <a:xfrm>
            <a:off x="9916119" y="2606040"/>
            <a:ext cx="1589776" cy="59436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Report out</a:t>
            </a:r>
            <a:endParaRPr lang="en-US" sz="1700" dirty="0"/>
          </a:p>
        </p:txBody>
      </p:sp>
      <p:sp>
        <p:nvSpPr>
          <p:cNvPr id="31" name="Step 5 text"/>
          <p:cNvSpPr txBox="1"/>
          <p:nvPr/>
        </p:nvSpPr>
        <p:spPr>
          <a:xfrm>
            <a:off x="9916119" y="3200400"/>
            <a:ext cx="1589776" cy="14173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Six plans checked on the replay, traffic events, and a Purdue coordination diagram from video.</a:t>
            </a:r>
            <a:endParaRPr lang="en-US" sz="1500" dirty="0"/>
          </a:p>
        </p:txBody>
      </p:sp>
      <p:sp>
        <p:nvSpPr>
          <p:cNvPr id="32" name="Device banner"/>
          <p:cNvSpPr/>
          <p:nvPr/>
        </p:nvSpPr>
        <p:spPr>
          <a:xfrm>
            <a:off x="548640" y="5074920"/>
            <a:ext cx="11094415" cy="1051560"/>
          </a:xfrm>
          <a:prstGeom prst="roundRect">
            <a:avLst>
              <a:gd name="adj" fmla="val 6957"/>
            </a:avLst>
          </a:prstGeom>
          <a:solidFill>
            <a:schemeClr val="bg2"/>
          </a:solidFill>
          <a:ln w="9525">
            <a:solidFill>
              <a:schemeClr val="accent5"/>
            </a:solidFill>
            <a:prstDash val="solid"/>
          </a:ln>
        </p:spPr>
      </p:sp>
      <p:sp>
        <p:nvSpPr>
          <p:cNvPr id="33" name="Device lamp"/>
          <p:cNvSpPr/>
          <p:nvPr/>
        </p:nvSpPr>
        <p:spPr>
          <a:xfrm>
            <a:off x="822960" y="5376672"/>
            <a:ext cx="438912" cy="438912"/>
          </a:xfrm>
          <a:prstGeom prst="ellipse">
            <a:avLst/>
          </a:prstGeom>
          <a:solidFill>
            <a:schemeClr val="accent4"/>
          </a:solidFill>
          <a:ln/>
        </p:spPr>
      </p:sp>
      <p:sp>
        <p:nvSpPr>
          <p:cNvPr id="34" name="Device text"/>
          <p:cNvSpPr txBox="1"/>
          <p:nvPr/>
        </p:nvSpPr>
        <p:spPr>
          <a:xfrm>
            <a:off x="1463040" y="5120640"/>
            <a:ext cx="9905695" cy="9601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Runs on the user's device. </a:t>
            </a:r>
            <a:pPr indent="0" marL="0">
              <a:buNone/>
            </a:pPr>
            <a:r>
              <a:rPr lang="en-US" sz="1800" dirty="0">
                <a:solidFill>
                  <a:schemeClr val="tx1"/>
                </a:solidFill>
                <a:latin typeface="Calibri" pitchFamily="34" charset="0"/>
                <a:ea typeface="Calibri" pitchFamily="34" charset="-122"/>
                <a:cs typeface="Calibri" pitchFamily="34" charset="-120"/>
              </a:rPr>
              <a:t>The video is never uploaded. No number plates or faces are read.</a:t>
            </a:r>
            <a:endParaRPr lang="en-US"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Live demo: five pages</a:t>
            </a:r>
            <a:endParaRPr lang="en-US" sz="3600" dirty="0"/>
          </a:p>
        </p:txBody>
      </p:sp>
      <p:sp>
        <p:nvSpPr>
          <p:cNvPr id="8" name="Screenshot panel"/>
          <p:cNvSpPr/>
          <p:nvPr/>
        </p:nvSpPr>
        <p:spPr>
          <a:xfrm>
            <a:off x="548640" y="1691640"/>
            <a:ext cx="6528816" cy="4128516"/>
          </a:xfrm>
          <a:prstGeom prst="roundRect">
            <a:avLst>
              <a:gd name="adj" fmla="val 1772"/>
            </a:avLst>
          </a:prstGeom>
          <a:solidFill>
            <a:schemeClr val="bg2"/>
          </a:solidFill>
          <a:ln w="9525">
            <a:solidFill>
              <a:schemeClr val="accent5"/>
            </a:solidFill>
            <a:prstDash val="solid"/>
          </a:ln>
        </p:spPr>
      </p:sp>
      <p:pic>
        <p:nvPicPr>
          <p:cNvPr id="9" name="Home screenshot" descr="OQIM home page">    </p:cNvPr>
          <p:cNvPicPr>
            <a:picLocks noChangeAspect="1"/>
          </p:cNvPicPr>
          <p:nvPr/>
        </p:nvPicPr>
        <p:blipFill>
          <a:blip r:embed="rId1"/>
          <a:stretch>
            <a:fillRect/>
          </a:stretch>
        </p:blipFill>
        <p:spPr>
          <a:xfrm>
            <a:off x="612648" y="1755648"/>
            <a:ext cx="6400800" cy="4000500"/>
          </a:xfrm>
          <a:prstGeom prst="rect">
            <a:avLst/>
          </a:prstGeom>
        </p:spPr>
      </p:pic>
      <p:sp>
        <p:nvSpPr>
          <p:cNvPr id="10" name="Demo link"/>
          <p:cNvSpPr txBox="1"/>
          <p:nvPr/>
        </p:nvSpPr>
        <p:spPr>
          <a:xfrm>
            <a:off x="548640" y="5852160"/>
            <a:ext cx="6528816" cy="320040"/>
          </a:xfrm>
          <a:prstGeom prst="rect">
            <a:avLst/>
          </a:prstGeom>
          <a:noFill/>
          <a:ln/>
        </p:spPr>
        <p:txBody>
          <a:bodyPr wrap="square" lIns="0" tIns="0" rIns="0" bIns="0" rtlCol="0" anchor="ctr"/>
          <a:lstStyle/>
          <a:p>
            <a:pPr indent="0" marL="0">
              <a:buNone/>
            </a:pPr>
            <a:r>
              <a:rPr lang="en-US" sz="14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https://oqim-audit.vercel.app</a:t>
            </a:r>
            <a:pPr indent="0" marL="0">
              <a:buNone/>
            </a:pPr>
            <a:r>
              <a:rPr lang="en-US" sz="1400" dirty="0">
                <a:solidFill>
                  <a:schemeClr val="tx2"/>
                </a:solidFill>
                <a:latin typeface="Calibri" pitchFamily="34" charset="0"/>
                <a:ea typeface="Calibri" pitchFamily="34" charset="-122"/>
                <a:cs typeface="Calibri" pitchFamily="34" charset="-120"/>
              </a:rPr>
              <a:t>   Backup: the recorded run of C3896.</a:t>
            </a:r>
            <a:endParaRPr lang="en-US" sz="1400" dirty="0"/>
          </a:p>
        </p:txBody>
      </p:sp>
      <p:sp>
        <p:nvSpPr>
          <p:cNvPr id="11" name="Page 1 card"/>
          <p:cNvSpPr/>
          <p:nvPr/>
        </p:nvSpPr>
        <p:spPr>
          <a:xfrm>
            <a:off x="7406640" y="1691640"/>
            <a:ext cx="4236415" cy="752551"/>
          </a:xfrm>
          <a:prstGeom prst="roundRect">
            <a:avLst>
              <a:gd name="adj" fmla="val 9721"/>
            </a:avLst>
          </a:prstGeom>
          <a:solidFill>
            <a:schemeClr val="bg2"/>
          </a:solidFill>
          <a:ln w="9525">
            <a:solidFill>
              <a:schemeClr val="accent5"/>
            </a:solidFill>
            <a:prstDash val="solid"/>
          </a:ln>
        </p:spPr>
      </p:sp>
      <p:sp>
        <p:nvSpPr>
          <p:cNvPr id="12" name="Page 1 lamp"/>
          <p:cNvSpPr/>
          <p:nvPr/>
        </p:nvSpPr>
        <p:spPr>
          <a:xfrm>
            <a:off x="7607808" y="1819656"/>
            <a:ext cx="182880" cy="182880"/>
          </a:xfrm>
          <a:prstGeom prst="ellipse">
            <a:avLst/>
          </a:prstGeom>
          <a:solidFill>
            <a:schemeClr val="accent2"/>
          </a:solidFill>
          <a:ln/>
        </p:spPr>
      </p:sp>
      <p:sp>
        <p:nvSpPr>
          <p:cNvPr id="13" name="Page 1 path"/>
          <p:cNvSpPr txBox="1"/>
          <p:nvPr/>
        </p:nvSpPr>
        <p:spPr>
          <a:xfrm>
            <a:off x="7909560" y="1755648"/>
            <a:ext cx="3550615" cy="292608"/>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/audit</a:t>
            </a:r>
            <a:endParaRPr lang="en-US" sz="1600" dirty="0"/>
          </a:p>
        </p:txBody>
      </p:sp>
      <p:sp>
        <p:nvSpPr>
          <p:cNvPr id="14" name="Page 1 text"/>
          <p:cNvSpPr txBox="1"/>
          <p:nvPr/>
        </p:nvSpPr>
        <p:spPr>
          <a:xfrm>
            <a:off x="7909560" y="2057400"/>
            <a:ext cx="3550615" cy="310896"/>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jury's video: stop line, signal head, run.</a:t>
            </a:r>
            <a:endParaRPr lang="en-US" sz="1400" dirty="0"/>
          </a:p>
        </p:txBody>
      </p:sp>
      <p:sp>
        <p:nvSpPr>
          <p:cNvPr id="15" name="Page 2 card"/>
          <p:cNvSpPr/>
          <p:nvPr/>
        </p:nvSpPr>
        <p:spPr>
          <a:xfrm>
            <a:off x="7406640" y="2535631"/>
            <a:ext cx="4236415" cy="752551"/>
          </a:xfrm>
          <a:prstGeom prst="roundRect">
            <a:avLst>
              <a:gd name="adj" fmla="val 9721"/>
            </a:avLst>
          </a:prstGeom>
          <a:solidFill>
            <a:schemeClr val="bg2"/>
          </a:solidFill>
          <a:ln w="9525">
            <a:solidFill>
              <a:schemeClr val="accent5"/>
            </a:solidFill>
            <a:prstDash val="solid"/>
          </a:ln>
        </p:spPr>
      </p:sp>
      <p:sp>
        <p:nvSpPr>
          <p:cNvPr id="16" name="Page 2 lamp"/>
          <p:cNvSpPr/>
          <p:nvPr/>
        </p:nvSpPr>
        <p:spPr>
          <a:xfrm>
            <a:off x="7607808" y="2663647"/>
            <a:ext cx="182880" cy="182880"/>
          </a:xfrm>
          <a:prstGeom prst="ellipse">
            <a:avLst/>
          </a:prstGeom>
          <a:solidFill>
            <a:schemeClr val="accent3"/>
          </a:solidFill>
          <a:ln/>
        </p:spPr>
      </p:sp>
      <p:sp>
        <p:nvSpPr>
          <p:cNvPr id="17" name="Page 2 path"/>
          <p:cNvSpPr txBox="1"/>
          <p:nvPr/>
        </p:nvSpPr>
        <p:spPr>
          <a:xfrm>
            <a:off x="7909560" y="2599639"/>
            <a:ext cx="3550615" cy="292608"/>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/network</a:t>
            </a:r>
            <a:endParaRPr lang="en-US" sz="1600" dirty="0"/>
          </a:p>
        </p:txBody>
      </p:sp>
      <p:sp>
        <p:nvSpPr>
          <p:cNvPr id="18" name="Page 2 text"/>
          <p:cNvSpPr txBox="1"/>
          <p:nvPr/>
        </p:nvSpPr>
        <p:spPr>
          <a:xfrm>
            <a:off x="7909560" y="2901391"/>
            <a:ext cx="3550615" cy="310896"/>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Five real junctions of Tashkent, in 3D.</a:t>
            </a:r>
            <a:endParaRPr lang="en-US" sz="1400" dirty="0"/>
          </a:p>
        </p:txBody>
      </p:sp>
      <p:sp>
        <p:nvSpPr>
          <p:cNvPr id="19" name="Page 3 card"/>
          <p:cNvSpPr/>
          <p:nvPr/>
        </p:nvSpPr>
        <p:spPr>
          <a:xfrm>
            <a:off x="7406640" y="3379622"/>
            <a:ext cx="4236415" cy="752551"/>
          </a:xfrm>
          <a:prstGeom prst="roundRect">
            <a:avLst>
              <a:gd name="adj" fmla="val 9721"/>
            </a:avLst>
          </a:prstGeom>
          <a:solidFill>
            <a:schemeClr val="bg2"/>
          </a:solidFill>
          <a:ln w="9525">
            <a:solidFill>
              <a:schemeClr val="accent5"/>
            </a:solidFill>
            <a:prstDash val="solid"/>
          </a:ln>
        </p:spPr>
      </p:sp>
      <p:sp>
        <p:nvSpPr>
          <p:cNvPr id="20" name="Page 3 lamp"/>
          <p:cNvSpPr/>
          <p:nvPr/>
        </p:nvSpPr>
        <p:spPr>
          <a:xfrm>
            <a:off x="7607808" y="3507638"/>
            <a:ext cx="182880" cy="182880"/>
          </a:xfrm>
          <a:prstGeom prst="ellipse">
            <a:avLst/>
          </a:prstGeom>
          <a:solidFill>
            <a:schemeClr val="accent4"/>
          </a:solidFill>
          <a:ln/>
        </p:spPr>
      </p:sp>
      <p:sp>
        <p:nvSpPr>
          <p:cNvPr id="21" name="Page 3 path"/>
          <p:cNvSpPr txBox="1"/>
          <p:nvPr/>
        </p:nvSpPr>
        <p:spPr>
          <a:xfrm>
            <a:off x="7909560" y="3443630"/>
            <a:ext cx="3550615" cy="292608"/>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/city</a:t>
            </a:r>
            <a:endParaRPr lang="en-US" sz="1600" dirty="0"/>
          </a:p>
        </p:txBody>
      </p:sp>
      <p:sp>
        <p:nvSpPr>
          <p:cNvPr id="22" name="Page 3 text"/>
          <p:cNvSpPr txBox="1"/>
          <p:nvPr/>
        </p:nvSpPr>
        <p:spPr>
          <a:xfrm>
            <a:off x="7909560" y="3745382"/>
            <a:ext cx="3550615" cy="310896"/>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Kwun Tong: cameras and car park spaces.</a:t>
            </a:r>
            <a:endParaRPr lang="en-US" sz="1400" dirty="0"/>
          </a:p>
        </p:txBody>
      </p:sp>
      <p:sp>
        <p:nvSpPr>
          <p:cNvPr id="23" name="Page 4 card"/>
          <p:cNvSpPr/>
          <p:nvPr/>
        </p:nvSpPr>
        <p:spPr>
          <a:xfrm>
            <a:off x="7406640" y="4223614"/>
            <a:ext cx="4236415" cy="752551"/>
          </a:xfrm>
          <a:prstGeom prst="roundRect">
            <a:avLst>
              <a:gd name="adj" fmla="val 9721"/>
            </a:avLst>
          </a:prstGeom>
          <a:solidFill>
            <a:schemeClr val="bg2"/>
          </a:solidFill>
          <a:ln w="9525">
            <a:solidFill>
              <a:schemeClr val="accent5"/>
            </a:solidFill>
            <a:prstDash val="solid"/>
          </a:ln>
        </p:spPr>
      </p:sp>
      <p:sp>
        <p:nvSpPr>
          <p:cNvPr id="24" name="Page 4 lamp"/>
          <p:cNvSpPr/>
          <p:nvPr/>
        </p:nvSpPr>
        <p:spPr>
          <a:xfrm>
            <a:off x="7607808" y="4351630"/>
            <a:ext cx="182880" cy="182880"/>
          </a:xfrm>
          <a:prstGeom prst="ellipse">
            <a:avLst/>
          </a:prstGeom>
          <a:solidFill>
            <a:schemeClr val="accent3"/>
          </a:solidFill>
          <a:ln/>
        </p:spPr>
      </p:sp>
      <p:sp>
        <p:nvSpPr>
          <p:cNvPr id="25" name="Page 4 path"/>
          <p:cNvSpPr txBox="1"/>
          <p:nvPr/>
        </p:nvSpPr>
        <p:spPr>
          <a:xfrm>
            <a:off x="7909560" y="4287622"/>
            <a:ext cx="3550615" cy="292608"/>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/parking</a:t>
            </a:r>
            <a:endParaRPr lang="en-US" sz="1600" dirty="0"/>
          </a:p>
        </p:txBody>
      </p:sp>
      <p:sp>
        <p:nvSpPr>
          <p:cNvPr id="26" name="Page 4 text"/>
          <p:cNvSpPr txBox="1"/>
          <p:nvPr/>
        </p:nvSpPr>
        <p:spPr>
          <a:xfrm>
            <a:off x="7909560" y="4589374"/>
            <a:ext cx="3550615" cy="310896"/>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Car park spaces from camera frames.</a:t>
            </a:r>
            <a:endParaRPr lang="en-US" sz="1400" dirty="0"/>
          </a:p>
        </p:txBody>
      </p:sp>
      <p:sp>
        <p:nvSpPr>
          <p:cNvPr id="27" name="Page 5 card"/>
          <p:cNvSpPr/>
          <p:nvPr/>
        </p:nvSpPr>
        <p:spPr>
          <a:xfrm>
            <a:off x="7406640" y="5067605"/>
            <a:ext cx="4236415" cy="752551"/>
          </a:xfrm>
          <a:prstGeom prst="roundRect">
            <a:avLst>
              <a:gd name="adj" fmla="val 9721"/>
            </a:avLst>
          </a:prstGeom>
          <a:solidFill>
            <a:schemeClr val="bg2"/>
          </a:solidFill>
          <a:ln w="9525">
            <a:solidFill>
              <a:schemeClr val="accent5"/>
            </a:solidFill>
            <a:prstDash val="solid"/>
          </a:ln>
        </p:spPr>
      </p:sp>
      <p:sp>
        <p:nvSpPr>
          <p:cNvPr id="28" name="Page 5 lamp"/>
          <p:cNvSpPr/>
          <p:nvPr/>
        </p:nvSpPr>
        <p:spPr>
          <a:xfrm>
            <a:off x="7607808" y="5195621"/>
            <a:ext cx="182880" cy="182880"/>
          </a:xfrm>
          <a:prstGeom prst="ellipse">
            <a:avLst/>
          </a:prstGeom>
          <a:solidFill>
            <a:schemeClr val="accent1"/>
          </a:solidFill>
          <a:ln/>
        </p:spPr>
      </p:sp>
      <p:sp>
        <p:nvSpPr>
          <p:cNvPr id="29" name="Page 5 path"/>
          <p:cNvSpPr txBox="1"/>
          <p:nvPr/>
        </p:nvSpPr>
        <p:spPr>
          <a:xfrm>
            <a:off x="7909560" y="5131613"/>
            <a:ext cx="3550615" cy="292608"/>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/roads</a:t>
            </a:r>
            <a:endParaRPr lang="en-US" sz="1600" dirty="0"/>
          </a:p>
        </p:txBody>
      </p:sp>
      <p:sp>
        <p:nvSpPr>
          <p:cNvPr id="30" name="Page 5 text"/>
          <p:cNvSpPr txBox="1"/>
          <p:nvPr/>
        </p:nvSpPr>
        <p:spPr>
          <a:xfrm>
            <a:off x="7909560" y="5433365"/>
            <a:ext cx="3550615" cy="310896"/>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Road damage from phone photos, on a map.</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TECHNOLOGY AND ARCHITECTURE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Everything runs in the browser</a:t>
            </a:r>
            <a:endParaRPr lang="en-US" sz="3600" dirty="0"/>
          </a:p>
        </p:txBody>
      </p:sp>
      <p:sp>
        <p:nvSpPr>
          <p:cNvPr id="8" name="Browser frame"/>
          <p:cNvSpPr/>
          <p:nvPr/>
        </p:nvSpPr>
        <p:spPr>
          <a:xfrm>
            <a:off x="548640" y="1691640"/>
            <a:ext cx="11094415" cy="2880360"/>
          </a:xfrm>
          <a:prstGeom prst="roundRect">
            <a:avLst>
              <a:gd name="adj" fmla="val 2540"/>
            </a:avLst>
          </a:prstGeom>
          <a:solidFill>
            <a:schemeClr val="bg2"/>
          </a:solidFill>
          <a:ln w="9525">
            <a:solidFill>
              <a:schemeClr val="accent5"/>
            </a:solidFill>
            <a:prstDash val="solid"/>
          </a:ln>
        </p:spPr>
      </p:sp>
      <p:sp>
        <p:nvSpPr>
          <p:cNvPr id="9" name="Browser label"/>
          <p:cNvSpPr txBox="1"/>
          <p:nvPr/>
        </p:nvSpPr>
        <p:spPr>
          <a:xfrm>
            <a:off x="822960" y="1783080"/>
            <a:ext cx="6400800" cy="320040"/>
          </a:xfrm>
          <a:prstGeom prst="rect">
            <a:avLst/>
          </a:prstGeom>
          <a:noFill/>
          <a:ln/>
        </p:spPr>
        <p:txBody>
          <a:bodyPr wrap="square" lIns="0" tIns="0" rIns="0" bIns="0" rtlCol="0" anchor="ctr"/>
          <a:lstStyle/>
          <a:p>
            <a:pPr indent="0" marL="0">
              <a:buNone/>
            </a:pPr>
            <a:r>
              <a:rPr lang="en-US" sz="1400" b="1" dirty="0">
                <a:solidFill>
                  <a:schemeClr val="tx2"/>
                </a:solidFill>
                <a:latin typeface="Arial" pitchFamily="34" charset="0"/>
                <a:ea typeface="Arial" pitchFamily="34" charset="-122"/>
                <a:cs typeface="Arial" pitchFamily="34" charset="-120"/>
              </a:rPr>
              <a:t>Browser tab on the user's laptop or phone</a:t>
            </a:r>
            <a:endParaRPr lang="en-US" sz="1400" dirty="0"/>
          </a:p>
        </p:txBody>
      </p:sp>
      <p:sp>
        <p:nvSpPr>
          <p:cNvPr id="10" name="Arch box 1"/>
          <p:cNvSpPr/>
          <p:nvPr/>
        </p:nvSpPr>
        <p:spPr>
          <a:xfrm>
            <a:off x="822960" y="2212848"/>
            <a:ext cx="1889699" cy="2194560"/>
          </a:xfrm>
          <a:prstGeom prst="roundRect">
            <a:avLst>
              <a:gd name="adj" fmla="val 3871"/>
            </a:avLst>
          </a:prstGeom>
          <a:solidFill>
            <a:schemeClr val="bg1"/>
          </a:solidFill>
          <a:ln w="9525">
            <a:solidFill>
              <a:schemeClr val="accent5"/>
            </a:solidFill>
            <a:prstDash val="solid"/>
          </a:ln>
        </p:spPr>
      </p:sp>
      <p:sp>
        <p:nvSpPr>
          <p:cNvPr id="11" name="Arch box 1 title"/>
          <p:cNvSpPr txBox="1"/>
          <p:nvPr/>
        </p:nvSpPr>
        <p:spPr>
          <a:xfrm>
            <a:off x="987552"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Video frames</a:t>
            </a:r>
            <a:endParaRPr lang="en-US" sz="1500" dirty="0"/>
          </a:p>
        </p:txBody>
      </p:sp>
      <p:sp>
        <p:nvSpPr>
          <p:cNvPr id="12" name="Arch box 1 text"/>
          <p:cNvSpPr txBox="1"/>
          <p:nvPr/>
        </p:nvSpPr>
        <p:spPr>
          <a:xfrm>
            <a:off x="987552"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5 frames per second, sent to a Web Worker. ffmpeg.wasm converts files the browser cannot decode.</a:t>
            </a:r>
            <a:endParaRPr lang="en-US" sz="1400" dirty="0"/>
          </a:p>
        </p:txBody>
      </p:sp>
      <p:sp>
        <p:nvSpPr>
          <p:cNvPr id="13" name="Arch arrow 1"/>
          <p:cNvSpPr/>
          <p:nvPr/>
        </p:nvSpPr>
        <p:spPr>
          <a:xfrm rot="5400000">
            <a:off x="2776667" y="3246120"/>
            <a:ext cx="146304" cy="109728"/>
          </a:xfrm>
          <a:prstGeom prst="triangle">
            <a:avLst/>
          </a:prstGeom>
          <a:solidFill>
            <a:schemeClr val="accent1"/>
          </a:solidFill>
          <a:ln/>
        </p:spPr>
      </p:sp>
      <p:sp>
        <p:nvSpPr>
          <p:cNvPr id="14" name="Arch box 2"/>
          <p:cNvSpPr/>
          <p:nvPr/>
        </p:nvSpPr>
        <p:spPr>
          <a:xfrm>
            <a:off x="2986979" y="2212848"/>
            <a:ext cx="1889699" cy="2194560"/>
          </a:xfrm>
          <a:prstGeom prst="roundRect">
            <a:avLst>
              <a:gd name="adj" fmla="val 3871"/>
            </a:avLst>
          </a:prstGeom>
          <a:solidFill>
            <a:schemeClr val="bg1"/>
          </a:solidFill>
          <a:ln w="9525">
            <a:solidFill>
              <a:schemeClr val="accent5"/>
            </a:solidFill>
            <a:prstDash val="solid"/>
          </a:ln>
        </p:spPr>
      </p:sp>
      <p:sp>
        <p:nvSpPr>
          <p:cNvPr id="15" name="Arch box 2 title"/>
          <p:cNvSpPr txBox="1"/>
          <p:nvPr/>
        </p:nvSpPr>
        <p:spPr>
          <a:xfrm>
            <a:off x="3151571"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Detect and track</a:t>
            </a:r>
            <a:endParaRPr lang="en-US" sz="1500" dirty="0"/>
          </a:p>
        </p:txBody>
      </p:sp>
      <p:sp>
        <p:nvSpPr>
          <p:cNvPr id="16" name="Arch box 2 text"/>
          <p:cNvSpPr txBox="1"/>
          <p:nvPr/>
        </p:nvSpPr>
        <p:spPr>
          <a:xfrm>
            <a:off x="3151571"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YOLO26n (10 MB) by default, YOLO26s (38 MB) as an option. ONNX Runtime Web, WebGPU or WebAssembly. ByteTrack.</a:t>
            </a:r>
            <a:endParaRPr lang="en-US" sz="1400" dirty="0"/>
          </a:p>
        </p:txBody>
      </p:sp>
      <p:sp>
        <p:nvSpPr>
          <p:cNvPr id="17" name="Arch arrow 2"/>
          <p:cNvSpPr/>
          <p:nvPr/>
        </p:nvSpPr>
        <p:spPr>
          <a:xfrm rot="5400000">
            <a:off x="4940686" y="3246120"/>
            <a:ext cx="146304" cy="109728"/>
          </a:xfrm>
          <a:prstGeom prst="triangle">
            <a:avLst/>
          </a:prstGeom>
          <a:solidFill>
            <a:schemeClr val="accent1"/>
          </a:solidFill>
          <a:ln/>
        </p:spPr>
      </p:sp>
      <p:sp>
        <p:nvSpPr>
          <p:cNvPr id="18" name="Arch box 3"/>
          <p:cNvSpPr/>
          <p:nvPr/>
        </p:nvSpPr>
        <p:spPr>
          <a:xfrm>
            <a:off x="5150998" y="2212848"/>
            <a:ext cx="1889699" cy="2194560"/>
          </a:xfrm>
          <a:prstGeom prst="roundRect">
            <a:avLst>
              <a:gd name="adj" fmla="val 3871"/>
            </a:avLst>
          </a:prstGeom>
          <a:solidFill>
            <a:schemeClr val="bg1"/>
          </a:solidFill>
          <a:ln w="9525">
            <a:solidFill>
              <a:schemeClr val="accent5"/>
            </a:solidFill>
            <a:prstDash val="solid"/>
          </a:ln>
        </p:spPr>
      </p:sp>
      <p:sp>
        <p:nvSpPr>
          <p:cNvPr id="19" name="Arch box 3 title"/>
          <p:cNvSpPr txBox="1"/>
          <p:nvPr/>
        </p:nvSpPr>
        <p:spPr>
          <a:xfrm>
            <a:off x="5315590"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Audit core</a:t>
            </a:r>
            <a:endParaRPr lang="en-US" sz="1500" dirty="0"/>
          </a:p>
        </p:txBody>
      </p:sp>
      <p:sp>
        <p:nvSpPr>
          <p:cNvPr id="20" name="Arch box 3 text"/>
          <p:cNvSpPr txBox="1"/>
          <p:nvPr/>
        </p:nvSpPr>
        <p:spPr>
          <a:xfrm>
            <a:off x="5315590"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TypeScript, no DOM. Lights, crossings, waits, discharge (busiest 10 s of each green), queue.</a:t>
            </a:r>
            <a:endParaRPr lang="en-US" sz="1400" dirty="0"/>
          </a:p>
        </p:txBody>
      </p:sp>
      <p:sp>
        <p:nvSpPr>
          <p:cNvPr id="21" name="Arch arrow 3"/>
          <p:cNvSpPr/>
          <p:nvPr/>
        </p:nvSpPr>
        <p:spPr>
          <a:xfrm rot="5400000">
            <a:off x="7104705" y="3246120"/>
            <a:ext cx="146304" cy="109728"/>
          </a:xfrm>
          <a:prstGeom prst="triangle">
            <a:avLst/>
          </a:prstGeom>
          <a:solidFill>
            <a:schemeClr val="accent1"/>
          </a:solidFill>
          <a:ln/>
        </p:spPr>
      </p:sp>
      <p:sp>
        <p:nvSpPr>
          <p:cNvPr id="22" name="Arch box 4"/>
          <p:cNvSpPr/>
          <p:nvPr/>
        </p:nvSpPr>
        <p:spPr>
          <a:xfrm>
            <a:off x="7315017" y="2212848"/>
            <a:ext cx="1889699" cy="2194560"/>
          </a:xfrm>
          <a:prstGeom prst="roundRect">
            <a:avLst>
              <a:gd name="adj" fmla="val 3871"/>
            </a:avLst>
          </a:prstGeom>
          <a:solidFill>
            <a:schemeClr val="bg1"/>
          </a:solidFill>
          <a:ln w="9525">
            <a:solidFill>
              <a:schemeClr val="accent5"/>
            </a:solidFill>
            <a:prstDash val="solid"/>
          </a:ln>
        </p:spPr>
      </p:sp>
      <p:sp>
        <p:nvSpPr>
          <p:cNvPr id="23" name="Arch box 4 title"/>
          <p:cNvSpPr txBox="1"/>
          <p:nvPr/>
        </p:nvSpPr>
        <p:spPr>
          <a:xfrm>
            <a:off x="7479609"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Replay</a:t>
            </a:r>
            <a:endParaRPr lang="en-US" sz="1500" dirty="0"/>
          </a:p>
        </p:txBody>
      </p:sp>
      <p:sp>
        <p:nvSpPr>
          <p:cNvPr id="24" name="Arch box 4 text"/>
          <p:cNvSpPr txBox="1"/>
          <p:nvPr/>
        </p:nvSpPr>
        <p:spPr>
          <a:xfrm>
            <a:off x="7479609"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Point-queue model with the clip's own vehicles. Checked against the measured crossings.</a:t>
            </a:r>
            <a:endParaRPr lang="en-US" sz="1400" dirty="0"/>
          </a:p>
        </p:txBody>
      </p:sp>
      <p:sp>
        <p:nvSpPr>
          <p:cNvPr id="25" name="Arch arrow 4"/>
          <p:cNvSpPr/>
          <p:nvPr/>
        </p:nvSpPr>
        <p:spPr>
          <a:xfrm rot="5400000">
            <a:off x="9268724" y="3246120"/>
            <a:ext cx="146304" cy="109728"/>
          </a:xfrm>
          <a:prstGeom prst="triangle">
            <a:avLst/>
          </a:prstGeom>
          <a:solidFill>
            <a:schemeClr val="accent1"/>
          </a:solidFill>
          <a:ln/>
        </p:spPr>
      </p:sp>
      <p:sp>
        <p:nvSpPr>
          <p:cNvPr id="26" name="Arch box 5"/>
          <p:cNvSpPr/>
          <p:nvPr/>
        </p:nvSpPr>
        <p:spPr>
          <a:xfrm>
            <a:off x="9479036" y="2212848"/>
            <a:ext cx="1889699" cy="2194560"/>
          </a:xfrm>
          <a:prstGeom prst="roundRect">
            <a:avLst>
              <a:gd name="adj" fmla="val 3871"/>
            </a:avLst>
          </a:prstGeom>
          <a:solidFill>
            <a:schemeClr val="bg1"/>
          </a:solidFill>
          <a:ln w="9525">
            <a:solidFill>
              <a:schemeClr val="accent5"/>
            </a:solidFill>
            <a:prstDash val="solid"/>
          </a:ln>
        </p:spPr>
      </p:sp>
      <p:sp>
        <p:nvSpPr>
          <p:cNvPr id="27" name="Arch box 5 title"/>
          <p:cNvSpPr txBox="1"/>
          <p:nvPr/>
        </p:nvSpPr>
        <p:spPr>
          <a:xfrm>
            <a:off x="9643628"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Plans</a:t>
            </a:r>
            <a:endParaRPr lang="en-US" sz="1500" dirty="0"/>
          </a:p>
        </p:txBody>
      </p:sp>
      <p:sp>
        <p:nvSpPr>
          <p:cNvPr id="28" name="Arch box 5 text"/>
          <p:cNvSpPr txBox="1"/>
          <p:nvPr/>
        </p:nvSpPr>
        <p:spPr>
          <a:xfrm>
            <a:off x="9643628"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Now, Webster (1958), searched fixed, actuated, max-pressure (Varaiya 2013), OQIM predictive.</a:t>
            </a:r>
            <a:endParaRPr lang="en-US" sz="1400" dirty="0"/>
          </a:p>
        </p:txBody>
      </p:sp>
      <p:sp>
        <p:nvSpPr>
          <p:cNvPr id="29" name="Tech stat 1"/>
          <p:cNvSpPr/>
          <p:nvPr/>
        </p:nvSpPr>
        <p:spPr>
          <a:xfrm>
            <a:off x="548640" y="4800600"/>
            <a:ext cx="2567864" cy="1371600"/>
          </a:xfrm>
          <a:prstGeom prst="roundRect">
            <a:avLst>
              <a:gd name="adj" fmla="val 5333"/>
            </a:avLst>
          </a:prstGeom>
          <a:solidFill>
            <a:schemeClr val="bg2"/>
          </a:solidFill>
          <a:ln w="9525">
            <a:solidFill>
              <a:schemeClr val="accent5"/>
            </a:solidFill>
            <a:prstDash val="solid"/>
          </a:ln>
        </p:spPr>
      </p:sp>
      <p:sp>
        <p:nvSpPr>
          <p:cNvPr id="30" name="Tech stat 1 value"/>
          <p:cNvSpPr txBox="1"/>
          <p:nvPr/>
        </p:nvSpPr>
        <p:spPr>
          <a:xfrm>
            <a:off x="777240" y="4892040"/>
            <a:ext cx="2110664"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5 fps</a:t>
            </a:r>
            <a:endParaRPr lang="en-US" sz="3200" dirty="0"/>
          </a:p>
        </p:txBody>
      </p:sp>
      <p:sp>
        <p:nvSpPr>
          <p:cNvPr id="31" name="Tech stat 1 label"/>
          <p:cNvSpPr txBox="1"/>
          <p:nvPr/>
        </p:nvSpPr>
        <p:spPr>
          <a:xfrm>
            <a:off x="777240"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frames analysed per second of video</a:t>
            </a:r>
            <a:endParaRPr lang="en-US" sz="1300" dirty="0"/>
          </a:p>
        </p:txBody>
      </p:sp>
      <p:sp>
        <p:nvSpPr>
          <p:cNvPr id="32" name="Tech stat 2"/>
          <p:cNvSpPr/>
          <p:nvPr/>
        </p:nvSpPr>
        <p:spPr>
          <a:xfrm>
            <a:off x="3390824" y="4800600"/>
            <a:ext cx="2567864" cy="1371600"/>
          </a:xfrm>
          <a:prstGeom prst="roundRect">
            <a:avLst>
              <a:gd name="adj" fmla="val 5333"/>
            </a:avLst>
          </a:prstGeom>
          <a:solidFill>
            <a:schemeClr val="bg2"/>
          </a:solidFill>
          <a:ln w="9525">
            <a:solidFill>
              <a:schemeClr val="accent5"/>
            </a:solidFill>
            <a:prstDash val="solid"/>
          </a:ln>
        </p:spPr>
      </p:sp>
      <p:sp>
        <p:nvSpPr>
          <p:cNvPr id="33" name="Tech stat 2 value"/>
          <p:cNvSpPr txBox="1"/>
          <p:nvPr/>
        </p:nvSpPr>
        <p:spPr>
          <a:xfrm>
            <a:off x="3619424" y="4892040"/>
            <a:ext cx="2110664"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~65 s</a:t>
            </a:r>
            <a:endParaRPr lang="en-US" sz="3200" dirty="0"/>
          </a:p>
        </p:txBody>
      </p:sp>
      <p:sp>
        <p:nvSpPr>
          <p:cNvPr id="34" name="Tech stat 2 label"/>
          <p:cNvSpPr txBox="1"/>
          <p:nvPr/>
        </p:nvSpPr>
        <p:spPr>
          <a:xfrm>
            <a:off x="3619424"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 audit C3896 (5:40 of video) with YOLO26n on an Apple M5 laptop, WebGPU</a:t>
            </a:r>
            <a:endParaRPr lang="en-US" sz="1300" dirty="0"/>
          </a:p>
        </p:txBody>
      </p:sp>
      <p:sp>
        <p:nvSpPr>
          <p:cNvPr id="35" name="Tech stat 3"/>
          <p:cNvSpPr/>
          <p:nvPr/>
        </p:nvSpPr>
        <p:spPr>
          <a:xfrm>
            <a:off x="6233008" y="4800600"/>
            <a:ext cx="2567864" cy="1371600"/>
          </a:xfrm>
          <a:prstGeom prst="roundRect">
            <a:avLst>
              <a:gd name="adj" fmla="val 5333"/>
            </a:avLst>
          </a:prstGeom>
          <a:solidFill>
            <a:schemeClr val="bg2"/>
          </a:solidFill>
          <a:ln w="9525">
            <a:solidFill>
              <a:schemeClr val="accent5"/>
            </a:solidFill>
            <a:prstDash val="solid"/>
          </a:ln>
        </p:spPr>
      </p:sp>
      <p:sp>
        <p:nvSpPr>
          <p:cNvPr id="36" name="Tech stat 3 value"/>
          <p:cNvSpPr txBox="1"/>
          <p:nvPr/>
        </p:nvSpPr>
        <p:spPr>
          <a:xfrm>
            <a:off x="6461608" y="4892040"/>
            <a:ext cx="2110664" cy="502920"/>
          </a:xfrm>
          <a:prstGeom prst="rect">
            <a:avLst/>
          </a:prstGeom>
          <a:noFill/>
          <a:ln/>
        </p:spPr>
        <p:txBody>
          <a:bodyPr wrap="square" lIns="0" tIns="0" rIns="0" bIns="0" rtlCol="0" anchor="b"/>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37" name="Tech stat 3 label"/>
          <p:cNvSpPr txBox="1"/>
          <p:nvPr/>
        </p:nvSpPr>
        <p:spPr>
          <a:xfrm>
            <a:off x="6461608"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server cost per audit. The site is static files.</a:t>
            </a:r>
            <a:endParaRPr lang="en-US" sz="1300" dirty="0"/>
          </a:p>
        </p:txBody>
      </p:sp>
      <p:sp>
        <p:nvSpPr>
          <p:cNvPr id="38" name="Reuse card"/>
          <p:cNvSpPr/>
          <p:nvPr/>
        </p:nvSpPr>
        <p:spPr>
          <a:xfrm>
            <a:off x="9075191" y="4800600"/>
            <a:ext cx="2567864" cy="1371600"/>
          </a:xfrm>
          <a:prstGeom prst="roundRect">
            <a:avLst>
              <a:gd name="adj" fmla="val 5333"/>
            </a:avLst>
          </a:prstGeom>
          <a:solidFill>
            <a:schemeClr val="bg2"/>
          </a:solidFill>
          <a:ln w="9525">
            <a:solidFill>
              <a:schemeClr val="accent5"/>
            </a:solidFill>
            <a:prstDash val="solid"/>
          </a:ln>
        </p:spPr>
      </p:sp>
      <p:sp>
        <p:nvSpPr>
          <p:cNvPr id="39" name="Reuse text"/>
          <p:cNvSpPr txBox="1"/>
          <p:nvPr/>
        </p:nvSpPr>
        <p:spPr>
          <a:xfrm>
            <a:off x="9258071" y="4892040"/>
            <a:ext cx="2202104" cy="1188720"/>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Reused, declared: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detector, ONNX worker, ByteTrack port from our elimination system.</a:t>
            </a:r>
            <a:endParaRPr lang="en-US" sz="1300" dirty="0"/>
          </a:p>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Built for the final: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audit core, replay, plans, corridor, district.</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MEASURED ON OUR CLIPS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The replay gives back what we measured</a:t>
            </a:r>
            <a:endParaRPr lang="en-US" sz="3600" dirty="0"/>
          </a:p>
        </p:txBody>
      </p:sp>
      <p:sp>
        <p:nvSpPr>
          <p:cNvPr id="8" name="Table intro"/>
          <p:cNvSpPr txBox="1"/>
          <p:nvPr/>
        </p:nvSpPr>
        <p:spPr>
          <a:xfrm>
            <a:off x="548640" y="1600200"/>
            <a:ext cx="11094415" cy="32004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Organisers' footage of one Tashkent junction, 18 minutes, southbound. Tracks: our elimination pipeline (YOLO26m, 1280 px, 10 fps).</a:t>
            </a:r>
            <a:endParaRPr lang="en-US" sz="1500" dirty="0"/>
          </a:p>
        </p:txBody>
      </p:sp>
      <p:graphicFrame>
        <p:nvGraphicFramePr>
          <p:cNvPr id="7" name="Model check table"/>
          <p:cNvGraphicFramePr>
            <a:graphicFrameLocks noGrp="1"/>
          </p:cNvGraphicFramePr>
          <p:nvPr>
            <p:extLst>
              <p:ext uri="{D42A27DB-BD31-4B8C-83A1-F6EECF244321}">
                <p14:modId xmlns:p14="http://schemas.microsoft.com/office/powerpoint/2010/main" val="1579011935"/>
              </p:ext>
            </p:extLst>
          </p:nvPr>
        </p:nvGraphicFramePr>
        <p:xfrm>
          <a:off x="548640" y="2057400"/>
          <a:ext cx="7772400" cy="914400"/>
        </p:xfrm>
        <a:graphic>
          <a:graphicData uri="http://schemas.openxmlformats.org/drawingml/2006/table">
            <a:tbl>
              <a:tblPr/>
              <a:tblGrid>
                <a:gridCol w="1051560"/>
                <a:gridCol w="1005840"/>
                <a:gridCol w="1188720"/>
                <a:gridCol w="1097280"/>
                <a:gridCol w="1691640"/>
                <a:gridCol w="1737360"/>
              </a:tblGrid>
              <a:tr h="566928">
                <a:tc>
                  <a:txBody>
                    <a:bodyPr/>
                    <a:lstStyle/>
                    <a:p>
                      <a:pPr indent="0" marL="0">
                        <a:buNone/>
                      </a:pPr>
                      <a:r>
                        <a:rPr lang="en-US" sz="1200" b="1" dirty="0">
                          <a:solidFill>
                            <a:schemeClr val="tx2"/>
                          </a:solidFill>
                          <a:latin typeface="Arial" pitchFamily="34" charset="0"/>
                          <a:ea typeface="Arial" pitchFamily="34" charset="-122"/>
                          <a:cs typeface="Arial" pitchFamily="34" charset="-120"/>
                        </a:rPr>
                        <a:t>Clip</a:t>
                      </a:r>
                      <a:endParaRPr lang="en-US" sz="1200" dirty="0">
                        <a:latin typeface="Arial" charset="0"/>
                        <a:ea typeface="Arial" charset="0"/>
                        <a:cs typeface="Arial"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Length</a:t>
                      </a:r>
                      <a:endParaRPr lang="en-US" sz="1200" dirty="0">
                        <a:latin typeface="Arial" charset="0"/>
                        <a:ea typeface="Arial" charset="0"/>
                        <a:cs typeface="Arial"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Cycle read</a:t>
                      </a:r>
                      <a:endParaRPr lang="en-US" sz="1200" dirty="0">
                        <a:latin typeface="Arial" charset="0"/>
                        <a:ea typeface="Arial" charset="0"/>
                        <a:cs typeface="Arial"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Vehicles</a:t>
                      </a:r>
                      <a:endParaRPr lang="en-US" sz="1200" dirty="0">
                        <a:latin typeface="Arial" charset="0"/>
                        <a:ea typeface="Arial" charset="0"/>
                        <a:cs typeface="Arial"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Model check: median departure error</a:t>
                      </a:r>
                      <a:endParaRPr lang="en-US" sz="1200" dirty="0">
                        <a:latin typeface="Arial" charset="0"/>
                        <a:ea typeface="Arial" charset="0"/>
                        <a:cs typeface="Arial"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Wait: model / measured</a:t>
                      </a:r>
                      <a:endParaRPr lang="en-US" sz="1200" dirty="0">
                        <a:latin typeface="Arial" charset="0"/>
                        <a:ea typeface="Arial" charset="0"/>
                        <a:cs typeface="Arial"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r>
              <a:tr h="45720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C3896</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5:40</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75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130</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0.50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9.3 / 12.8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5720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C3897</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5:18</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75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127</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0.29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10.0 / 10.5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5720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C3902</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5:18</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80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170</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0.55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12.3 / 12.0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57200">
                <a:tc>
                  <a:txBody>
                    <a:bodyPr/>
                    <a:lstStyle/>
                    <a:p>
                      <a:pPr indent="0" marL="0">
                        <a:buNone/>
                      </a:pPr>
                      <a:r>
                        <a:rPr lang="en-US" sz="1600" b="1" dirty="0">
                          <a:solidFill>
                            <a:schemeClr val="accent2"/>
                          </a:solidFill>
                          <a:latin typeface="Calibri" pitchFamily="34" charset="0"/>
                          <a:ea typeface="Calibri" pitchFamily="34" charset="-122"/>
                          <a:cs typeface="Calibri" pitchFamily="34" charset="-120"/>
                        </a:rPr>
                        <a:t>C3905</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accent2"/>
                          </a:solidFill>
                          <a:latin typeface="Calibri" pitchFamily="34" charset="0"/>
                          <a:ea typeface="Calibri" pitchFamily="34" charset="-122"/>
                          <a:cs typeface="Calibri" pitchFamily="34" charset="-120"/>
                        </a:rPr>
                        <a:t>2:08</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accent2"/>
                          </a:solidFill>
                          <a:latin typeface="Calibri" pitchFamily="34" charset="0"/>
                          <a:ea typeface="Calibri" pitchFamily="34" charset="-122"/>
                          <a:cs typeface="Calibri" pitchFamily="34" charset="-120"/>
                        </a:rPr>
                        <a:t>80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accent2"/>
                          </a:solidFill>
                          <a:latin typeface="Calibri" pitchFamily="34" charset="0"/>
                          <a:ea typeface="Calibri" pitchFamily="34" charset="-122"/>
                          <a:cs typeface="Calibri" pitchFamily="34" charset="-120"/>
                        </a:rPr>
                        <a:t>59</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2"/>
                          </a:solidFill>
                          <a:latin typeface="Calibri" pitchFamily="34" charset="0"/>
                          <a:ea typeface="Calibri" pitchFamily="34" charset="-122"/>
                          <a:cs typeface="Calibri" pitchFamily="34" charset="-120"/>
                        </a:rPr>
                        <a:t>4.54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600" dirty="0">
                          <a:solidFill>
                            <a:schemeClr val="accent2"/>
                          </a:solidFill>
                          <a:latin typeface="Calibri" pitchFamily="34" charset="0"/>
                          <a:ea typeface="Calibri" pitchFamily="34" charset="-122"/>
                          <a:cs typeface="Calibri" pitchFamily="34" charset="-120"/>
                        </a:rPr>
                        <a:t>10.3 / 6.6 s</a:t>
                      </a:r>
                      <a:endParaRPr lang="en-US" sz="1600" dirty="0">
                        <a:latin typeface="Calibri" charset="0"/>
                        <a:ea typeface="Calibri" charset="0"/>
                        <a:cs typeface="Calibri" charset="0"/>
                      </a:endParaRPr>
                    </a:p>
                  </a:txBody>
                  <a:tcPr marL="109728" marR="109728"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bl>
          </a:graphicData>
        </a:graphic>
      </p:graphicFrame>
      <p:sp>
        <p:nvSpPr>
          <p:cNvPr id="10" name="Failure panel"/>
          <p:cNvSpPr/>
          <p:nvPr/>
        </p:nvSpPr>
        <p:spPr>
          <a:xfrm>
            <a:off x="548640" y="4754880"/>
            <a:ext cx="7772400" cy="1417320"/>
          </a:xfrm>
          <a:prstGeom prst="roundRect">
            <a:avLst>
              <a:gd name="adj" fmla="val 5161"/>
            </a:avLst>
          </a:prstGeom>
          <a:solidFill>
            <a:schemeClr val="bg2"/>
          </a:solidFill>
          <a:ln w="9525">
            <a:solidFill>
              <a:schemeClr val="accent5"/>
            </a:solidFill>
            <a:prstDash val="solid"/>
          </a:ln>
        </p:spPr>
      </p:sp>
      <p:sp>
        <p:nvSpPr>
          <p:cNvPr id="11" name="Failure text"/>
          <p:cNvSpPr txBox="1"/>
          <p:nvPr/>
        </p:nvSpPr>
        <p:spPr>
          <a:xfrm>
            <a:off x="777240" y="4846320"/>
            <a:ext cx="7315200" cy="1234440"/>
          </a:xfrm>
          <a:prstGeom prst="rect">
            <a:avLst/>
          </a:prstGeom>
          <a:noFill/>
          <a:ln/>
        </p:spPr>
        <p:txBody>
          <a:bodyPr wrap="square" lIns="0" tIns="0" rIns="0" bIns="0" rtlCol="0" anchor="ctr"/>
          <a:lstStyle/>
          <a:p>
            <a:pPr indent="0" marL="0">
              <a:buNone/>
            </a:pPr>
            <a:r>
              <a:rPr lang="en-US" sz="1400" b="1" dirty="0">
                <a:solidFill>
                  <a:schemeClr val="accent2"/>
                </a:solidFill>
                <a:latin typeface="Calibri" pitchFamily="34" charset="0"/>
                <a:ea typeface="Calibri" pitchFamily="34" charset="-122"/>
                <a:cs typeface="Calibri" pitchFamily="34" charset="-120"/>
              </a:rPr>
              <a:t>Known failure cases: </a:t>
            </a:r>
            <a:pPr indent="0" marL="0">
              <a:buNone/>
            </a:pPr>
            <a:r>
              <a:rPr lang="en-US" sz="1400" dirty="0">
                <a:solidFill>
                  <a:schemeClr val="tx1"/>
                </a:solidFill>
                <a:latin typeface="Calibri" pitchFamily="34" charset="0"/>
                <a:ea typeface="Calibri" pitchFamily="34" charset="-122"/>
                <a:cs typeface="Calibri" pitchFamily="34" charset="-120"/>
              </a:rPr>
              <a:t>short clips (under 2 cycles, see C3905), long queues where tracks break, a stop line drawn over two directions, free right turns counted as red crossings. Night and rain not yet measured on a test set of our own.</a:t>
            </a:r>
            <a:endParaRPr lang="en-US" sz="1400" dirty="0"/>
          </a:p>
        </p:txBody>
      </p:sp>
      <p:sp>
        <p:nvSpPr>
          <p:cNvPr id="12" name="Browser callout"/>
          <p:cNvSpPr/>
          <p:nvPr/>
        </p:nvSpPr>
        <p:spPr>
          <a:xfrm>
            <a:off x="8686800" y="2057400"/>
            <a:ext cx="2956255" cy="2423160"/>
          </a:xfrm>
          <a:prstGeom prst="roundRect">
            <a:avLst>
              <a:gd name="adj" fmla="val 3019"/>
            </a:avLst>
          </a:prstGeom>
          <a:solidFill>
            <a:schemeClr val="bg2"/>
          </a:solidFill>
          <a:ln w="9525">
            <a:solidFill>
              <a:schemeClr val="accent5"/>
            </a:solidFill>
            <a:prstDash val="solid"/>
          </a:ln>
        </p:spPr>
      </p:sp>
      <p:sp>
        <p:nvSpPr>
          <p:cNvPr id="13" name="Browser check value"/>
          <p:cNvSpPr txBox="1"/>
          <p:nvPr/>
        </p:nvSpPr>
        <p:spPr>
          <a:xfrm>
            <a:off x="8961120" y="2194560"/>
            <a:ext cx="2407615" cy="668528"/>
          </a:xfrm>
          <a:prstGeom prst="rect">
            <a:avLst/>
          </a:prstGeom>
          <a:noFill/>
          <a:ln/>
        </p:spPr>
        <p:txBody>
          <a:bodyPr wrap="square" lIns="0" tIns="0" rIns="0" bIns="0" rtlCol="0" anchor="b"/>
          <a:lstStyle/>
          <a:p>
            <a:pPr indent="0" marL="0">
              <a:buNone/>
            </a:pPr>
            <a:r>
              <a:rPr lang="en-US" sz="4400" b="1" dirty="0">
                <a:solidFill>
                  <a:schemeClr val="accent4"/>
                </a:solidFill>
                <a:latin typeface="Arial" pitchFamily="34" charset="0"/>
                <a:ea typeface="Arial" pitchFamily="34" charset="-122"/>
                <a:cs typeface="Arial" pitchFamily="34" charset="-120"/>
              </a:rPr>
              <a:t>0.07 s</a:t>
            </a:r>
            <a:endParaRPr lang="en-US" sz="4400" dirty="0"/>
          </a:p>
        </p:txBody>
      </p:sp>
      <p:sp>
        <p:nvSpPr>
          <p:cNvPr id="14" name="Browser check label"/>
          <p:cNvSpPr txBox="1"/>
          <p:nvPr/>
        </p:nvSpPr>
        <p:spPr>
          <a:xfrm>
            <a:off x="8961120" y="2917952"/>
            <a:ext cx="2407615"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median departure error, browser run on C3896 today with YOLO26n (pipeline tracks: 0.50 s).</a:t>
            </a:r>
            <a:endParaRPr lang="en-US" sz="1400" dirty="0"/>
          </a:p>
        </p:txBody>
      </p:sp>
      <p:sp>
        <p:nvSpPr>
          <p:cNvPr id="15" name="Browser run callout"/>
          <p:cNvSpPr/>
          <p:nvPr/>
        </p:nvSpPr>
        <p:spPr>
          <a:xfrm>
            <a:off x="8686800" y="4754880"/>
            <a:ext cx="2956255" cy="1417320"/>
          </a:xfrm>
          <a:prstGeom prst="roundRect">
            <a:avLst>
              <a:gd name="adj" fmla="val 5161"/>
            </a:avLst>
          </a:prstGeom>
          <a:solidFill>
            <a:schemeClr val="bg2"/>
          </a:solidFill>
          <a:ln w="9525">
            <a:solidFill>
              <a:schemeClr val="accent5"/>
            </a:solidFill>
            <a:prstDash val="solid"/>
          </a:ln>
        </p:spPr>
      </p:sp>
      <p:sp>
        <p:nvSpPr>
          <p:cNvPr id="16" name="Browser run text"/>
          <p:cNvSpPr txBox="1"/>
          <p:nvPr/>
        </p:nvSpPr>
        <p:spPr>
          <a:xfrm>
            <a:off x="8915400" y="4846320"/>
            <a:ext cx="2499055" cy="12344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Same browser run: cycle 76 s, green 36 s, 127 vehicles over the line (Python pipeline: 130).</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MEASURED ON OUR CLIPS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The textbook plan was worse than now</a:t>
            </a:r>
            <a:endParaRPr lang="en-US" sz="3600" dirty="0"/>
          </a:p>
        </p:txBody>
      </p:sp>
      <p:sp>
        <p:nvSpPr>
          <p:cNvPr id="8" name="Chart panel"/>
          <p:cNvSpPr/>
          <p:nvPr/>
        </p:nvSpPr>
        <p:spPr>
          <a:xfrm>
            <a:off x="548640" y="1691640"/>
            <a:ext cx="7543800" cy="4480560"/>
          </a:xfrm>
          <a:prstGeom prst="roundRect">
            <a:avLst>
              <a:gd name="adj" fmla="val 1633"/>
            </a:avLst>
          </a:prstGeom>
          <a:solidFill>
            <a:schemeClr val="bg2"/>
          </a:solidFill>
          <a:ln w="9525">
            <a:solidFill>
              <a:schemeClr val="accent5"/>
            </a:solidFill>
            <a:prstDash val="solid"/>
          </a:ln>
        </p:spPr>
      </p:sp>
      <p:graphicFrame>
        <p:nvGraphicFramePr>
          <p:cNvPr id="9" name="Mean wait per plan chart" descr=""/>
          <p:cNvGraphicFramePr/>
          <p:nvPr/>
        </p:nvGraphicFramePr>
        <p:xfrm>
          <a:off x="640080" y="1783080"/>
          <a:ext cx="7360920" cy="4297680"/>
        </p:xfrm>
        <a:graphic xmlns:a="http://schemas.openxmlformats.org/drawingml/2006/main">
          <a:graphicData uri="http://schemas.openxmlformats.org/drawingml/2006/chart">
            <c:chart xmlns:c="http://schemas.openxmlformats.org/drawingml/2006/chart" r:id="rId1"/>
          </a:graphicData>
        </a:graphic>
      </p:graphicFrame>
      <p:sp>
        <p:nvSpPr>
          <p:cNvPr id="10" name="Webster callout"/>
          <p:cNvSpPr/>
          <p:nvPr/>
        </p:nvSpPr>
        <p:spPr>
          <a:xfrm>
            <a:off x="8412480" y="1691640"/>
            <a:ext cx="3230575" cy="1600200"/>
          </a:xfrm>
          <a:prstGeom prst="roundRect">
            <a:avLst>
              <a:gd name="adj" fmla="val 4571"/>
            </a:avLst>
          </a:prstGeom>
          <a:solidFill>
            <a:schemeClr val="bg2"/>
          </a:solidFill>
          <a:ln w="9525">
            <a:solidFill>
              <a:schemeClr val="accent5"/>
            </a:solidFill>
            <a:prstDash val="solid"/>
          </a:ln>
        </p:spPr>
      </p:sp>
      <p:sp>
        <p:nvSpPr>
          <p:cNvPr id="11" name="Webster value"/>
          <p:cNvSpPr txBox="1"/>
          <p:nvPr/>
        </p:nvSpPr>
        <p:spPr>
          <a:xfrm>
            <a:off x="8641080" y="1783080"/>
            <a:ext cx="2773375" cy="502920"/>
          </a:xfrm>
          <a:prstGeom prst="rect">
            <a:avLst/>
          </a:prstGeom>
          <a:noFill/>
          <a:ln/>
        </p:spPr>
        <p:txBody>
          <a:bodyPr wrap="square" lIns="0" tIns="0" rIns="0" bIns="0" rtlCol="0" anchor="b"/>
          <a:lstStyle/>
          <a:p>
            <a:pPr indent="0" marL="0">
              <a:buNone/>
            </a:pPr>
            <a:r>
              <a:rPr lang="en-US" sz="3000" b="1" dirty="0">
                <a:solidFill>
                  <a:schemeClr val="accent2"/>
                </a:solidFill>
                <a:latin typeface="Arial" pitchFamily="34" charset="0"/>
                <a:ea typeface="Arial" pitchFamily="34" charset="-122"/>
                <a:cs typeface="Arial" pitchFamily="34" charset="-120"/>
              </a:rPr>
              <a:t>29.7 s vs 10.0 s</a:t>
            </a:r>
            <a:endParaRPr lang="en-US" sz="3000" dirty="0"/>
          </a:p>
        </p:txBody>
      </p:sp>
      <p:sp>
        <p:nvSpPr>
          <p:cNvPr id="12" name="Webster label"/>
          <p:cNvSpPr txBox="1"/>
          <p:nvPr/>
        </p:nvSpPr>
        <p:spPr>
          <a:xfrm>
            <a:off x="8641080" y="2340864"/>
            <a:ext cx="2773375" cy="7772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Webster (1958) against the timing now, C3897. Worse on all four clips.</a:t>
            </a:r>
            <a:endParaRPr lang="en-US" sz="1400" dirty="0"/>
          </a:p>
        </p:txBody>
      </p:sp>
      <p:sp>
        <p:nvSpPr>
          <p:cNvPr id="13" name="Predictive callout"/>
          <p:cNvSpPr/>
          <p:nvPr/>
        </p:nvSpPr>
        <p:spPr>
          <a:xfrm>
            <a:off x="8412480" y="3474720"/>
            <a:ext cx="3230575" cy="1600200"/>
          </a:xfrm>
          <a:prstGeom prst="roundRect">
            <a:avLst>
              <a:gd name="adj" fmla="val 4571"/>
            </a:avLst>
          </a:prstGeom>
          <a:solidFill>
            <a:schemeClr val="bg2"/>
          </a:solidFill>
          <a:ln w="9525">
            <a:solidFill>
              <a:schemeClr val="accent5"/>
            </a:solidFill>
            <a:prstDash val="solid"/>
          </a:ln>
        </p:spPr>
      </p:sp>
      <p:sp>
        <p:nvSpPr>
          <p:cNvPr id="14" name="Predictive value"/>
          <p:cNvSpPr txBox="1"/>
          <p:nvPr/>
        </p:nvSpPr>
        <p:spPr>
          <a:xfrm>
            <a:off x="8641080" y="3566160"/>
            <a:ext cx="2773375" cy="502920"/>
          </a:xfrm>
          <a:prstGeom prst="rect">
            <a:avLst/>
          </a:prstGeom>
          <a:noFill/>
          <a:ln/>
        </p:spPr>
        <p:txBody>
          <a:bodyPr wrap="square" lIns="0" tIns="0" rIns="0" bIns="0" rtlCol="0" anchor="b"/>
          <a:lstStyle/>
          <a:p>
            <a:pPr indent="0" marL="0">
              <a:buNone/>
            </a:pPr>
            <a:r>
              <a:rPr lang="en-US" sz="3000" b="1" dirty="0">
                <a:solidFill>
                  <a:schemeClr val="accent4"/>
                </a:solidFill>
                <a:latin typeface="Arial" pitchFamily="34" charset="0"/>
                <a:ea typeface="Arial" pitchFamily="34" charset="-122"/>
                <a:cs typeface="Arial" pitchFamily="34" charset="-120"/>
              </a:rPr>
              <a:t>8.7 s</a:t>
            </a:r>
            <a:endParaRPr lang="en-US" sz="3000" dirty="0"/>
          </a:p>
        </p:txBody>
      </p:sp>
      <p:sp>
        <p:nvSpPr>
          <p:cNvPr id="15" name="Predictive label"/>
          <p:cNvSpPr txBox="1"/>
          <p:nvPr/>
        </p:nvSpPr>
        <p:spPr>
          <a:xfrm>
            <a:off x="8641080" y="4123944"/>
            <a:ext cx="2773375" cy="7772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OQIM predictive, C3897. Now: 10.0 s. Searched fixed plan: 9.4 s.</a:t>
            </a:r>
            <a:endParaRPr lang="en-US" sz="1400" dirty="0"/>
          </a:p>
        </p:txBody>
      </p:sp>
      <p:sp>
        <p:nvSpPr>
          <p:cNvPr id="16" name="Chart takeaway"/>
          <p:cNvSpPr txBox="1"/>
          <p:nvPr/>
        </p:nvSpPr>
        <p:spPr>
          <a:xfrm>
            <a:off x="8412480" y="5212080"/>
            <a:ext cx="3230575" cy="96012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So OQIM never recommends a plan before replaying it on the junction's own vehicles. Predictive assumes the next 30 s of arrivals are known.</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BEYOND ONE JUNCTION</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A corridor, a district, a car park</a:t>
            </a:r>
            <a:endParaRPr lang="en-US" sz="3600" dirty="0"/>
          </a:p>
        </p:txBody>
      </p:sp>
      <p:sp>
        <p:nvSpPr>
          <p:cNvPr id="8" name="Image panel 1"/>
          <p:cNvSpPr/>
          <p:nvPr/>
        </p:nvSpPr>
        <p:spPr>
          <a:xfrm>
            <a:off x="548640" y="1691640"/>
            <a:ext cx="3515258" cy="2048256"/>
          </a:xfrm>
          <a:prstGeom prst="roundRect">
            <a:avLst>
              <a:gd name="adj" fmla="val 3571"/>
            </a:avLst>
          </a:prstGeom>
          <a:solidFill>
            <a:schemeClr val="bg2"/>
          </a:solidFill>
          <a:ln w="9525">
            <a:solidFill>
              <a:schemeClr val="accent5"/>
            </a:solidFill>
            <a:prstDash val="solid"/>
          </a:ln>
        </p:spPr>
      </p:sp>
      <p:pic>
        <p:nvPicPr>
          <p:cNvPr id="9" name="Image 1" descr="3D corridor of Tashkent">    </p:cNvPr>
          <p:cNvPicPr>
            <a:picLocks noChangeAspect="1"/>
          </p:cNvPicPr>
          <p:nvPr/>
        </p:nvPicPr>
        <p:blipFill>
          <a:blip r:embed="rId1"/>
          <a:srcRect l="0" r="0" t="0" b="0"/>
          <a:stretch/>
        </p:blipFill>
        <p:spPr>
          <a:xfrm>
            <a:off x="612648" y="1755648"/>
            <a:ext cx="3387242" cy="1920240"/>
          </a:xfrm>
          <a:prstGeom prst="rect">
            <a:avLst/>
          </a:prstGeom>
        </p:spPr>
      </p:pic>
      <p:sp>
        <p:nvSpPr>
          <p:cNvPr id="10" name="Image 1 tag"/>
          <p:cNvSpPr/>
          <p:nvPr/>
        </p:nvSpPr>
        <p:spPr>
          <a:xfrm>
            <a:off x="704088" y="3355848"/>
            <a:ext cx="114300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3"/>
                </a:solidFill>
                <a:latin typeface="Arial" pitchFamily="34" charset="0"/>
                <a:ea typeface="Arial" pitchFamily="34" charset="-122"/>
                <a:cs typeface="Arial" pitchFamily="34" charset="-120"/>
              </a:rPr>
              <a:t>SIMULATION</a:t>
            </a:r>
            <a:endParaRPr lang="en-US" sz="1000" dirty="0"/>
          </a:p>
        </p:txBody>
      </p:sp>
      <p:sp>
        <p:nvSpPr>
          <p:cNvPr id="11" name="Column 1 label"/>
          <p:cNvSpPr txBox="1"/>
          <p:nvPr/>
        </p:nvSpPr>
        <p:spPr>
          <a:xfrm>
            <a:off x="548640" y="3749040"/>
            <a:ext cx="3515258" cy="50292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Amir Temur Avenue, Tashkent: 1.46 km, 5 signals, 224 vehicles in 10 min. Green wave against timing now.</a:t>
            </a:r>
            <a:endParaRPr lang="en-US" sz="1200" dirty="0"/>
          </a:p>
        </p:txBody>
      </p:sp>
      <p:sp>
        <p:nvSpPr>
          <p:cNvPr id="12" name="Column 1 stat value"/>
          <p:cNvSpPr txBox="1"/>
          <p:nvPr/>
        </p:nvSpPr>
        <p:spPr>
          <a:xfrm>
            <a:off x="548640" y="4315968"/>
            <a:ext cx="3515258" cy="438912"/>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141 s → 24 s</a:t>
            </a:r>
            <a:endParaRPr lang="en-US" sz="2800" dirty="0"/>
          </a:p>
        </p:txBody>
      </p:sp>
      <p:sp>
        <p:nvSpPr>
          <p:cNvPr id="13" name="Column 1 stat label"/>
          <p:cNvSpPr txBox="1"/>
          <p:nvPr/>
        </p:nvSpPr>
        <p:spPr>
          <a:xfrm>
            <a:off x="548640" y="4809744"/>
            <a:ext cx="3515258"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mean delay at the signals</a:t>
            </a:r>
            <a:endParaRPr lang="en-US" sz="1300" dirty="0"/>
          </a:p>
        </p:txBody>
      </p:sp>
      <p:sp>
        <p:nvSpPr>
          <p:cNvPr id="14" name="Column 1 stat 2 value"/>
          <p:cNvSpPr txBox="1"/>
          <p:nvPr/>
        </p:nvSpPr>
        <p:spPr>
          <a:xfrm>
            <a:off x="548640" y="5120640"/>
            <a:ext cx="3515258" cy="384048"/>
          </a:xfrm>
          <a:prstGeom prst="rect">
            <a:avLst/>
          </a:prstGeom>
          <a:noFill/>
          <a:ln/>
        </p:spPr>
        <p:txBody>
          <a:bodyPr wrap="square" lIns="0" tIns="0" rIns="0" bIns="0" rtlCol="0" anchor="b"/>
          <a:lstStyle/>
          <a:p>
            <a:pPr indent="0" marL="0">
              <a:buNone/>
            </a:pPr>
            <a:r>
              <a:rPr lang="en-US" sz="2400" b="1" dirty="0">
                <a:solidFill>
                  <a:schemeClr val="accent4"/>
                </a:solidFill>
                <a:latin typeface="Arial" pitchFamily="34" charset="0"/>
                <a:ea typeface="Arial" pitchFamily="34" charset="-122"/>
                <a:cs typeface="Arial" pitchFamily="34" charset="-120"/>
              </a:rPr>
              <a:t>4.58 → 0.60</a:t>
            </a:r>
            <a:endParaRPr lang="en-US" sz="2400" dirty="0"/>
          </a:p>
        </p:txBody>
      </p:sp>
      <p:sp>
        <p:nvSpPr>
          <p:cNvPr id="15" name="Column 1 stat 2 label"/>
          <p:cNvSpPr txBox="1"/>
          <p:nvPr/>
        </p:nvSpPr>
        <p:spPr>
          <a:xfrm>
            <a:off x="548640" y="5559552"/>
            <a:ext cx="3515258"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stops per vehicle</a:t>
            </a:r>
            <a:endParaRPr lang="en-US" sz="1300" dirty="0"/>
          </a:p>
        </p:txBody>
      </p:sp>
      <p:sp>
        <p:nvSpPr>
          <p:cNvPr id="16" name="Image panel 2"/>
          <p:cNvSpPr/>
          <p:nvPr/>
        </p:nvSpPr>
        <p:spPr>
          <a:xfrm>
            <a:off x="4338218" y="1691640"/>
            <a:ext cx="3515258" cy="2048256"/>
          </a:xfrm>
          <a:prstGeom prst="roundRect">
            <a:avLst>
              <a:gd name="adj" fmla="val 3571"/>
            </a:avLst>
          </a:prstGeom>
          <a:solidFill>
            <a:schemeClr val="bg2"/>
          </a:solidFill>
          <a:ln w="9525">
            <a:solidFill>
              <a:schemeClr val="accent5"/>
            </a:solidFill>
            <a:prstDash val="solid"/>
          </a:ln>
        </p:spPr>
      </p:sp>
      <p:pic>
        <p:nvPicPr>
          <p:cNvPr id="17" name="Image 2" descr="Kwun Tong district model">    </p:cNvPr>
          <p:cNvPicPr>
            <a:picLocks noChangeAspect="1"/>
          </p:cNvPicPr>
          <p:nvPr/>
        </p:nvPicPr>
        <p:blipFill>
          <a:blip r:embed="rId2"/>
          <a:srcRect l="0" r="0" t="0" b="0"/>
          <a:stretch/>
        </p:blipFill>
        <p:spPr>
          <a:xfrm>
            <a:off x="4402226" y="1755648"/>
            <a:ext cx="3387242" cy="1920240"/>
          </a:xfrm>
          <a:prstGeom prst="rect">
            <a:avLst/>
          </a:prstGeom>
        </p:spPr>
      </p:pic>
      <p:sp>
        <p:nvSpPr>
          <p:cNvPr id="18" name="Image 2 tag"/>
          <p:cNvSpPr/>
          <p:nvPr/>
        </p:nvSpPr>
        <p:spPr>
          <a:xfrm>
            <a:off x="4493666" y="3355848"/>
            <a:ext cx="114300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3"/>
                </a:solidFill>
                <a:latin typeface="Arial" pitchFamily="34" charset="0"/>
                <a:ea typeface="Arial" pitchFamily="34" charset="-122"/>
                <a:cs typeface="Arial" pitchFamily="34" charset="-120"/>
              </a:rPr>
              <a:t>SIMULATION</a:t>
            </a:r>
            <a:endParaRPr lang="en-US" sz="1000" dirty="0"/>
          </a:p>
        </p:txBody>
      </p:sp>
      <p:sp>
        <p:nvSpPr>
          <p:cNvPr id="19" name="Column 2 label"/>
          <p:cNvSpPr txBox="1"/>
          <p:nvPr/>
        </p:nvSpPr>
        <p:spPr>
          <a:xfrm>
            <a:off x="4338218" y="3749040"/>
            <a:ext cx="3515258" cy="50292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Kwun Tong, Hong Kong: 22 traffic cameras, about 20 car parks, 60 drivers to the MTR station.</a:t>
            </a:r>
            <a:endParaRPr lang="en-US" sz="1200" dirty="0"/>
          </a:p>
        </p:txBody>
      </p:sp>
      <p:sp>
        <p:nvSpPr>
          <p:cNvPr id="20" name="Column 2 stat value"/>
          <p:cNvSpPr txBox="1"/>
          <p:nvPr/>
        </p:nvSpPr>
        <p:spPr>
          <a:xfrm>
            <a:off x="4338218" y="4315968"/>
            <a:ext cx="3515258" cy="438912"/>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60 → 5</a:t>
            </a:r>
            <a:endParaRPr lang="en-US" sz="2800" dirty="0"/>
          </a:p>
        </p:txBody>
      </p:sp>
      <p:sp>
        <p:nvSpPr>
          <p:cNvPr id="21" name="Column 2 stat label"/>
          <p:cNvSpPr txBox="1"/>
          <p:nvPr/>
        </p:nvSpPr>
        <p:spPr>
          <a:xfrm>
            <a:off x="4338218" y="4809744"/>
            <a:ext cx="3515258"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drivers arriving to a full car park</a:t>
            </a:r>
            <a:endParaRPr lang="en-US" sz="1300" dirty="0"/>
          </a:p>
        </p:txBody>
      </p:sp>
      <p:sp>
        <p:nvSpPr>
          <p:cNvPr id="22" name="Column 2 stat 2 value"/>
          <p:cNvSpPr txBox="1"/>
          <p:nvPr/>
        </p:nvSpPr>
        <p:spPr>
          <a:xfrm>
            <a:off x="4338218" y="5120640"/>
            <a:ext cx="1643329" cy="384048"/>
          </a:xfrm>
          <a:prstGeom prst="rect">
            <a:avLst/>
          </a:prstGeom>
          <a:noFill/>
          <a:ln/>
        </p:spPr>
        <p:txBody>
          <a:bodyPr wrap="square" lIns="0" tIns="0" rIns="0" bIns="0" rtlCol="0" anchor="b"/>
          <a:lstStyle/>
          <a:p>
            <a:pPr indent="0" marL="0">
              <a:buNone/>
            </a:pPr>
            <a:r>
              <a:rPr lang="en-US" sz="2400" b="1" dirty="0">
                <a:solidFill>
                  <a:schemeClr val="accent4"/>
                </a:solidFill>
                <a:latin typeface="Arial" pitchFamily="34" charset="0"/>
                <a:ea typeface="Arial" pitchFamily="34" charset="-122"/>
                <a:cs typeface="Arial" pitchFamily="34" charset="-120"/>
              </a:rPr>
              <a:t>−18%</a:t>
            </a:r>
            <a:endParaRPr lang="en-US" sz="2400" dirty="0"/>
          </a:p>
        </p:txBody>
      </p:sp>
      <p:sp>
        <p:nvSpPr>
          <p:cNvPr id="23" name="Column 2 stat 2 label"/>
          <p:cNvSpPr txBox="1"/>
          <p:nvPr/>
        </p:nvSpPr>
        <p:spPr>
          <a:xfrm>
            <a:off x="4338218" y="5559552"/>
            <a:ext cx="1643329"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door to door</a:t>
            </a:r>
            <a:endParaRPr lang="en-US" sz="1300" dirty="0"/>
          </a:p>
        </p:txBody>
      </p:sp>
      <p:sp>
        <p:nvSpPr>
          <p:cNvPr id="24" name="Column 2 stat 3 value"/>
          <p:cNvSpPr txBox="1"/>
          <p:nvPr/>
        </p:nvSpPr>
        <p:spPr>
          <a:xfrm>
            <a:off x="6210148" y="5120640"/>
            <a:ext cx="1643329" cy="384048"/>
          </a:xfrm>
          <a:prstGeom prst="rect">
            <a:avLst/>
          </a:prstGeom>
          <a:noFill/>
          <a:ln/>
        </p:spPr>
        <p:txBody>
          <a:bodyPr wrap="square" lIns="0" tIns="0" rIns="0" bIns="0" rtlCol="0" anchor="b"/>
          <a:lstStyle/>
          <a:p>
            <a:pPr indent="0" marL="0">
              <a:buNone/>
            </a:pPr>
            <a:r>
              <a:rPr lang="en-US" sz="2400" b="1" dirty="0">
                <a:solidFill>
                  <a:schemeClr val="accent4"/>
                </a:solidFill>
                <a:latin typeface="Arial" pitchFamily="34" charset="0"/>
                <a:ea typeface="Arial" pitchFamily="34" charset="-122"/>
                <a:cs typeface="Arial" pitchFamily="34" charset="-120"/>
              </a:rPr>
              <a:t>−41%</a:t>
            </a:r>
            <a:endParaRPr lang="en-US" sz="2400" dirty="0"/>
          </a:p>
        </p:txBody>
      </p:sp>
      <p:sp>
        <p:nvSpPr>
          <p:cNvPr id="25" name="Column 2 stat 3 label"/>
          <p:cNvSpPr txBox="1"/>
          <p:nvPr/>
        </p:nvSpPr>
        <p:spPr>
          <a:xfrm>
            <a:off x="6210148" y="5559552"/>
            <a:ext cx="1643329"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vehicle-km</a:t>
            </a:r>
            <a:endParaRPr lang="en-US" sz="1300" dirty="0"/>
          </a:p>
        </p:txBody>
      </p:sp>
      <p:sp>
        <p:nvSpPr>
          <p:cNvPr id="26" name="Image panel 3"/>
          <p:cNvSpPr/>
          <p:nvPr/>
        </p:nvSpPr>
        <p:spPr>
          <a:xfrm>
            <a:off x="8127797" y="1691640"/>
            <a:ext cx="3515258" cy="2048256"/>
          </a:xfrm>
          <a:prstGeom prst="roundRect">
            <a:avLst>
              <a:gd name="adj" fmla="val 3571"/>
            </a:avLst>
          </a:prstGeom>
          <a:solidFill>
            <a:schemeClr val="bg2"/>
          </a:solidFill>
          <a:ln w="9525">
            <a:solidFill>
              <a:schemeClr val="accent5"/>
            </a:solidFill>
            <a:prstDash val="solid"/>
          </a:ln>
        </p:spPr>
      </p:sp>
      <p:pic>
        <p:nvPicPr>
          <p:cNvPr id="27" name="Image 3" descr="PKLot car park frame with labelled spaces">    </p:cNvPr>
          <p:cNvPicPr>
            <a:picLocks noChangeAspect="1"/>
          </p:cNvPicPr>
          <p:nvPr/>
        </p:nvPicPr>
        <p:blipFill>
          <a:blip r:embed="rId3"/>
          <a:srcRect l="0" r="0" t="0" b="0"/>
          <a:stretch/>
        </p:blipFill>
        <p:spPr>
          <a:xfrm>
            <a:off x="8191805" y="1755648"/>
            <a:ext cx="3387242" cy="1920240"/>
          </a:xfrm>
          <a:prstGeom prst="rect">
            <a:avLst/>
          </a:prstGeom>
        </p:spPr>
      </p:pic>
      <p:sp>
        <p:nvSpPr>
          <p:cNvPr id="28" name="Image 3 tag"/>
          <p:cNvSpPr/>
          <p:nvPr/>
        </p:nvSpPr>
        <p:spPr>
          <a:xfrm>
            <a:off x="8283245" y="3355848"/>
            <a:ext cx="114300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4"/>
                </a:solidFill>
                <a:latin typeface="Arial" pitchFamily="34" charset="0"/>
                <a:ea typeface="Arial" pitchFamily="34" charset="-122"/>
                <a:cs typeface="Arial" pitchFamily="34" charset="-120"/>
              </a:rPr>
              <a:t>HAND LABELS</a:t>
            </a:r>
            <a:endParaRPr lang="en-US" sz="1000" dirty="0"/>
          </a:p>
        </p:txBody>
      </p:sp>
      <p:sp>
        <p:nvSpPr>
          <p:cNvPr id="29" name="Column 3 label"/>
          <p:cNvSpPr txBox="1"/>
          <p:nvPr/>
        </p:nvSpPr>
        <p:spPr>
          <a:xfrm>
            <a:off x="8127797" y="3749040"/>
            <a:ext cx="3515258" cy="50292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/parking: free and taken spaces from ordinary car park camera frames, in the browser.</a:t>
            </a:r>
            <a:endParaRPr lang="en-US" sz="1200" dirty="0"/>
          </a:p>
        </p:txBody>
      </p:sp>
      <p:sp>
        <p:nvSpPr>
          <p:cNvPr id="30" name="Column 3 stat value"/>
          <p:cNvSpPr txBox="1"/>
          <p:nvPr/>
        </p:nvSpPr>
        <p:spPr>
          <a:xfrm>
            <a:off x="8127797" y="4315968"/>
            <a:ext cx="3515258" cy="438912"/>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97.4%</a:t>
            </a:r>
            <a:endParaRPr lang="en-US" sz="2800" dirty="0"/>
          </a:p>
        </p:txBody>
      </p:sp>
      <p:sp>
        <p:nvSpPr>
          <p:cNvPr id="31" name="Column 3 stat label"/>
          <p:cNvSpPr txBox="1"/>
          <p:nvPr/>
        </p:nvSpPr>
        <p:spPr>
          <a:xfrm>
            <a:off x="8127797" y="4809744"/>
            <a:ext cx="3515258"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spaces right, 240 held-out images (13,447 spaces)</a:t>
            </a:r>
            <a:endParaRPr lang="en-US" sz="1300" dirty="0"/>
          </a:p>
        </p:txBody>
      </p:sp>
      <p:sp>
        <p:nvSpPr>
          <p:cNvPr id="32" name="Column 3 stat 2 value"/>
          <p:cNvSpPr txBox="1"/>
          <p:nvPr/>
        </p:nvSpPr>
        <p:spPr>
          <a:xfrm>
            <a:off x="8127797" y="5120640"/>
            <a:ext cx="1643329" cy="384048"/>
          </a:xfrm>
          <a:prstGeom prst="rect">
            <a:avLst/>
          </a:prstGeom>
          <a:noFill/>
          <a:ln/>
        </p:spPr>
        <p:txBody>
          <a:bodyPr wrap="square" lIns="0" tIns="0" rIns="0" bIns="0" rtlCol="0" anchor="b"/>
          <a:lstStyle/>
          <a:p>
            <a:pPr indent="0" marL="0">
              <a:buNone/>
            </a:pPr>
            <a:r>
              <a:rPr lang="en-US" sz="2400" b="1" dirty="0">
                <a:solidFill>
                  <a:schemeClr val="accent4"/>
                </a:solidFill>
                <a:latin typeface="Arial" pitchFamily="34" charset="0"/>
                <a:ea typeface="Arial" pitchFamily="34" charset="-122"/>
                <a:cs typeface="Arial" pitchFamily="34" charset="-120"/>
              </a:rPr>
              <a:t>99.1%</a:t>
            </a:r>
            <a:endParaRPr lang="en-US" sz="2400" dirty="0"/>
          </a:p>
        </p:txBody>
      </p:sp>
      <p:sp>
        <p:nvSpPr>
          <p:cNvPr id="33" name="Column 3 stat 2 label"/>
          <p:cNvSpPr txBox="1"/>
          <p:nvPr/>
        </p:nvSpPr>
        <p:spPr>
          <a:xfrm>
            <a:off x="8127797" y="5559552"/>
            <a:ext cx="1643329"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precision, taken</a:t>
            </a:r>
            <a:endParaRPr lang="en-US" sz="1300" dirty="0"/>
          </a:p>
        </p:txBody>
      </p:sp>
      <p:sp>
        <p:nvSpPr>
          <p:cNvPr id="34" name="Column 3 stat 3 value"/>
          <p:cNvSpPr txBox="1"/>
          <p:nvPr/>
        </p:nvSpPr>
        <p:spPr>
          <a:xfrm>
            <a:off x="9999726" y="5120640"/>
            <a:ext cx="1643329" cy="384048"/>
          </a:xfrm>
          <a:prstGeom prst="rect">
            <a:avLst/>
          </a:prstGeom>
          <a:noFill/>
          <a:ln/>
        </p:spPr>
        <p:txBody>
          <a:bodyPr wrap="square" lIns="0" tIns="0" rIns="0" bIns="0" rtlCol="0" anchor="b"/>
          <a:lstStyle/>
          <a:p>
            <a:pPr indent="0" marL="0">
              <a:buNone/>
            </a:pPr>
            <a:r>
              <a:rPr lang="en-US" sz="2400" b="1" dirty="0">
                <a:solidFill>
                  <a:schemeClr val="accent4"/>
                </a:solidFill>
                <a:latin typeface="Arial" pitchFamily="34" charset="0"/>
                <a:ea typeface="Arial" pitchFamily="34" charset="-122"/>
                <a:cs typeface="Arial" pitchFamily="34" charset="-120"/>
              </a:rPr>
              <a:t>95.3%</a:t>
            </a:r>
            <a:endParaRPr lang="en-US" sz="2400" dirty="0"/>
          </a:p>
        </p:txBody>
      </p:sp>
      <p:sp>
        <p:nvSpPr>
          <p:cNvPr id="35" name="Column 3 stat 3 label"/>
          <p:cNvSpPr txBox="1"/>
          <p:nvPr/>
        </p:nvSpPr>
        <p:spPr>
          <a:xfrm>
            <a:off x="9999726" y="5559552"/>
            <a:ext cx="1643329" cy="2743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recall, taken</a:t>
            </a:r>
            <a:endParaRPr lang="en-US" sz="1300" dirty="0"/>
          </a:p>
        </p:txBody>
      </p:sp>
      <p:pic>
        <p:nvPicPr>
          <p:cNvPr id="36" name="Camera thumb 1" descr="Hong Kong traffic camera snapshot">    </p:cNvPr>
          <p:cNvPicPr>
            <a:picLocks noChangeAspect="1"/>
          </p:cNvPicPr>
          <p:nvPr/>
        </p:nvPicPr>
        <p:blipFill>
          <a:blip r:embed="rId4"/>
          <a:stretch>
            <a:fillRect/>
          </a:stretch>
        </p:blipFill>
        <p:spPr>
          <a:xfrm>
            <a:off x="7057949" y="1755648"/>
            <a:ext cx="731520" cy="548640"/>
          </a:xfrm>
          <a:prstGeom prst="rect">
            <a:avLst/>
          </a:prstGeom>
        </p:spPr>
      </p:pic>
      <p:pic>
        <p:nvPicPr>
          <p:cNvPr id="37" name="Camera thumb 2" descr="Hong Kong traffic camera snapshot">    </p:cNvPr>
          <p:cNvPicPr>
            <a:picLocks noChangeAspect="1"/>
          </p:cNvPicPr>
          <p:nvPr/>
        </p:nvPicPr>
        <p:blipFill>
          <a:blip r:embed="rId5"/>
          <a:stretch>
            <a:fillRect/>
          </a:stretch>
        </p:blipFill>
        <p:spPr>
          <a:xfrm>
            <a:off x="7057949" y="2350008"/>
            <a:ext cx="731520" cy="548640"/>
          </a:xfrm>
          <a:prstGeom prst="rect">
            <a:avLst/>
          </a:prstGeom>
        </p:spPr>
      </p:pic>
      <p:pic>
        <p:nvPicPr>
          <p:cNvPr id="38" name="Camera thumb 3" descr="Hong Kong traffic camera snapshot">    </p:cNvPr>
          <p:cNvPicPr>
            <a:picLocks noChangeAspect="1"/>
          </p:cNvPicPr>
          <p:nvPr/>
        </p:nvPicPr>
        <p:blipFill>
          <a:blip r:embed="rId6"/>
          <a:stretch>
            <a:fillRect/>
          </a:stretch>
        </p:blipFill>
        <p:spPr>
          <a:xfrm>
            <a:off x="7057949" y="2944368"/>
            <a:ext cx="731520" cy="548640"/>
          </a:xfrm>
          <a:prstGeom prst="rect">
            <a:avLst/>
          </a:prstGeom>
        </p:spPr>
      </p:pic>
      <p:sp>
        <p:nvSpPr>
          <p:cNvPr id="39" name="Simulation note"/>
          <p:cNvSpPr txBox="1"/>
          <p:nvPr/>
        </p:nvSpPr>
        <p:spPr>
          <a:xfrm>
            <a:off x="548640" y="5870448"/>
            <a:ext cx="11094415" cy="475488"/>
          </a:xfrm>
          <a:prstGeom prst="rect">
            <a:avLst/>
          </a:prstGeom>
          <a:noFill/>
          <a:ln/>
        </p:spPr>
        <p:txBody>
          <a:bodyPr wrap="square" lIns="0" tIns="0" rIns="0" bIns="0" rtlCol="0" anchor="t"/>
          <a:lstStyle/>
          <a:p>
            <a:pPr indent="0" marL="0">
              <a:buNone/>
            </a:pPr>
            <a:r>
              <a:rPr lang="en-US" sz="1000" dirty="0">
                <a:solidFill>
                  <a:schemeClr val="tx2"/>
                </a:solidFill>
                <a:latin typeface="Calibri" pitchFamily="34" charset="0"/>
                <a:ea typeface="Calibri" pitchFamily="34" charset="-122"/>
                <a:cs typeface="Calibri" pitchFamily="34" charset="-120"/>
              </a:rPr>
              <a:t>Corridor and district are simulations. Tashkent: Intelligent Driver Model, one direction, only offsets change, real offsets unknown. Kwun Tong: drivers simulated; camera counts (YOLO26m, 960 px) and free spaces real, 13:45 Hong Kong time, 11 October. Parking: PKLot (CC BY 4.0, Almeida et al. 2015); sunny 97.0%, cloudy 99.0%, rainy 96.1%; no night frames in the dataset.</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EVIDENCE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It already works elsewhere</a:t>
            </a:r>
            <a:endParaRPr lang="en-US" sz="3600" dirty="0"/>
          </a:p>
        </p:txBody>
      </p:sp>
      <p:sp>
        <p:nvSpPr>
          <p:cNvPr id="8" name="Evidence card 1"/>
          <p:cNvSpPr/>
          <p:nvPr/>
        </p:nvSpPr>
        <p:spPr>
          <a:xfrm>
            <a:off x="548640" y="1691640"/>
            <a:ext cx="3515258" cy="1901952"/>
          </a:xfrm>
          <a:prstGeom prst="roundRect">
            <a:avLst>
              <a:gd name="adj" fmla="val 3846"/>
            </a:avLst>
          </a:prstGeom>
          <a:solidFill>
            <a:schemeClr val="bg2"/>
          </a:solidFill>
          <a:ln w="9525">
            <a:solidFill>
              <a:schemeClr val="accent5"/>
            </a:solidFill>
            <a:prstDash val="solid"/>
          </a:ln>
        </p:spPr>
      </p:sp>
      <p:sp>
        <p:nvSpPr>
          <p:cNvPr id="9" name="Evidence 1 name"/>
          <p:cNvSpPr txBox="1"/>
          <p:nvPr/>
        </p:nvSpPr>
        <p:spPr>
          <a:xfrm>
            <a:off x="777240" y="1828800"/>
            <a:ext cx="3058058" cy="29260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Google Project Green Light</a:t>
            </a:r>
            <a:endParaRPr lang="en-US" sz="1400" dirty="0"/>
          </a:p>
        </p:txBody>
      </p:sp>
      <p:sp>
        <p:nvSpPr>
          <p:cNvPr id="10" name="Evidence 1 value"/>
          <p:cNvSpPr txBox="1"/>
          <p:nvPr/>
        </p:nvSpPr>
        <p:spPr>
          <a:xfrm>
            <a:off x="777240" y="2148840"/>
            <a:ext cx="3058058" cy="530352"/>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Up to 30%</a:t>
            </a:r>
            <a:endParaRPr lang="en-US" sz="3200" dirty="0"/>
          </a:p>
        </p:txBody>
      </p:sp>
      <p:sp>
        <p:nvSpPr>
          <p:cNvPr id="11" name="Evidence 1 text"/>
          <p:cNvSpPr txBox="1"/>
          <p:nvPr/>
        </p:nvSpPr>
        <p:spPr>
          <a:xfrm>
            <a:off x="777240" y="2697480"/>
            <a:ext cx="3058058"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fewer stops, up to 10% less emissions; about 70 junctions, 12 cities</a:t>
            </a:r>
            <a:endParaRPr lang="en-US" sz="1400" dirty="0"/>
          </a:p>
        </p:txBody>
      </p:sp>
      <p:sp>
        <p:nvSpPr>
          <p:cNvPr id="12" name="Evidence 1 source"/>
          <p:cNvSpPr txBox="1"/>
          <p:nvPr/>
        </p:nvSpPr>
        <p:spPr>
          <a:xfrm>
            <a:off x="777240" y="3291840"/>
            <a:ext cx="3058058" cy="219456"/>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Source: Seattle DOT</a:t>
            </a:r>
            <a:endParaRPr lang="en-US" sz="1000" dirty="0"/>
          </a:p>
        </p:txBody>
      </p:sp>
      <p:sp>
        <p:nvSpPr>
          <p:cNvPr id="13" name="Evidence card 2"/>
          <p:cNvSpPr/>
          <p:nvPr/>
        </p:nvSpPr>
        <p:spPr>
          <a:xfrm>
            <a:off x="4338218" y="1691640"/>
            <a:ext cx="3515258" cy="1901952"/>
          </a:xfrm>
          <a:prstGeom prst="roundRect">
            <a:avLst>
              <a:gd name="adj" fmla="val 3846"/>
            </a:avLst>
          </a:prstGeom>
          <a:solidFill>
            <a:schemeClr val="bg2"/>
          </a:solidFill>
          <a:ln w="9525">
            <a:solidFill>
              <a:schemeClr val="accent5"/>
            </a:solidFill>
            <a:prstDash val="solid"/>
          </a:ln>
        </p:spPr>
      </p:sp>
      <p:sp>
        <p:nvSpPr>
          <p:cNvPr id="14" name="Evidence 2 name"/>
          <p:cNvSpPr txBox="1"/>
          <p:nvPr/>
        </p:nvSpPr>
        <p:spPr>
          <a:xfrm>
            <a:off x="4566818" y="1828800"/>
            <a:ext cx="3058058" cy="29260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Surtrac, Pittsburgh</a:t>
            </a:r>
            <a:endParaRPr lang="en-US" sz="1400" dirty="0"/>
          </a:p>
        </p:txBody>
      </p:sp>
      <p:sp>
        <p:nvSpPr>
          <p:cNvPr id="15" name="Evidence 2 value"/>
          <p:cNvSpPr txBox="1"/>
          <p:nvPr/>
        </p:nvSpPr>
        <p:spPr>
          <a:xfrm>
            <a:off x="4566818" y="2148840"/>
            <a:ext cx="3058058" cy="530352"/>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&gt;25%</a:t>
            </a:r>
            <a:endParaRPr lang="en-US" sz="3200" dirty="0"/>
          </a:p>
        </p:txBody>
      </p:sp>
      <p:sp>
        <p:nvSpPr>
          <p:cNvPr id="16" name="Evidence 2 text"/>
          <p:cNvSpPr txBox="1"/>
          <p:nvPr/>
        </p:nvSpPr>
        <p:spPr>
          <a:xfrm>
            <a:off x="4566818" y="2697480"/>
            <a:ext cx="3058058"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less travel time, idling down 40%</a:t>
            </a:r>
            <a:endParaRPr lang="en-US" sz="1400" dirty="0"/>
          </a:p>
        </p:txBody>
      </p:sp>
      <p:sp>
        <p:nvSpPr>
          <p:cNvPr id="17" name="Evidence 2 source"/>
          <p:cNvSpPr txBox="1"/>
          <p:nvPr/>
        </p:nvSpPr>
        <p:spPr>
          <a:xfrm>
            <a:off x="4566818" y="3291840"/>
            <a:ext cx="3058058" cy="219456"/>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Source: Smart Cities Dive</a:t>
            </a:r>
            <a:endParaRPr lang="en-US" sz="1000" dirty="0"/>
          </a:p>
        </p:txBody>
      </p:sp>
      <p:sp>
        <p:nvSpPr>
          <p:cNvPr id="18" name="Evidence card 3"/>
          <p:cNvSpPr/>
          <p:nvPr/>
        </p:nvSpPr>
        <p:spPr>
          <a:xfrm>
            <a:off x="8127797" y="1691640"/>
            <a:ext cx="3515258" cy="1901952"/>
          </a:xfrm>
          <a:prstGeom prst="roundRect">
            <a:avLst>
              <a:gd name="adj" fmla="val 3846"/>
            </a:avLst>
          </a:prstGeom>
          <a:solidFill>
            <a:schemeClr val="bg2"/>
          </a:solidFill>
          <a:ln w="9525">
            <a:solidFill>
              <a:schemeClr val="accent5"/>
            </a:solidFill>
            <a:prstDash val="solid"/>
          </a:ln>
        </p:spPr>
      </p:sp>
      <p:sp>
        <p:nvSpPr>
          <p:cNvPr id="19" name="Evidence 3 name"/>
          <p:cNvSpPr txBox="1"/>
          <p:nvPr/>
        </p:nvSpPr>
        <p:spPr>
          <a:xfrm>
            <a:off x="8356397" y="1828800"/>
            <a:ext cx="3058058" cy="29260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SCOOT, UK</a:t>
            </a:r>
            <a:endParaRPr lang="en-US" sz="1400" dirty="0"/>
          </a:p>
        </p:txBody>
      </p:sp>
      <p:sp>
        <p:nvSpPr>
          <p:cNvPr id="20" name="Evidence 3 value"/>
          <p:cNvSpPr txBox="1"/>
          <p:nvPr/>
        </p:nvSpPr>
        <p:spPr>
          <a:xfrm>
            <a:off x="8356397" y="2148840"/>
            <a:ext cx="3058058" cy="530352"/>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12%</a:t>
            </a:r>
            <a:endParaRPr lang="en-US" sz="3200" dirty="0"/>
          </a:p>
        </p:txBody>
      </p:sp>
      <p:sp>
        <p:nvSpPr>
          <p:cNvPr id="21" name="Evidence 3 text"/>
          <p:cNvSpPr txBox="1"/>
          <p:nvPr/>
        </p:nvSpPr>
        <p:spPr>
          <a:xfrm>
            <a:off x="8356397" y="2697480"/>
            <a:ext cx="3058058"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less delay than up-to-date fixed plans, 20% than typical ones</a:t>
            </a:r>
            <a:endParaRPr lang="en-US" sz="1400" dirty="0"/>
          </a:p>
        </p:txBody>
      </p:sp>
      <p:sp>
        <p:nvSpPr>
          <p:cNvPr id="22" name="Evidence 3 source"/>
          <p:cNvSpPr txBox="1"/>
          <p:nvPr/>
        </p:nvSpPr>
        <p:spPr>
          <a:xfrm>
            <a:off x="8356397" y="3291840"/>
            <a:ext cx="3058058" cy="219456"/>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Source: DfT TAL 7/99</a:t>
            </a:r>
            <a:endParaRPr lang="en-US" sz="1000" dirty="0"/>
          </a:p>
        </p:txBody>
      </p:sp>
      <p:sp>
        <p:nvSpPr>
          <p:cNvPr id="23" name="Evidence card 4"/>
          <p:cNvSpPr/>
          <p:nvPr/>
        </p:nvSpPr>
        <p:spPr>
          <a:xfrm>
            <a:off x="548640" y="3867912"/>
            <a:ext cx="3515258" cy="1901952"/>
          </a:xfrm>
          <a:prstGeom prst="roundRect">
            <a:avLst>
              <a:gd name="adj" fmla="val 3846"/>
            </a:avLst>
          </a:prstGeom>
          <a:solidFill>
            <a:schemeClr val="bg2"/>
          </a:solidFill>
          <a:ln w="9525">
            <a:solidFill>
              <a:schemeClr val="accent5"/>
            </a:solidFill>
            <a:prstDash val="solid"/>
          </a:ln>
        </p:spPr>
      </p:sp>
      <p:sp>
        <p:nvSpPr>
          <p:cNvPr id="24" name="Evidence 4 name"/>
          <p:cNvSpPr txBox="1"/>
          <p:nvPr/>
        </p:nvSpPr>
        <p:spPr>
          <a:xfrm>
            <a:off x="777240" y="4005072"/>
            <a:ext cx="3058058" cy="29260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Utah ATSPM</a:t>
            </a:r>
            <a:endParaRPr lang="en-US" sz="1400" dirty="0"/>
          </a:p>
        </p:txBody>
      </p:sp>
      <p:sp>
        <p:nvSpPr>
          <p:cNvPr id="25" name="Evidence 4 value"/>
          <p:cNvSpPr txBox="1"/>
          <p:nvPr/>
        </p:nvSpPr>
        <p:spPr>
          <a:xfrm>
            <a:off x="777240" y="4325112"/>
            <a:ext cx="3058058" cy="530352"/>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USD 108M</a:t>
            </a:r>
            <a:endParaRPr lang="en-US" sz="3200" dirty="0"/>
          </a:p>
        </p:txBody>
      </p:sp>
      <p:sp>
        <p:nvSpPr>
          <p:cNvPr id="26" name="Evidence 4 text"/>
          <p:cNvSpPr txBox="1"/>
          <p:nvPr/>
        </p:nvSpPr>
        <p:spPr>
          <a:xfrm>
            <a:off x="777240" y="4873752"/>
            <a:ext cx="3058058"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projected savings over 10 years, from the same measures as OQIM</a:t>
            </a:r>
            <a:endParaRPr lang="en-US" sz="1400" dirty="0"/>
          </a:p>
        </p:txBody>
      </p:sp>
      <p:sp>
        <p:nvSpPr>
          <p:cNvPr id="27" name="Evidence 4 source"/>
          <p:cNvSpPr txBox="1"/>
          <p:nvPr/>
        </p:nvSpPr>
        <p:spPr>
          <a:xfrm>
            <a:off x="777240" y="5468112"/>
            <a:ext cx="3058058" cy="219456"/>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Source: FHWA</a:t>
            </a:r>
            <a:endParaRPr lang="en-US" sz="1000" dirty="0"/>
          </a:p>
        </p:txBody>
      </p:sp>
      <p:sp>
        <p:nvSpPr>
          <p:cNvPr id="28" name="Evidence card 5"/>
          <p:cNvSpPr/>
          <p:nvPr/>
        </p:nvSpPr>
        <p:spPr>
          <a:xfrm>
            <a:off x="4338218" y="3867912"/>
            <a:ext cx="3515258" cy="1901952"/>
          </a:xfrm>
          <a:prstGeom prst="roundRect">
            <a:avLst>
              <a:gd name="adj" fmla="val 3846"/>
            </a:avLst>
          </a:prstGeom>
          <a:solidFill>
            <a:schemeClr val="bg2"/>
          </a:solidFill>
          <a:ln w="9525">
            <a:solidFill>
              <a:schemeClr val="accent5"/>
            </a:solidFill>
            <a:prstDash val="solid"/>
          </a:ln>
        </p:spPr>
      </p:sp>
      <p:sp>
        <p:nvSpPr>
          <p:cNvPr id="29" name="Evidence 5 name"/>
          <p:cNvSpPr txBox="1"/>
          <p:nvPr/>
        </p:nvSpPr>
        <p:spPr>
          <a:xfrm>
            <a:off x="4566818" y="4005072"/>
            <a:ext cx="3058058" cy="29260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Copenhagen green wave</a:t>
            </a:r>
            <a:endParaRPr lang="en-US" sz="1400" dirty="0"/>
          </a:p>
        </p:txBody>
      </p:sp>
      <p:sp>
        <p:nvSpPr>
          <p:cNvPr id="30" name="Evidence 5 value"/>
          <p:cNvSpPr txBox="1"/>
          <p:nvPr/>
        </p:nvSpPr>
        <p:spPr>
          <a:xfrm>
            <a:off x="4566818" y="4325112"/>
            <a:ext cx="3058058" cy="530352"/>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17%</a:t>
            </a:r>
            <a:endParaRPr lang="en-US" sz="3200" dirty="0"/>
          </a:p>
        </p:txBody>
      </p:sp>
      <p:sp>
        <p:nvSpPr>
          <p:cNvPr id="31" name="Evidence 5 text"/>
          <p:cNvSpPr txBox="1"/>
          <p:nvPr/>
        </p:nvSpPr>
        <p:spPr>
          <a:xfrm>
            <a:off x="4566818" y="4873752"/>
            <a:ext cx="3058058"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less travel time; stops from six to under one</a:t>
            </a:r>
            <a:endParaRPr lang="en-US" sz="1400" dirty="0"/>
          </a:p>
        </p:txBody>
      </p:sp>
      <p:sp>
        <p:nvSpPr>
          <p:cNvPr id="32" name="Evidence 5 source"/>
          <p:cNvSpPr txBox="1"/>
          <p:nvPr/>
        </p:nvSpPr>
        <p:spPr>
          <a:xfrm>
            <a:off x="4566818" y="5468112"/>
            <a:ext cx="3058058" cy="219456"/>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Source: Centre for Public Impact</a:t>
            </a:r>
            <a:endParaRPr lang="en-US" sz="1000" dirty="0"/>
          </a:p>
        </p:txBody>
      </p:sp>
      <p:sp>
        <p:nvSpPr>
          <p:cNvPr id="33" name="Evidence card 6"/>
          <p:cNvSpPr/>
          <p:nvPr/>
        </p:nvSpPr>
        <p:spPr>
          <a:xfrm>
            <a:off x="8127797" y="3867912"/>
            <a:ext cx="3515258" cy="1901952"/>
          </a:xfrm>
          <a:prstGeom prst="roundRect">
            <a:avLst>
              <a:gd name="adj" fmla="val 3846"/>
            </a:avLst>
          </a:prstGeom>
          <a:solidFill>
            <a:schemeClr val="bg2"/>
          </a:solidFill>
          <a:ln w="9525">
            <a:solidFill>
              <a:schemeClr val="accent5"/>
            </a:solidFill>
            <a:prstDash val="solid"/>
          </a:ln>
        </p:spPr>
      </p:sp>
      <p:sp>
        <p:nvSpPr>
          <p:cNvPr id="34" name="Evidence 6 name"/>
          <p:cNvSpPr txBox="1"/>
          <p:nvPr/>
        </p:nvSpPr>
        <p:spPr>
          <a:xfrm>
            <a:off x="8356397" y="4005072"/>
            <a:ext cx="3058058" cy="29260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SFpark, San Francisco</a:t>
            </a:r>
            <a:endParaRPr lang="en-US" sz="1400" dirty="0"/>
          </a:p>
        </p:txBody>
      </p:sp>
      <p:sp>
        <p:nvSpPr>
          <p:cNvPr id="35" name="Evidence 6 value"/>
          <p:cNvSpPr txBox="1"/>
          <p:nvPr/>
        </p:nvSpPr>
        <p:spPr>
          <a:xfrm>
            <a:off x="8356397" y="4325112"/>
            <a:ext cx="3058058" cy="530352"/>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50%</a:t>
            </a:r>
            <a:endParaRPr lang="en-US" sz="3200" dirty="0"/>
          </a:p>
        </p:txBody>
      </p:sp>
      <p:sp>
        <p:nvSpPr>
          <p:cNvPr id="36" name="Evidence 6 text"/>
          <p:cNvSpPr txBox="1"/>
          <p:nvPr/>
        </p:nvSpPr>
        <p:spPr>
          <a:xfrm>
            <a:off x="8356397" y="4873752"/>
            <a:ext cx="3058058"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less cruising for parking, search time down 43%</a:t>
            </a:r>
            <a:endParaRPr lang="en-US" sz="1400" dirty="0"/>
          </a:p>
        </p:txBody>
      </p:sp>
      <p:sp>
        <p:nvSpPr>
          <p:cNvPr id="37" name="Evidence 6 source"/>
          <p:cNvSpPr txBox="1"/>
          <p:nvPr/>
        </p:nvSpPr>
        <p:spPr>
          <a:xfrm>
            <a:off x="8356397" y="5468112"/>
            <a:ext cx="3058058" cy="219456"/>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Source: ACCESS Magazine</a:t>
            </a:r>
            <a:endParaRPr lang="en-US" sz="1000" dirty="0"/>
          </a:p>
        </p:txBody>
      </p:sp>
      <p:sp>
        <p:nvSpPr>
          <p:cNvPr id="38" name="Evidence line"/>
          <p:cNvSpPr txBox="1"/>
          <p:nvPr/>
        </p:nvSpPr>
        <p:spPr>
          <a:xfrm>
            <a:off x="548640" y="5833872"/>
            <a:ext cx="11094415" cy="4114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They can do it because they measure. Most junctions in Tashkent cannot be measured today. OQIM measures them from one video.</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OUR EDGE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Why it is hard to copy</a:t>
            </a:r>
            <a:endParaRPr lang="en-US" sz="3600" dirty="0"/>
          </a:p>
        </p:txBody>
      </p:sp>
      <p:sp>
        <p:nvSpPr>
          <p:cNvPr id="8" name="Moat 1 lamp"/>
          <p:cNvSpPr/>
          <p:nvPr/>
        </p:nvSpPr>
        <p:spPr>
          <a:xfrm>
            <a:off x="548640" y="1764792"/>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1</a:t>
            </a:r>
            <a:endParaRPr lang="en-US" sz="1800" dirty="0"/>
          </a:p>
        </p:txBody>
      </p:sp>
      <p:sp>
        <p:nvSpPr>
          <p:cNvPr id="9" name="Moat 1 title"/>
          <p:cNvSpPr txBox="1"/>
          <p:nvPr/>
        </p:nvSpPr>
        <p:spPr>
          <a:xfrm>
            <a:off x="1234440" y="1691640"/>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Lights read from pixels</a:t>
            </a:r>
            <a:endParaRPr lang="en-US" sz="1800" dirty="0"/>
          </a:p>
        </p:txBody>
      </p:sp>
      <p:sp>
        <p:nvSpPr>
          <p:cNvPr id="10" name="Moat 1 text"/>
          <p:cNvSpPr txBox="1"/>
          <p:nvPr/>
        </p:nvSpPr>
        <p:spPr>
          <a:xfrm>
            <a:off x="1234440" y="2075688"/>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controller access. Built on our elimination work: signal reader, registration, rules, 98 labelled events.</a:t>
            </a:r>
            <a:endParaRPr lang="en-US" sz="1500" dirty="0"/>
          </a:p>
        </p:txBody>
      </p:sp>
      <p:sp>
        <p:nvSpPr>
          <p:cNvPr id="11" name="Moat 2 lamp"/>
          <p:cNvSpPr/>
          <p:nvPr/>
        </p:nvSpPr>
        <p:spPr>
          <a:xfrm>
            <a:off x="548640" y="2926080"/>
            <a:ext cx="457200" cy="457200"/>
          </a:xfrm>
          <a:prstGeom prst="ellipse">
            <a:avLst/>
          </a:prstGeom>
          <a:solidFill>
            <a:schemeClr val="accent3"/>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2</a:t>
            </a:r>
            <a:endParaRPr lang="en-US" sz="1800" dirty="0"/>
          </a:p>
        </p:txBody>
      </p:sp>
      <p:sp>
        <p:nvSpPr>
          <p:cNvPr id="12" name="Moat 2 title"/>
          <p:cNvSpPr txBox="1"/>
          <p:nvPr/>
        </p:nvSpPr>
        <p:spPr>
          <a:xfrm>
            <a:off x="1234440" y="2852928"/>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The replay check</a:t>
            </a:r>
            <a:endParaRPr lang="en-US" sz="1800" dirty="0"/>
          </a:p>
        </p:txBody>
      </p:sp>
      <p:sp>
        <p:nvSpPr>
          <p:cNvPr id="13" name="Moat 2 text"/>
          <p:cNvSpPr txBox="1"/>
          <p:nvPr/>
        </p:nvSpPr>
        <p:spPr>
          <a:xfrm>
            <a:off x="1234440" y="3236976"/>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Plans are judged on the junction's own vehicles. The model must give back the measured crossings first.</a:t>
            </a:r>
            <a:endParaRPr lang="en-US" sz="1500" dirty="0"/>
          </a:p>
        </p:txBody>
      </p:sp>
      <p:sp>
        <p:nvSpPr>
          <p:cNvPr id="14" name="Moat 3 lamp"/>
          <p:cNvSpPr/>
          <p:nvPr/>
        </p:nvSpPr>
        <p:spPr>
          <a:xfrm>
            <a:off x="548640" y="4087368"/>
            <a:ext cx="457200" cy="457200"/>
          </a:xfrm>
          <a:prstGeom prst="ellipse">
            <a:avLst/>
          </a:prstGeom>
          <a:solidFill>
            <a:schemeClr val="accent4"/>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3</a:t>
            </a:r>
            <a:endParaRPr lang="en-US" sz="1800" dirty="0"/>
          </a:p>
        </p:txBody>
      </p:sp>
      <p:sp>
        <p:nvSpPr>
          <p:cNvPr id="15" name="Moat 3 title"/>
          <p:cNvSpPr txBox="1"/>
          <p:nvPr/>
        </p:nvSpPr>
        <p:spPr>
          <a:xfrm>
            <a:off x="1234440" y="4014216"/>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Runs in the browser</a:t>
            </a:r>
            <a:endParaRPr lang="en-US" sz="1800" dirty="0"/>
          </a:p>
        </p:txBody>
      </p:sp>
      <p:sp>
        <p:nvSpPr>
          <p:cNvPr id="16" name="Moat 3 text"/>
          <p:cNvSpPr txBox="1"/>
          <p:nvPr/>
        </p:nvSpPr>
        <p:spPr>
          <a:xfrm>
            <a:off x="1234440" y="4398264"/>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server, no GPU bill. The video stays on the device, which suits Uzbekistan's personal data law; we store none.</a:t>
            </a:r>
            <a:endParaRPr lang="en-US" sz="1500" dirty="0"/>
          </a:p>
        </p:txBody>
      </p:sp>
      <p:sp>
        <p:nvSpPr>
          <p:cNvPr id="17" name="Moat 4 lamp"/>
          <p:cNvSpPr/>
          <p:nvPr/>
        </p:nvSpPr>
        <p:spPr>
          <a:xfrm>
            <a:off x="548640" y="5248656"/>
            <a:ext cx="457200" cy="45720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4</a:t>
            </a:r>
            <a:endParaRPr lang="en-US" sz="1800" dirty="0"/>
          </a:p>
        </p:txBody>
      </p:sp>
      <p:sp>
        <p:nvSpPr>
          <p:cNvPr id="18" name="Moat 4 title"/>
          <p:cNvSpPr txBox="1"/>
          <p:nvPr/>
        </p:nvSpPr>
        <p:spPr>
          <a:xfrm>
            <a:off x="1234440" y="5175504"/>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Domain knowledge</a:t>
            </a:r>
            <a:endParaRPr lang="en-US" sz="1800" dirty="0"/>
          </a:p>
        </p:txBody>
      </p:sp>
      <p:sp>
        <p:nvSpPr>
          <p:cNvPr id="19" name="Moat 4 text"/>
          <p:cNvSpPr txBox="1"/>
          <p:nvPr/>
        </p:nvSpPr>
        <p:spPr>
          <a:xfrm>
            <a:off x="1234440" y="5559552"/>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Webster's method, saturation flow, ATSPM measures.</a:t>
            </a:r>
            <a:endParaRPr lang="en-US" sz="1500" dirty="0"/>
          </a:p>
        </p:txBody>
      </p:sp>
      <p:sp>
        <p:nvSpPr>
          <p:cNvPr id="20" name="Reader panel"/>
          <p:cNvSpPr/>
          <p:nvPr/>
        </p:nvSpPr>
        <p:spPr>
          <a:xfrm>
            <a:off x="7223760" y="1691640"/>
            <a:ext cx="4419295" cy="2890076"/>
          </a:xfrm>
          <a:prstGeom prst="roundRect">
            <a:avLst>
              <a:gd name="adj" fmla="val 2531"/>
            </a:avLst>
          </a:prstGeom>
          <a:solidFill>
            <a:schemeClr val="bg2"/>
          </a:solidFill>
          <a:ln w="9525">
            <a:solidFill>
              <a:schemeClr val="accent5"/>
            </a:solidFill>
            <a:prstDash val="solid"/>
          </a:ln>
        </p:spPr>
      </p:sp>
      <p:pic>
        <p:nvPicPr>
          <p:cNvPr id="21" name="Reader frame" descr="Signal lamp reader on the Tashkent junction">    </p:cNvPr>
          <p:cNvPicPr>
            <a:picLocks noChangeAspect="1"/>
          </p:cNvPicPr>
          <p:nvPr/>
        </p:nvPicPr>
        <p:blipFill>
          <a:blip r:embed="rId1"/>
          <a:srcRect l="0" r="0" t="0" b="0"/>
          <a:stretch/>
        </p:blipFill>
        <p:spPr>
          <a:xfrm>
            <a:off x="7287768" y="1755648"/>
            <a:ext cx="4291279" cy="2762060"/>
          </a:xfrm>
          <a:prstGeom prst="rect">
            <a:avLst/>
          </a:prstGeom>
        </p:spPr>
      </p:pic>
      <p:sp>
        <p:nvSpPr>
          <p:cNvPr id="22" name="Reader caption"/>
          <p:cNvSpPr txBox="1"/>
          <p:nvPr/>
        </p:nvSpPr>
        <p:spPr>
          <a:xfrm>
            <a:off x="7223760" y="4636580"/>
            <a:ext cx="4419295" cy="237744"/>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Our lamp reader on the organisers' footage, from pixels only.</a:t>
            </a:r>
            <a:endParaRPr lang="en-US" sz="1200" dirty="0"/>
          </a:p>
        </p:txBody>
      </p:sp>
      <p:sp>
        <p:nvSpPr>
          <p:cNvPr id="23" name="Agreement panel"/>
          <p:cNvSpPr/>
          <p:nvPr/>
        </p:nvSpPr>
        <p:spPr>
          <a:xfrm>
            <a:off x="7223760" y="4983480"/>
            <a:ext cx="4419295" cy="1188720"/>
          </a:xfrm>
          <a:prstGeom prst="roundRect">
            <a:avLst>
              <a:gd name="adj" fmla="val 6154"/>
            </a:avLst>
          </a:prstGeom>
          <a:solidFill>
            <a:schemeClr val="bg2"/>
          </a:solidFill>
          <a:ln w="9525">
            <a:solidFill>
              <a:schemeClr val="accent5"/>
            </a:solidFill>
            <a:prstDash val="solid"/>
          </a:ln>
        </p:spPr>
      </p:sp>
      <p:sp>
        <p:nvSpPr>
          <p:cNvPr id="24" name="Agreement value"/>
          <p:cNvSpPr txBox="1"/>
          <p:nvPr/>
        </p:nvSpPr>
        <p:spPr>
          <a:xfrm>
            <a:off x="7452360" y="5047488"/>
            <a:ext cx="3962095" cy="438912"/>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98.8%</a:t>
            </a:r>
            <a:endParaRPr lang="en-US" sz="2800" dirty="0"/>
          </a:p>
        </p:txBody>
      </p:sp>
      <p:sp>
        <p:nvSpPr>
          <p:cNvPr id="25" name="Agreement label"/>
          <p:cNvSpPr txBox="1"/>
          <p:nvPr/>
        </p:nvSpPr>
        <p:spPr>
          <a:xfrm>
            <a:off x="7452360" y="5541264"/>
            <a:ext cx="3962095" cy="56692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frames of C3896: the browser's signal reading agrees with our elimination lamp reader.</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ALL NUMBERS ARE ASSUMPTIONS TO CHECK WITH THE CUSTOMER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Budget and ROI</a:t>
            </a:r>
            <a:endParaRPr lang="en-US" sz="3600" dirty="0"/>
          </a:p>
        </p:txBody>
      </p:sp>
      <p:sp>
        <p:nvSpPr>
          <p:cNvPr id="8" name="Pilot card"/>
          <p:cNvSpPr/>
          <p:nvPr/>
        </p:nvSpPr>
        <p:spPr>
          <a:xfrm>
            <a:off x="548640" y="1691640"/>
            <a:ext cx="3515258" cy="4480560"/>
          </a:xfrm>
          <a:prstGeom prst="roundRect">
            <a:avLst>
              <a:gd name="adj" fmla="val 2081"/>
            </a:avLst>
          </a:prstGeom>
          <a:solidFill>
            <a:schemeClr val="bg2"/>
          </a:solidFill>
          <a:ln w="9525">
            <a:solidFill>
              <a:schemeClr val="accent5"/>
            </a:solidFill>
            <a:prstDash val="solid"/>
          </a:ln>
        </p:spPr>
      </p:sp>
      <p:sp>
        <p:nvSpPr>
          <p:cNvPr id="9" name="Pilot heading"/>
          <p:cNvSpPr txBox="1"/>
          <p:nvPr/>
        </p:nvSpPr>
        <p:spPr>
          <a:xfrm>
            <a:off x="822960"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Pilot with TsODD</a:t>
            </a:r>
            <a:endParaRPr lang="en-US" sz="1800" dirty="0"/>
          </a:p>
        </p:txBody>
      </p:sp>
      <p:sp>
        <p:nvSpPr>
          <p:cNvPr id="10" name="Pilot months value"/>
          <p:cNvSpPr txBox="1"/>
          <p:nvPr/>
        </p:nvSpPr>
        <p:spPr>
          <a:xfrm>
            <a:off x="822960" y="2258568"/>
            <a:ext cx="1463040" cy="68580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1" name="Pilot months label"/>
          <p:cNvSpPr txBox="1"/>
          <p:nvPr/>
        </p:nvSpPr>
        <p:spPr>
          <a:xfrm>
            <a:off x="822960" y="2999232"/>
            <a:ext cx="1463040" cy="29260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months</a:t>
            </a:r>
            <a:endParaRPr lang="en-US" sz="1400" dirty="0"/>
          </a:p>
        </p:txBody>
      </p:sp>
      <p:sp>
        <p:nvSpPr>
          <p:cNvPr id="12" name="Pilot junctions value"/>
          <p:cNvSpPr txBox="1"/>
          <p:nvPr/>
        </p:nvSpPr>
        <p:spPr>
          <a:xfrm>
            <a:off x="2331720" y="2258568"/>
            <a:ext cx="1463040" cy="68580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20</a:t>
            </a:r>
            <a:endParaRPr lang="en-US" sz="4800" dirty="0"/>
          </a:p>
        </p:txBody>
      </p:sp>
      <p:sp>
        <p:nvSpPr>
          <p:cNvPr id="13" name="Pilot junctions label"/>
          <p:cNvSpPr txBox="1"/>
          <p:nvPr/>
        </p:nvSpPr>
        <p:spPr>
          <a:xfrm>
            <a:off x="2331720" y="2999232"/>
            <a:ext cx="1463040" cy="29260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junctions</a:t>
            </a:r>
            <a:endParaRPr lang="en-US" sz="1400" dirty="0"/>
          </a:p>
        </p:txBody>
      </p:sp>
      <p:sp>
        <p:nvSpPr>
          <p:cNvPr id="14" name="Pilot costs"/>
          <p:cNvSpPr txBox="1"/>
          <p:nvPr/>
        </p:nvSpPr>
        <p:spPr>
          <a:xfrm>
            <a:off x="822960" y="3474720"/>
            <a:ext cx="2966618" cy="256032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People: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3 engineers part time. The main cost.</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Hosting: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static, free to USD 20 a month. No GPU server.</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Data: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videos the service already records or films for us. No licences to buy.</a:t>
            </a:r>
            <a:endParaRPr lang="en-US" sz="1400" dirty="0"/>
          </a:p>
        </p:txBody>
      </p:sp>
      <p:sp>
        <p:nvSpPr>
          <p:cNvPr id="15" name="Unit card"/>
          <p:cNvSpPr/>
          <p:nvPr/>
        </p:nvSpPr>
        <p:spPr>
          <a:xfrm>
            <a:off x="4338218" y="1691640"/>
            <a:ext cx="3515258" cy="4480560"/>
          </a:xfrm>
          <a:prstGeom prst="roundRect">
            <a:avLst>
              <a:gd name="adj" fmla="val 2081"/>
            </a:avLst>
          </a:prstGeom>
          <a:solidFill>
            <a:schemeClr val="bg2"/>
          </a:solidFill>
          <a:ln w="9525">
            <a:solidFill>
              <a:schemeClr val="accent5"/>
            </a:solidFill>
            <a:prstDash val="solid"/>
          </a:ln>
        </p:spPr>
      </p:sp>
      <p:sp>
        <p:nvSpPr>
          <p:cNvPr id="16" name="Unit heading"/>
          <p:cNvSpPr txBox="1"/>
          <p:nvPr/>
        </p:nvSpPr>
        <p:spPr>
          <a:xfrm>
            <a:off x="4612538"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Per junction audit</a:t>
            </a:r>
            <a:endParaRPr lang="en-US" sz="1800" dirty="0"/>
          </a:p>
        </p:txBody>
      </p:sp>
      <p:sp>
        <p:nvSpPr>
          <p:cNvPr id="17" name="Compute value"/>
          <p:cNvSpPr txBox="1"/>
          <p:nvPr/>
        </p:nvSpPr>
        <p:spPr>
          <a:xfrm>
            <a:off x="4612538" y="2258568"/>
            <a:ext cx="2966618" cy="685800"/>
          </a:xfrm>
          <a:prstGeom prst="rect">
            <a:avLst/>
          </a:prstGeom>
          <a:noFill/>
          <a:ln/>
        </p:spPr>
        <p:txBody>
          <a:bodyPr wrap="square" lIns="0" tIns="0" rIns="0" bIns="0" rtlCol="0" anchor="b"/>
          <a:lstStyle/>
          <a:p>
            <a:pPr indent="0" marL="0">
              <a:buNone/>
            </a:pPr>
            <a:r>
              <a:rPr lang="en-US" sz="4800" b="1" dirty="0">
                <a:solidFill>
                  <a:schemeClr val="accent4"/>
                </a:solidFill>
                <a:latin typeface="Arial" pitchFamily="34" charset="0"/>
                <a:ea typeface="Arial" pitchFamily="34" charset="-122"/>
                <a:cs typeface="Arial" pitchFamily="34" charset="-120"/>
              </a:rPr>
              <a:t>0</a:t>
            </a:r>
            <a:endParaRPr lang="en-US" sz="4800" dirty="0"/>
          </a:p>
        </p:txBody>
      </p:sp>
      <p:sp>
        <p:nvSpPr>
          <p:cNvPr id="18" name="Compute label"/>
          <p:cNvSpPr txBox="1"/>
          <p:nvPr/>
        </p:nvSpPr>
        <p:spPr>
          <a:xfrm>
            <a:off x="4612538" y="2999232"/>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compute cost. Inference runs on the user's device.</a:t>
            </a:r>
            <a:endParaRPr lang="en-US" sz="1400" dirty="0"/>
          </a:p>
        </p:txBody>
      </p:sp>
      <p:sp>
        <p:nvSpPr>
          <p:cNvPr id="19" name="Unit costs"/>
          <p:cNvSpPr txBox="1"/>
          <p:nvPr/>
        </p:nvSpPr>
        <p:spPr>
          <a:xfrm>
            <a:off x="4612538" y="3703320"/>
            <a:ext cx="2966618" cy="233172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Our cost: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an engineer's 30 minutes to film and check.</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Price: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below the cost of a manual study of the same junction. Price set in the pilot.</a:t>
            </a:r>
            <a:endParaRPr lang="en-US" sz="1400" dirty="0"/>
          </a:p>
        </p:txBody>
      </p:sp>
      <p:sp>
        <p:nvSpPr>
          <p:cNvPr id="20" name="Value card"/>
          <p:cNvSpPr/>
          <p:nvPr/>
        </p:nvSpPr>
        <p:spPr>
          <a:xfrm>
            <a:off x="8127797" y="1691640"/>
            <a:ext cx="3515258" cy="4480560"/>
          </a:xfrm>
          <a:prstGeom prst="roundRect">
            <a:avLst>
              <a:gd name="adj" fmla="val 2081"/>
            </a:avLst>
          </a:prstGeom>
          <a:solidFill>
            <a:schemeClr val="bg2"/>
          </a:solidFill>
          <a:ln w="9525">
            <a:solidFill>
              <a:schemeClr val="accent5"/>
            </a:solidFill>
            <a:prstDash val="solid"/>
          </a:ln>
        </p:spPr>
      </p:sp>
      <p:sp>
        <p:nvSpPr>
          <p:cNvPr id="21" name="Value heading"/>
          <p:cNvSpPr txBox="1"/>
          <p:nvPr/>
        </p:nvSpPr>
        <p:spPr>
          <a:xfrm>
            <a:off x="8402117"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Value and payback</a:t>
            </a:r>
            <a:endParaRPr lang="en-US" sz="1800" dirty="0"/>
          </a:p>
        </p:txBody>
      </p:sp>
      <p:sp>
        <p:nvSpPr>
          <p:cNvPr id="22" name="Formula box"/>
          <p:cNvSpPr/>
          <p:nvPr/>
        </p:nvSpPr>
        <p:spPr>
          <a:xfrm>
            <a:off x="8402117" y="2350008"/>
            <a:ext cx="2966618" cy="1783080"/>
          </a:xfrm>
          <a:prstGeom prst="roundRect">
            <a:avLst>
              <a:gd name="adj" fmla="val 4103"/>
            </a:avLst>
          </a:prstGeom>
          <a:solidFill>
            <a:schemeClr val="bg1"/>
          </a:solidFill>
          <a:ln w="9525">
            <a:solidFill>
              <a:schemeClr val="accent5"/>
            </a:solidFill>
            <a:prstDash val="solid"/>
          </a:ln>
        </p:spPr>
      </p:sp>
      <p:sp>
        <p:nvSpPr>
          <p:cNvPr id="23" name="Formula"/>
          <p:cNvSpPr txBox="1"/>
          <p:nvPr/>
        </p:nvSpPr>
        <p:spPr>
          <a:xfrm>
            <a:off x="8566709" y="2423160"/>
            <a:ext cx="2637434" cy="1645920"/>
          </a:xfrm>
          <a:prstGeom prst="rect">
            <a:avLst/>
          </a:prstGeom>
          <a:noFill/>
          <a:ln/>
        </p:spPr>
        <p:txBody>
          <a:bodyPr wrap="square" lIns="0" tIns="0" rIns="0" bIns="0" rtlCol="0" anchor="ctr"/>
          <a:lstStyle/>
          <a:p>
            <a:pPr indent="0" marL="0">
              <a:spcAft>
                <a:spcPts val="600"/>
              </a:spcAft>
              <a:buNone/>
            </a:pPr>
            <a:r>
              <a:rPr lang="en-US" sz="1400" b="1" dirty="0">
                <a:solidFill>
                  <a:schemeClr val="accent1"/>
                </a:solidFill>
                <a:latin typeface="Calibri" pitchFamily="34" charset="0"/>
                <a:ea typeface="Calibri" pitchFamily="34" charset="-122"/>
                <a:cs typeface="Calibri" pitchFamily="34" charset="-120"/>
              </a:rPr>
              <a:t>Value a day =</a:t>
            </a:r>
            <a:endParaRPr lang="en-US" sz="1400" dirty="0"/>
          </a:p>
          <a:p>
            <a:pPr indent="0" marL="0">
              <a:spcAft>
                <a:spcPts val="600"/>
              </a:spcAft>
              <a:buNone/>
            </a:pPr>
            <a:r>
              <a:rPr lang="en-US" sz="1400" dirty="0">
                <a:solidFill>
                  <a:schemeClr val="tx1"/>
                </a:solidFill>
                <a:latin typeface="Calibri" pitchFamily="34" charset="0"/>
                <a:ea typeface="Calibri" pitchFamily="34" charset="-122"/>
                <a:cs typeface="Calibri" pitchFamily="34" charset="-120"/>
              </a:rPr>
              <a:t>vehicle-hours saved per hour × hours a day at this traffic × (value of an hour + 0.8 l × fuel price)</a:t>
            </a:r>
            <a:endParaRPr lang="en-US" sz="1400" dirty="0"/>
          </a:p>
          <a:p>
            <a:pPr indent="0" marL="0">
              <a:spcAft>
                <a:spcPts val="600"/>
              </a:spcAft>
              <a:buNone/>
            </a:pPr>
            <a:r>
              <a:rPr lang="en-US" sz="1400" b="1" dirty="0">
                <a:solidFill>
                  <a:schemeClr val="accent1"/>
                </a:solidFill>
                <a:latin typeface="Calibri" pitchFamily="34" charset="0"/>
                <a:ea typeface="Calibri" pitchFamily="34" charset="-122"/>
                <a:cs typeface="Calibri" pitchFamily="34" charset="-120"/>
              </a:rPr>
              <a:t>Payback = price ÷ value a day</a:t>
            </a:r>
            <a:endParaRPr lang="en-US" sz="1400" dirty="0"/>
          </a:p>
        </p:txBody>
      </p:sp>
      <p:sp>
        <p:nvSpPr>
          <p:cNvPr id="24" name="Value notes"/>
          <p:cNvSpPr txBox="1"/>
          <p:nvPr/>
        </p:nvSpPr>
        <p:spPr>
          <a:xfrm>
            <a:off x="8402117" y="4297680"/>
            <a:ext cx="2966618" cy="1737360"/>
          </a:xfrm>
          <a:prstGeom prst="rect">
            <a:avLst/>
          </a:prstGeom>
          <a:noFill/>
          <a:ln/>
        </p:spPr>
        <p:txBody>
          <a:bodyPr wrap="square" lIns="0" tIns="0" rIns="0" bIns="0" rtlCol="0" anchor="t"/>
          <a:lstStyle/>
          <a:p>
            <a:pPr indent="0" marL="0">
              <a:spcAft>
                <a:spcPts val="800"/>
              </a:spcAft>
              <a:buNone/>
            </a:pPr>
            <a:r>
              <a:rPr lang="en-US" sz="1400" dirty="0">
                <a:solidFill>
                  <a:schemeClr val="tx1"/>
                </a:solidFill>
                <a:latin typeface="Calibri" pitchFamily="34" charset="0"/>
                <a:ea typeface="Calibri" pitchFamily="34" charset="-122"/>
                <a:cs typeface="Calibri" pitchFamily="34" charset="-120"/>
              </a:rPr>
              <a:t>CO2: 2.31 kg per litre of fuel; idling at 0.8 litres an hour.</a:t>
            </a:r>
            <a:endParaRPr lang="en-US" sz="1400" dirty="0"/>
          </a:p>
          <a:p>
            <a:pPr indent="0" marL="0">
              <a:spcAft>
                <a:spcPts val="800"/>
              </a:spcAft>
              <a:buNone/>
            </a:pPr>
            <a:r>
              <a:rPr lang="en-US" sz="1400" dirty="0">
                <a:solidFill>
                  <a:schemeClr val="tx1"/>
                </a:solidFill>
                <a:latin typeface="Calibri" pitchFamily="34" charset="0"/>
                <a:ea typeface="Calibri" pitchFamily="34" charset="-122"/>
                <a:cs typeface="Calibri" pitchFamily="34" charset="-120"/>
              </a:rPr>
              <a:t>The engineer sets the inputs on the page. We state payback from the pilot inputs, not before.</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AFTER THE HACKATHON</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Next steps</a:t>
            </a:r>
            <a:endParaRPr lang="en-US" sz="3600" dirty="0"/>
          </a:p>
        </p:txBody>
      </p:sp>
      <p:sp>
        <p:nvSpPr>
          <p:cNvPr id="8" name="Step track"/>
          <p:cNvSpPr/>
          <p:nvPr/>
        </p:nvSpPr>
        <p:spPr>
          <a:xfrm>
            <a:off x="822960" y="2240280"/>
            <a:ext cx="8526551" cy="0"/>
          </a:xfrm>
          <a:prstGeom prst="line">
            <a:avLst/>
          </a:prstGeom>
          <a:noFill/>
          <a:ln w="25400">
            <a:solidFill>
              <a:schemeClr val="accent5"/>
            </a:solidFill>
            <a:prstDash val="solid"/>
          </a:ln>
        </p:spPr>
      </p:sp>
      <p:sp>
        <p:nvSpPr>
          <p:cNvPr id="9" name="Next 1 lamp"/>
          <p:cNvSpPr/>
          <p:nvPr/>
        </p:nvSpPr>
        <p:spPr>
          <a:xfrm>
            <a:off x="548640" y="1965960"/>
            <a:ext cx="548640" cy="548640"/>
          </a:xfrm>
          <a:prstGeom prst="ellipse">
            <a:avLst/>
          </a:prstGeom>
          <a:solidFill>
            <a:schemeClr val="accent2"/>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1</a:t>
            </a:r>
            <a:endParaRPr lang="en-US" sz="2200" dirty="0"/>
          </a:p>
        </p:txBody>
      </p:sp>
      <p:sp>
        <p:nvSpPr>
          <p:cNvPr id="10" name="Next 1 title"/>
          <p:cNvSpPr txBox="1"/>
          <p:nvPr/>
        </p:nvSpPr>
        <p:spPr>
          <a:xfrm>
            <a:off x="548640" y="2697480"/>
            <a:ext cx="2567864" cy="384048"/>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Pilot</a:t>
            </a:r>
            <a:endParaRPr lang="en-US" sz="2000" dirty="0"/>
          </a:p>
        </p:txBody>
      </p:sp>
      <p:sp>
        <p:nvSpPr>
          <p:cNvPr id="11" name="Next 1 text"/>
          <p:cNvSpPr txBox="1"/>
          <p:nvPr/>
        </p:nvSpPr>
        <p:spPr>
          <a:xfrm>
            <a:off x="548640" y="3136392"/>
            <a:ext cx="2430704" cy="11430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With TsODD: 20 junctions, their videos, their engineer marks the lines.</a:t>
            </a:r>
            <a:endParaRPr lang="en-US" sz="1500" dirty="0"/>
          </a:p>
        </p:txBody>
      </p:sp>
      <p:sp>
        <p:nvSpPr>
          <p:cNvPr id="12" name="Next 2 lamp"/>
          <p:cNvSpPr/>
          <p:nvPr/>
        </p:nvSpPr>
        <p:spPr>
          <a:xfrm>
            <a:off x="3390824" y="1965960"/>
            <a:ext cx="548640" cy="548640"/>
          </a:xfrm>
          <a:prstGeom prst="ellipse">
            <a:avLst/>
          </a:prstGeom>
          <a:solidFill>
            <a:schemeClr val="accent3"/>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2</a:t>
            </a:r>
            <a:endParaRPr lang="en-US" sz="2200" dirty="0"/>
          </a:p>
        </p:txBody>
      </p:sp>
      <p:sp>
        <p:nvSpPr>
          <p:cNvPr id="13" name="Next 2 title"/>
          <p:cNvSpPr txBox="1"/>
          <p:nvPr/>
        </p:nvSpPr>
        <p:spPr>
          <a:xfrm>
            <a:off x="3390824" y="2697480"/>
            <a:ext cx="2567864" cy="384048"/>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Test set</a:t>
            </a:r>
            <a:endParaRPr lang="en-US" sz="2000" dirty="0"/>
          </a:p>
        </p:txBody>
      </p:sp>
      <p:sp>
        <p:nvSpPr>
          <p:cNvPr id="14" name="Next 2 text"/>
          <p:cNvSpPr txBox="1"/>
          <p:nvPr/>
        </p:nvSpPr>
        <p:spPr>
          <a:xfrm>
            <a:off x="3390824" y="3136392"/>
            <a:ext cx="2430704" cy="11430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Our own, at night and in rain, with manual counts.</a:t>
            </a:r>
            <a:endParaRPr lang="en-US" sz="1500" dirty="0"/>
          </a:p>
        </p:txBody>
      </p:sp>
      <p:sp>
        <p:nvSpPr>
          <p:cNvPr id="15" name="Next 3 lamp"/>
          <p:cNvSpPr/>
          <p:nvPr/>
        </p:nvSpPr>
        <p:spPr>
          <a:xfrm>
            <a:off x="6233008" y="1965960"/>
            <a:ext cx="548640" cy="548640"/>
          </a:xfrm>
          <a:prstGeom prst="ellipse">
            <a:avLst/>
          </a:prstGeom>
          <a:solidFill>
            <a:schemeClr val="accent3"/>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3</a:t>
            </a:r>
            <a:endParaRPr lang="en-US" sz="2200" dirty="0"/>
          </a:p>
        </p:txBody>
      </p:sp>
      <p:sp>
        <p:nvSpPr>
          <p:cNvPr id="16" name="Next 3 title"/>
          <p:cNvSpPr txBox="1"/>
          <p:nvPr/>
        </p:nvSpPr>
        <p:spPr>
          <a:xfrm>
            <a:off x="6233008" y="2697480"/>
            <a:ext cx="2567864" cy="384048"/>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Network</a:t>
            </a:r>
            <a:endParaRPr lang="en-US" sz="2000" dirty="0"/>
          </a:p>
        </p:txBody>
      </p:sp>
      <p:sp>
        <p:nvSpPr>
          <p:cNvPr id="17" name="Next 3 text"/>
          <p:cNvSpPr txBox="1"/>
          <p:nvPr/>
        </p:nvSpPr>
        <p:spPr>
          <a:xfrm>
            <a:off x="6233008" y="3136392"/>
            <a:ext cx="2430704" cy="11430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Link neighbouring junctions (predictive needs the camera upstream), offsets for green waves.</a:t>
            </a:r>
            <a:endParaRPr lang="en-US" sz="1500" dirty="0"/>
          </a:p>
        </p:txBody>
      </p:sp>
      <p:sp>
        <p:nvSpPr>
          <p:cNvPr id="18" name="Next 4 lamp"/>
          <p:cNvSpPr/>
          <p:nvPr/>
        </p:nvSpPr>
        <p:spPr>
          <a:xfrm>
            <a:off x="9075191" y="1965960"/>
            <a:ext cx="548640" cy="548640"/>
          </a:xfrm>
          <a:prstGeom prst="ellipse">
            <a:avLst/>
          </a:prstGeom>
          <a:solidFill>
            <a:schemeClr val="accent4"/>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4</a:t>
            </a:r>
            <a:endParaRPr lang="en-US" sz="2200" dirty="0"/>
          </a:p>
        </p:txBody>
      </p:sp>
      <p:sp>
        <p:nvSpPr>
          <p:cNvPr id="19" name="Next 4 title"/>
          <p:cNvSpPr txBox="1"/>
          <p:nvPr/>
        </p:nvSpPr>
        <p:spPr>
          <a:xfrm>
            <a:off x="9075191" y="2697480"/>
            <a:ext cx="2567864" cy="384048"/>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Timing sheet</a:t>
            </a:r>
            <a:endParaRPr lang="en-US" sz="2000" dirty="0"/>
          </a:p>
        </p:txBody>
      </p:sp>
      <p:sp>
        <p:nvSpPr>
          <p:cNvPr id="20" name="Next 4 text"/>
          <p:cNvSpPr txBox="1"/>
          <p:nvPr/>
        </p:nvSpPr>
        <p:spPr>
          <a:xfrm>
            <a:off x="9075191" y="3136392"/>
            <a:ext cx="2430704" cy="11430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Export a sheet the engineer can enter into the controller.</a:t>
            </a:r>
            <a:endParaRPr lang="en-US" sz="1500" dirty="0"/>
          </a:p>
        </p:txBody>
      </p:sp>
      <p:sp>
        <p:nvSpPr>
          <p:cNvPr id="21" name="Closing panel"/>
          <p:cNvSpPr/>
          <p:nvPr/>
        </p:nvSpPr>
        <p:spPr>
          <a:xfrm>
            <a:off x="548640" y="4709160"/>
            <a:ext cx="11094415" cy="1463040"/>
          </a:xfrm>
          <a:prstGeom prst="roundRect">
            <a:avLst>
              <a:gd name="adj" fmla="val 5000"/>
            </a:avLst>
          </a:prstGeom>
          <a:solidFill>
            <a:schemeClr val="bg2"/>
          </a:solidFill>
          <a:ln w="9525">
            <a:solidFill>
              <a:schemeClr val="accent5"/>
            </a:solidFill>
            <a:prstDash val="solid"/>
          </a:ln>
        </p:spPr>
      </p:sp>
      <p:sp>
        <p:nvSpPr>
          <p:cNvPr id="22" name="Closing lamps housing"/>
          <p:cNvSpPr/>
          <p:nvPr/>
        </p:nvSpPr>
        <p:spPr>
          <a:xfrm>
            <a:off x="868680" y="5138928"/>
            <a:ext cx="1613002" cy="625450"/>
          </a:xfrm>
          <a:prstGeom prst="roundRect">
            <a:avLst>
              <a:gd name="adj" fmla="val 50000"/>
            </a:avLst>
          </a:prstGeom>
          <a:solidFill>
            <a:schemeClr val="bg2"/>
          </a:solidFill>
          <a:ln w="9525">
            <a:solidFill>
              <a:schemeClr val="accent5"/>
            </a:solidFill>
            <a:prstDash val="solid"/>
          </a:ln>
        </p:spPr>
      </p:sp>
      <p:sp>
        <p:nvSpPr>
          <p:cNvPr id="23" name="Closing lamps lamp 1"/>
          <p:cNvSpPr/>
          <p:nvPr/>
        </p:nvSpPr>
        <p:spPr>
          <a:xfrm>
            <a:off x="1033272" y="5287061"/>
            <a:ext cx="329184" cy="329184"/>
          </a:xfrm>
          <a:prstGeom prst="ellipse">
            <a:avLst/>
          </a:prstGeom>
          <a:solidFill>
            <a:schemeClr val="accent2"/>
          </a:solidFill>
          <a:ln/>
        </p:spPr>
      </p:sp>
      <p:sp>
        <p:nvSpPr>
          <p:cNvPr id="24" name="Closing lamps lamp 2"/>
          <p:cNvSpPr/>
          <p:nvPr/>
        </p:nvSpPr>
        <p:spPr>
          <a:xfrm>
            <a:off x="1510589" y="5287061"/>
            <a:ext cx="329184" cy="329184"/>
          </a:xfrm>
          <a:prstGeom prst="ellipse">
            <a:avLst/>
          </a:prstGeom>
          <a:solidFill>
            <a:schemeClr val="accent3"/>
          </a:solidFill>
          <a:ln/>
        </p:spPr>
      </p:sp>
      <p:sp>
        <p:nvSpPr>
          <p:cNvPr id="25" name="Closing lamps lamp 3"/>
          <p:cNvSpPr/>
          <p:nvPr/>
        </p:nvSpPr>
        <p:spPr>
          <a:xfrm>
            <a:off x="1987906" y="5287061"/>
            <a:ext cx="329184" cy="329184"/>
          </a:xfrm>
          <a:prstGeom prst="ellipse">
            <a:avLst/>
          </a:prstGeom>
          <a:solidFill>
            <a:schemeClr val="accent4"/>
          </a:solidFill>
          <a:ln/>
        </p:spPr>
      </p:sp>
      <p:sp>
        <p:nvSpPr>
          <p:cNvPr id="26" name="Closing text"/>
          <p:cNvSpPr txBox="1"/>
          <p:nvPr/>
        </p:nvSpPr>
        <p:spPr>
          <a:xfrm>
            <a:off x="2606040" y="4800600"/>
            <a:ext cx="8762695" cy="1280160"/>
          </a:xfrm>
          <a:prstGeom prst="rect">
            <a:avLst/>
          </a:prstGeom>
          <a:noFill/>
          <a:ln/>
        </p:spPr>
        <p:txBody>
          <a:bodyPr wrap="square" lIns="0" tIns="0" rIns="0" bIns="0" rtlCol="0" anchor="ctr"/>
          <a:lstStyle/>
          <a:p>
            <a:pPr indent="0" marL="0">
              <a:spcAft>
                <a:spcPts val="600"/>
              </a:spcAft>
              <a:buNone/>
            </a:pPr>
            <a:r>
              <a:rPr lang="en-US" sz="2400" b="1" dirty="0">
                <a:solidFill>
                  <a:schemeClr val="tx1"/>
                </a:solidFill>
                <a:latin typeface="Arial" pitchFamily="34" charset="0"/>
                <a:ea typeface="Arial" pitchFamily="34" charset="-122"/>
                <a:cs typeface="Arial" pitchFamily="34" charset="-120"/>
              </a:rPr>
              <a:t>Thank you. Questions?</a:t>
            </a:r>
            <a:endParaRPr lang="en-US" sz="1600" dirty="0"/>
          </a:p>
          <a:p>
            <a:pPr indent="0" marL="0">
              <a:spcAft>
                <a:spcPts val="600"/>
              </a:spcAft>
              <a:buNone/>
            </a:pPr>
            <a:r>
              <a:rPr lang="en-US" sz="1600" dirty="0">
                <a:solidFill>
                  <a:schemeClr val="tx2"/>
                </a:solidFill>
                <a:latin typeface="Calibri" pitchFamily="34" charset="0"/>
                <a:ea typeface="Calibri" pitchFamily="34" charset="-122"/>
                <a:cs typeface="Calibri" pitchFamily="34" charset="-120"/>
              </a:rPr>
              <a:t>Try it: </a:t>
            </a:r>
            <a:pPr indent="0" marL="0">
              <a:spcAft>
                <a:spcPts val="600"/>
              </a:spcAft>
              <a:buNone/>
            </a:pPr>
            <a:r>
              <a:rPr lang="en-US" sz="16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a:t>
            </a:r>
            <a:pPr indent="0" marL="0">
              <a:spcAft>
                <a:spcPts val="600"/>
              </a:spcAft>
              <a:buNone/>
            </a:pPr>
            <a:r>
              <a:rPr lang="en-US" sz="1600" dirty="0">
                <a:solidFill>
                  <a:schemeClr val="tx2"/>
                </a:solidFill>
                <a:latin typeface="Calibri" pitchFamily="34" charset="0"/>
                <a:ea typeface="Calibri" pitchFamily="34" charset="-122"/>
                <a:cs typeface="Calibri" pitchFamily="34" charset="-120"/>
              </a:rPr>
              <a:t>     Code: </a:t>
            </a:r>
            <a:pPr indent="0" marL="0">
              <a:spcAft>
                <a:spcPts val="600"/>
              </a:spcAft>
              <a:buNone/>
            </a:pPr>
            <a:r>
              <a:rPr lang="en-US" sz="16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QIM Signal">
  <a:themeElements>
    <a:clrScheme name="OQIM Signal">
      <a:dk1>
        <a:srgbClr val="F1EEE6"/>
      </a:dk1>
      <a:lt1>
        <a:srgbClr val="151618"/>
      </a:lt1>
      <a:dk2>
        <a:srgbClr val="A9A59C"/>
      </a:dk2>
      <a:lt2>
        <a:srgbClr val="1C1E21"/>
      </a:lt2>
      <a:accent1>
        <a:srgbClr val="F3C316"/>
      </a:accent1>
      <a:accent2>
        <a:srgbClr val="FF5B4C"/>
      </a:accent2>
      <a:accent3>
        <a:srgbClr val="FFB224"/>
      </a:accent3>
      <a:accent4>
        <a:srgbClr val="3FD27F"/>
      </a:accent4>
      <a:accent5>
        <a:srgbClr val="2A2D31"/>
      </a:accent5>
      <a:accent6>
        <a:srgbClr val="6E737B"/>
      </a:accent6>
      <a:hlink>
        <a:srgbClr val="F3C316"/>
      </a:hlink>
      <a:folHlink>
        <a:srgbClr val="FFB224"/>
      </a:folHlink>
    </a:clrScheme>
    <a:fontScheme name="OQIM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Webster University in Tashkent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OQIM: a traffic signal audit from one video</dc:title>
  <dc:subject>PptxGenJS Presentation</dc:subject>
  <dc:creator>Team PariVision</dc:creator>
  <cp:lastModifiedBy>Team PariVision</cp:lastModifiedBy>
  <cp:revision>1</cp:revision>
  <dcterms:created xsi:type="dcterms:W3CDTF">2026-10-11T06:26:20Z</dcterms:created>
  <dcterms:modified xsi:type="dcterms:W3CDTF">2026-10-11T06:26:20Z</dcterms:modified>
</cp:coreProperties>
</file>