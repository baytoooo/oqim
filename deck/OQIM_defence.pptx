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8a5f68c-bd42-4864-4e7f-c86734c11ef5}">
          <p14:sldIdLst>
            <p14:sldId id="256"/>
          </p14:sldIdLst>
        </p14:section>
        <p14:section name="Problem" id="{aed8a442-6243-a7d8-a81b-7669275f23c8}">
          <p14:sldIdLst>
            <p14:sldId id="257"/>
          </p14:sldIdLst>
        </p14:section>
        <p14:section name="Product and demo" id="{29d5074d-abc4-35b3-c82e-dcb39e4b4154}">
          <p14:sldIdLst>
            <p14:sldId id="258"/>
            <p14:sldId id="259"/>
            <p14:sldId id="260"/>
            <p14:sldId id="261"/>
            <p14:sldId id="262"/>
            <p14:sldId id="263"/>
          </p14:sldIdLst>
        </p14:section>
        <p14:section name="Next stage" id="{e326ff42-201e-7691-2d62-578584e74cb5}">
          <p14:sldIdLst>
            <p14:sldId id="264"/>
          </p14:sldIdLst>
        </p14:section>
        <p14:section name="Business" id="{4d5eca27-2adf-ede8-7f22-325e3baf4d56}">
          <p14:sldIdLst>
            <p14:sldId id="265"/>
          </p14:sldIdLst>
        </p14:section>
        <p14:section name="Team" id="{4e58d9be-aa23-9339-5a5e-62569e14a204}">
          <p14:sldIdLst>
            <p14:sldId id="266"/>
          </p14:sldIdLst>
        </p14:section>
        <p14:section name="Backup for questions" id="{6abd72a4-01fd-cafe-7358-750b6268041c}">
          <p14:sldIdLst>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OQIM forecast</c:v>
                </c:pt>
              </c:strCache>
            </c:strRef>
          </c:tx>
          <c:spPr>
            <a:solidFill>
              <a:srgbClr val="3D8EE6"/>
            </a:solidFill>
            <a:ln w="25400" cap="flat">
              <a:solidFill>
                <a:srgbClr val="3D8EE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3D8EE6"/>
              </a:solidFill>
              <a:ln w="9525" cap="flat">
                <a:solidFill>
                  <a:srgbClr val="3D8EE6"/>
                </a:solidFill>
                <a:prstDash val="solid"/>
                <a:round/>
              </a:ln>
              <a:effectLst/>
            </c:spPr>
          </c:marker>
          <c:cat>
            <c:multiLvlStrRef>
              <c:f>Sheet1!$A$2:$A$6</c:f>
              <c:multiLvlStrCache>
                <c:ptCount val="5"/>
                <c:lvl>
                  <c:pt idx="0">
                    <c:v>5</c:v>
                  </c:pt>
                  <c:pt idx="1">
                    <c:v>10</c:v>
                  </c:pt>
                  <c:pt idx="2">
                    <c:v>15</c:v>
                  </c:pt>
                  <c:pt idx="3">
                    <c:v>20</c:v>
                  </c:pt>
                  <c:pt idx="4">
                    <c:v>30</c:v>
                  </c:pt>
                </c:lvl>
              </c:multiLvlStrCache>
            </c:multiLvlStrRef>
          </c:cat>
          <c:val>
            <c:numRef>
              <c:f>Sheet1!$B$2:$B$6</c:f>
              <c:numCache>
                <c:formatCode>General</c:formatCode>
                <c:ptCount val="5"/>
                <c:pt idx="0">
                  <c:v>2.39</c:v>
                </c:pt>
                <c:pt idx="1">
                  <c:v>3.03</c:v>
                </c:pt>
                <c:pt idx="2">
                  <c:v>4.05</c:v>
                </c:pt>
                <c:pt idx="3">
                  <c:v>4.82</c:v>
                </c:pt>
                <c:pt idx="4">
                  <c:v>6.52</c:v>
                </c:pt>
              </c:numCache>
            </c:numRef>
          </c:val>
          <c:smooth val="0"/>
        </c:ser>
        <c:ser>
          <c:idx val="1"/>
          <c:order val="1"/>
          <c:tx>
            <c:strRef>
              <c:f>Sheet1!$C$1</c:f>
              <c:strCache>
                <c:ptCount val="1"/>
                <c:pt idx="0">
                  <c:v>"Same as now"</c:v>
                </c:pt>
              </c:strCache>
            </c:strRef>
          </c:tx>
          <c:spPr>
            <a:solidFill>
              <a:srgbClr val="C2831A"/>
            </a:solidFill>
            <a:ln w="25400" cap="flat">
              <a:solidFill>
                <a:srgbClr val="C283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C2831A"/>
              </a:solidFill>
              <a:ln w="9525" cap="flat">
                <a:solidFill>
                  <a:srgbClr val="C2831A"/>
                </a:solidFill>
                <a:prstDash val="solid"/>
                <a:round/>
              </a:ln>
              <a:effectLst/>
            </c:spPr>
          </c:marker>
          <c:cat>
            <c:multiLvlStrRef>
              <c:f>Sheet1!$A$2:$A$6</c:f>
              <c:multiLvlStrCache>
                <c:ptCount val="5"/>
                <c:lvl>
                  <c:pt idx="0">
                    <c:v>5</c:v>
                  </c:pt>
                  <c:pt idx="1">
                    <c:v>10</c:v>
                  </c:pt>
                  <c:pt idx="2">
                    <c:v>15</c:v>
                  </c:pt>
                  <c:pt idx="3">
                    <c:v>20</c:v>
                  </c:pt>
                  <c:pt idx="4">
                    <c:v>30</c:v>
                  </c:pt>
                </c:lvl>
              </c:multiLvlStrCache>
            </c:multiLvlStrRef>
          </c:cat>
          <c:val>
            <c:numRef>
              <c:f>Sheet1!$C$2:$C$6</c:f>
              <c:numCache>
                <c:formatCode>General</c:formatCode>
                <c:ptCount val="5"/>
                <c:pt idx="0">
                  <c:v>3.39</c:v>
                </c:pt>
                <c:pt idx="1">
                  <c:v>4.63</c:v>
                </c:pt>
                <c:pt idx="2">
                  <c:v>6.24</c:v>
                </c:pt>
                <c:pt idx="3">
                  <c:v>7.59</c:v>
                </c:pt>
                <c:pt idx="4">
                  <c:v>10.31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A9A59C"/>
                    </a:solidFill>
                    <a:latin typeface="Arial"/>
                  </a:defRPr>
                </a:pPr>
                <a:r>
                  <a:rPr sz="1100" b="0" i="0" u="none" strike="noStrike">
                    <a:solidFill>
                      <a:srgbClr val="A9A59C"/>
                    </a:solidFill>
                    <a:latin typeface="Arial"/>
                  </a:rPr>
                  <a:t>minutes ahead</a:t>
                </a:r>
              </a:p>
            </c:rich>
          </c:tx>
          <c:layout/>
          <c:overlay val="0"/>
        </c:title>
        <c:numFmt formatCode="General" sourceLinked="1"/>
        <c:majorTickMark val="out"/>
        <c:minorTickMark val="none"/>
        <c:tickLblPos val="low"/>
        <c:spPr>
          <a:ln w="12700" cap="flat">
            <a:noFill/>
            <a:prstDash val="solid"/>
            <a:round/>
          </a:ln>
        </c:spPr>
        <c:txPr>
          <a:bodyPr/>
          <a:lstStyle/>
          <a:p>
            <a:pPr>
              <a:defRPr sz="1100" b="0" i="0" u="none" strike="noStrike">
                <a:solidFill>
                  <a:srgbClr val="A9A59C"/>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2A2D3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A9A59C"/>
                </a:solidFill>
                <a:latin typeface="Calibri"/>
              </a:defRPr>
            </a:pPr>
            <a:endParaRPr lang="en-US"/>
          </a:p>
        </c:txPr>
        <c:crossAx val="2094734554"/>
        <c:crosses val="autoZero"/>
        <c:crossBetween val="between"/>
      </c:valAx>
      <c:spPr>
        <a:solidFill>
          <a:srgbClr val="1C1E21"/>
        </a:solidFill>
        <a:ln>
          <a:noFill/>
        </a:ln>
        <a:effectLst/>
      </c:spPr>
    </c:plotArea>
    <c:legend>
      <c:legendPos val="t"/>
      <c:overlay val="0"/>
      <c:txPr>
        <a:bodyPr/>
        <a:lstStyle/>
        <a:p>
          <a:pPr>
            <a:defRPr sz="1200">
              <a:solidFill>
                <a:srgbClr val="F1EEE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0:15 (15 s). Speaker: Amal. Good morning. We are team PariVision from Webster University in Tashkent: Amal Karimov, Komronbek Qodirov, Aziza Adizova. Our mode is Startup (say it out loud, the rules ask for it). OQIM turns cameras that already watch car parks and roads into counts: free spaces, cars in and out, vehicles past a billboard. The main product is a parking tracker. On the right: a real car park at 09:04, 55 free spaces of 260. Today we show four live pages in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to 0:50 (35 s). Speaker: Amal. A driver picks a car park by distance or habit and finds out it is full at the gate. Then they drive on to the next one, and while they search, that car is part of the traffic. INRIX found US drivers spend 17 hours a year searching for parking. Parkopedia says only about 5% of off-street car parks publish live free spaces. In Tashkent, Poytaxt Parking plans paid parking on 86 streets with 13,208 spaces, first come, first served. Where drivers are shown the space, it works: SFpark cut cruising by 50% on its pilot blocks. Our user is the driver. Three customers pay: car park operators, the city, and outdoor advertising companies, who need counted traffic past each billboard. Hand over to Komronbek for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to 2:00 (70 s). Speaker: Komronbek. LIVE DEMO 1 of 4, about 1:00 in the browser. CLICK: switch to the browser, tab 1, https://oqim-audit.vercel.app/tracker (opened before the talk). Press Play if it stopped; it restarts at 06:55. SAY: These are 3 real car park cameras from the PKLot dataset, one morning each, replayed on one clock. Every space is free or taken from the camera frame. Orange flash: a car came in. White: a car left. The number top right is the free spaces now. CLICK "Labelled spaces", then "Whole car park": the dataset labels only part of each car park; the dashed spaces are the ones the tracker found itself, wherever a car stays 20 minutes. That adds 198 spaces. CLICK: drag the time slider to about 10:13, press Pause. SAY: Ask now: the right panel tells one driver where to go, with the free spaces forecast for the minute they arrive. At 10:13 it says: drive to PUCPR, about 23 spaces free when you get there. With 40 drivers, every navigator sends all of them to PUCPR and 17 find it full; OQIM places them one by one, counting the drivers already sent (PUCPR 27, UFPR05 3, UFPR04 10), and 4 find it full. CLICK: leave the Drivers slider at 40, point at the two boxes. Back to the slides. If the internet is slow, stay on this slide: the screenshots are the same page at 10:13.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to 2:30 (30 s). Speaker: Komronbek. How well it works, against the dataset's hand labels. Over 112 frames, 98.8% of 6,844 space readings are right. The free count is off by a median of 1 space, 4 at the 90th percentile. The whole car park: 198 spaces found outside the 168 labelled ones; on the labelled part, the same method finds 139 of the 142 spaces cars used, which is how we know it works. The forecast 10 minutes ahead is off by 3.0 spaces against 4.6 for "same as now", over 101 forecasts, and it stays better at every horizon on the chart. Say clearly: these are recorded mornings of a public dataset, not a live feed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to 3:00 (30 s). Speaker: Komronbek. One pipeline for every page. A frame from an ordinary fixed camera, one every 5 minutes on PKLot. YOLO26m on the tracker frames, and the 10 MB YOLO26n in the browser, find cars, buses and trucks on the whole frame and on 3 by 3 tiles at 960 pixels, so small cars at the back are not missed. A space is taken when one box covers 40% of it, and it changes state only when two frames in a row agree, which removes most flicker. From the states we get the free count and every car in and out. The forecast adds the trend: half from the last 20 minutes, half from the car park's typical weekday. The advice places drivers one by one. Everything runs in ONNX Runtime Web on WebGPU or WebAssembly: no GPU server, no plates or faces read. Hand over to Aziza.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to 3:35 (35 s). Speaker: Aziza. LIVE DEMO 2 of 4, about 0:30 in the browser. CLICK (Komronbek): tab 2, https://oqim-audit.vercel.app/parking. Press "Choose a photo" and pick the car park photo saved on the desktop. Wait a few seconds; the status line says how many detector runs it made and how long they took, on this laptop. SAY (Aziza): A new car park should not need anyone to draw every space by hand. From one photo, every car is a taken space and every gap in a row of cars that fits a car is a suggested free space. The far rows are read again on 5 by 5 tiles, each enlarged. Click a space to remove it, or 4 corners to add one. Be honest about the numbers: on 336 PKLot images it finds 88% of the taken spaces, and 84% of the free spaces it suggests are free, but its settings were picked on those same images. The held-out number is for marked spaces: 97.4% on 240 images it never saw. It suggests only 12% of all free spaces: an empty row has no cars to line up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 to 4:15 (40 s). Speaker: Aziza. LIVE DEMO 3 of 4, about 0:35 in the browser. CLICK (Komronbek): tab 3, https://oqim-audit.vercel.app/city (opened before; the map and live data need the internet). SAY (Aziza): One car park is not enough to advise a driver, so here is a whole district with live open data: Kwun Tong in Hong Kong. 22 Transport Department cameras, counted by YOLO26m; the road colours come from those counts. The circles are car parks with their live free spaces. CLICK "Everyone to the nearest car park", then "OQIM: spread by cost", and point at the table: arrive to a full car park, door to door, vehicle-km. SAY: the nearest car park is what a navigator does; OQIM counts the drivers it already sent. On the slide is our snapshot at 13:45 Hong Kong time, 11 October: 60 of 60 drivers to a full car park against 5, door to door 15.5 against 12.7 minutes, vehicle-km 305 against 181. The live numbers now will be different, because the car parks are live. The drivers are simulated; the camera counts and free spaces are real. If there is time, scroll down to the camera wall: every box is a vehicle the detector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 to 4:50 (35 s). Speaker: Aziza. LIVE DEMO 4 of 4, about 0:25 in the browser. CLICK (Komronbek): tab 4, https://oqim-audit.vercel.app/banner, where sample C3896 was counted before the talk (it takes a few minutes; do not reload the tab). Press play on the video. SAY (Aziza): New in the final: the same detector and tracker count the traffic past a billboard. Draw one line across the road in front of it; every vehicle is counted once when it crosses: cars, buses, trucks, motorcycles, each way, minute by minute. Each counted vehicle turns green on the video, so anyone can check the count by eye. CLICK "Save to the billboard's log". SAY: the log builds the statistics place by place and hour by hour; that is what an outdoor advertising company sells to advertisers. To check it, we ran the browser count against our heavier offline pipeline on the same line: C3896 at midday, 130 against 130; C3905 at dusk, 55 against 59; 185 against 189 in all, 97.9%. That is two models agreeing, not a hand count; a hand count is still to do. The daily figure on the page assumes every hour is like this one, and the page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 to 5:20 (30 s). Speaker: Aziza. The next stage, in one slide. Cameras that watch car parks and streets can also watch junctions. The signal audit reads the lights from the pixels, counts every vehicle over the stop line, and replays the junction's own vehicles to check a signal plan before anyone recommends it. On 4 clips of one Tashkent junction the replay gives back when each vehicle left within 0.29 to 0.55 seconds on 3 clips; C3905 is too short and fails the check, and the page says so. The textbook Webster plan was worse than the timing now on 4 of 4 clips, for example 29.7 s against 10.0 s on C3897. The green wave on Amir Temur Avenue is a simulation: mean delay 141 s down to 24 s, stops per vehicle 4.58 down to 0.60. Road damage from phone photos: mAP50 0.66 on a 300-image sample. Hand over to Amal.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 to 6:25 (65 s). Speaker: Amal. All numbers here are assumptions to check with the customer, and the slide says so. Three customers. Car park operators: free spaces now and on arrival, and drivers sent to the car park with room; priced per camera per month, set in the pilot; the value is extra spaces filled times hours times the tariff, plus drivers no longer turned away. The city: less searching traffic, counted in vehicle-km, and later the signal audit on the same cameras. Outdoor advertising companies: counted traffic past each billboard, by type, direction and hour, priced per billboard per month. Costs: the pilot is 3 months with one operator on its own cameras; 3 engineers part time are the main cost; hosting is static, free to USD 20 a month, no GPU server, no sensors in the ground. Payback is price divided by value a month: we state it from the pilot inputs, not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6:25 to 7:00 (35 s). Speaker: Amal. We are Amal Karimov, captain. scene layout and the signal and vehicle rules; Komronbek Qodirov, pipeline, live demo and website; Aziza Adizova, dev set, pedestrian rules and report. Our ask: a 3-month pilot with one car park operator on its own cameras; one outdoor advertising company to test the billboard counter on its sites; and frames from live cameras in Tashkent, to replace the recorded mornings. Next steps: a night test set of our own, because PKLot has no night frames; a hand count for the billboard counter; then the same cameras time the lights. Thank you; we are ready for questions. (Backup slides 12 to 17 answer the likely questions: accuracy, measured against simulated, privacy and limits, cost and speed, Tashkent, reused against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If asked how accurate it is: the fair number is 97.4% of 13,447 spaces on 240 held-out PKLot images; the rule was picked on 96 other images. The tracker gets 98.8% on its 112 frames with the same rule. The photo suggestion numbers (88% and 84%) were picked on the same 336 images, so they are a sanity check, not a test. The billboard counter agrees with our offline pipeline on 97.9% of vehicles; there is no hand count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If asked what is real: every count comes from real frames, photos or video; the drivers and the corridor traffic are simulated, and the pages label them. The tracker replays recorded mornings of PKLot, not a live feed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Privacy: boxes only, no plates or faces; the photo or video never leaves the browser tab. Night is not measured, and we say it. Rain is measured: 96.1% on 62 rainy held-out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B4. If asked about cost: there is no GPU server. The detector runs in the browser with ONNX Runtime Web on WebGPU or WebAssembly, so the server cost per audit is zero and the site is static files. Speed from the README: about a minute per minute of 1080p video on our M5 laptop with WebGPU. A car park needs one image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 Tashkent: Poytaxt Parking plans 13,208 paid spaces on 86 streets, first come, first served, so a driver cannot see a free space before driving there. The city has about 1,000 signalised junctions, 125 connected to adaptive control and 545 planned for 2026; the rest have no measurement, which our audit gives from video. The Tashkent road graph is already in the app: 309 signalised junctions and about 519 km of road from OpenStreetMap. Scaling is per camera, with no GPU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B6. If asked what is new: the detector, worker, tracker port, video conversion and site design come from our elimination system, and we declare it in the README. Everything product-side was built in the final: the tracker, the parking page and its test, the district model, the billboard counter, the signal audit and corridor.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QIM 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463040" y="658368"/>
            <a:ext cx="7315200" cy="365760"/>
          </a:xfrm>
          <a:prstGeom prst="rect">
            <a:avLst/>
          </a:prstGeom>
          <a:noFill/>
          <a:ln/>
        </p:spPr>
        <p:txBody>
          <a:bodyPr wrap="square" rtlCol="0"/>
          <a:lstStyle>
            <a:lvl1pPr indent="0" marL="0">
              <a:buNone/>
              <a:defRPr lang="en-US" sz="1300" b="1" spc="300" kern="0" dirty="0">
                <a:solidFill>
                  <a:schemeClr val="accent1"/>
                </a:solidFill>
                <a:latin typeface="Arial" pitchFamily="34" charset="0"/>
                <a:ea typeface="Arial" pitchFamily="34" charset="-122"/>
                <a:cs typeface="Arial" pitchFamily="34" charset="-120"/>
              </a:defRPr>
            </a:lvl1pPr>
          </a:lstStyle>
          <a:p>
            <a:pPr indent="0" marL="0">
              <a:buNone/>
            </a:pPr>
            <a:endParaRPr lang="en-US" sz="1300" dirty="0"/>
          </a:p>
        </p:txBody>
      </p:sp>
      <p:sp>
        <p:nvSpPr>
          <p:cNvPr id="3" name="Text 0"/>
          <p:cNvSpPr/>
          <p:nvPr>
            <p:ph idx="101" type="title" hasCustomPrompt="1"/>
          </p:nvPr>
        </p:nvSpPr>
        <p:spPr>
          <a:xfrm>
            <a:off x="548640" y="1188720"/>
            <a:ext cx="5486400" cy="1417320"/>
          </a:xfrm>
          <a:prstGeom prst="rect">
            <a:avLst/>
          </a:prstGeom>
          <a:noFill/>
          <a:ln/>
        </p:spPr>
        <p:txBody>
          <a:bodyPr wrap="square" rtlCol="0"/>
          <a:lstStyle>
            <a:lvl1pPr algn="l" indent="0" marL="0">
              <a:buNone/>
              <a:defRPr lang="en-US" sz="9600" b="1" dirty="0">
                <a:solidFill>
                  <a:schemeClr val="tx1"/>
                </a:solidFill>
                <a:latin typeface="Arial" pitchFamily="34" charset="0"/>
                <a:ea typeface="Arial" pitchFamily="34" charset="-122"/>
                <a:cs typeface="Arial" pitchFamily="34" charset="-120"/>
              </a:defRPr>
            </a:lvl1pPr>
          </a:lstStyle>
          <a:p>
            <a:pPr algn="l" indent="0" marL="0">
              <a:buNone/>
            </a:pPr>
            <a:endParaRPr lang="en-US" sz="9600" dirty="0"/>
          </a:p>
        </p:txBody>
      </p:sp>
      <p:sp>
        <p:nvSpPr>
          <p:cNvPr id="4" name="Text 0"/>
          <p:cNvSpPr/>
          <p:nvPr>
            <p:ph idx="102" type="body" hasCustomPrompt="1"/>
          </p:nvPr>
        </p:nvSpPr>
        <p:spPr>
          <a:xfrm>
            <a:off x="548640" y="2651760"/>
            <a:ext cx="5486400" cy="914400"/>
          </a:xfrm>
          <a:prstGeom prst="rect">
            <a:avLst/>
          </a:prstGeom>
          <a:noFill/>
          <a:ln/>
        </p:spPr>
        <p:txBody>
          <a:bodyPr wrap="square" rtlCol="0"/>
          <a:lstStyle>
            <a:lvl1pPr algn="l" indent="0" marL="0">
              <a:buNone/>
              <a:defRPr lang="en-US" sz="2600" b="1" dirty="0">
                <a:solidFill>
                  <a:schemeClr val="tx1"/>
                </a:solidFill>
                <a:latin typeface="Arial" pitchFamily="34" charset="0"/>
                <a:ea typeface="Arial" pitchFamily="34" charset="-122"/>
                <a:cs typeface="Arial" pitchFamily="34" charset="-120"/>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QIM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444752" y="310896"/>
            <a:ext cx="9601200" cy="310896"/>
          </a:xfrm>
          <a:prstGeom prst="rect">
            <a:avLst/>
          </a:prstGeom>
          <a:noFill/>
          <a:ln/>
        </p:spPr>
        <p:txBody>
          <a:bodyPr wrap="square" rtlCol="0"/>
          <a:lstStyle>
            <a:lvl1pPr indent="0" marL="0">
              <a:buNone/>
              <a:defRPr lang="en-US" sz="1200" b="1" spc="300" kern="0" dirty="0">
                <a:solidFill>
                  <a:schemeClr val="accent1"/>
                </a:solidFill>
                <a:latin typeface="Arial" pitchFamily="34" charset="0"/>
                <a:ea typeface="Arial" pitchFamily="34" charset="-122"/>
                <a:cs typeface="Arial" pitchFamily="34" charset="-120"/>
              </a:defRPr>
            </a:lvl1pPr>
          </a:lstStyle>
          <a:p>
            <a:pPr indent="0" marL="0">
              <a:buNone/>
            </a:pPr>
            <a:endParaRPr lang="en-US" sz="1200" dirty="0"/>
          </a:p>
        </p:txBody>
      </p:sp>
      <p:sp>
        <p:nvSpPr>
          <p:cNvPr id="3" name="Text 0"/>
          <p:cNvSpPr/>
          <p:nvPr>
            <p:ph idx="101" type="title" hasCustomPrompt="1"/>
          </p:nvPr>
        </p:nvSpPr>
        <p:spPr>
          <a:xfrm>
            <a:off x="548640" y="713232"/>
            <a:ext cx="11094415" cy="731520"/>
          </a:xfrm>
          <a:prstGeom prst="rect">
            <a:avLst/>
          </a:prstGeom>
          <a:noFill/>
          <a:ln/>
        </p:spPr>
        <p:txBody>
          <a:bodyPr wrap="square" rtlCol="0"/>
          <a:lstStyle>
            <a:lvl1pPr algn="l" indent="0" marL="0">
              <a:buNone/>
              <a:defRPr lang="en-US" sz="3600" b="1" dirty="0">
                <a:solidFill>
                  <a:schemeClr val="tx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4" name="Text 0"/>
          <p:cNvSpPr/>
          <p:nvPr/>
        </p:nvSpPr>
        <p:spPr>
          <a:xfrm>
            <a:off x="548640" y="6400800"/>
            <a:ext cx="8686800" cy="274320"/>
          </a:xfrm>
          <a:prstGeom prst="rect">
            <a:avLst/>
          </a:prstGeom>
          <a:noFill/>
          <a:ln/>
        </p:spPr>
        <p:txBody>
          <a:bodyPr wrap="square" lIns="0" tIns="0" rIns="0" bIns="0" rtlCol="0" anchor="ctr"/>
          <a:lstStyle/>
          <a:p>
            <a:pPr indent="0" marL="0">
              <a:buNone/>
            </a:pPr>
            <a:r>
              <a:rPr lang="en-US" sz="1000" dirty="0">
                <a:solidFill>
                  <a:schemeClr val="tx2"/>
                </a:solidFill>
                <a:latin typeface="Calibri" pitchFamily="34" charset="0"/>
                <a:ea typeface="Calibri" pitchFamily="34" charset="-122"/>
                <a:cs typeface="Calibri" pitchFamily="34" charset="-120"/>
              </a:rPr>
              <a:t>OQIM  ·  Team PariVision  ·  WIUT Hackathon 2026, Computer Vision final  ·  Mode: Startup</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oqim-audit.vercel.app/tracker" TargetMode="External"/><Relationship Id="rId2" Type="http://schemas.openxmlformats.org/officeDocument/2006/relationships/hyperlink" Target="https://github.com/baytoooo/oqim" TargetMode="External"/><Relationship Id="rId3" Type="http://schemas.openxmlformats.org/officeDocument/2006/relationships/image" Target="../media/image-1-1.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oqim-audit.vercel.app/tracker" TargetMode="External"/><Relationship Id="rId1"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oqim-audit.vercel.app/tracker" TargetMode="External"/><Relationship Id="rId2" Type="http://schemas.openxmlformats.org/officeDocument/2006/relationships/hyperlink" Target="https://github.com/baytoooo/oqim" TargetMode="Externa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ignal lamps housing"/>
          <p:cNvSpPr/>
          <p:nvPr/>
        </p:nvSpPr>
        <p:spPr>
          <a:xfrm>
            <a:off x="548640" y="685800"/>
            <a:ext cx="896112" cy="347472"/>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40080" y="768096"/>
            <a:ext cx="182880" cy="182880"/>
          </a:xfrm>
          <a:prstGeom prst="ellipse">
            <a:avLst/>
          </a:prstGeom>
          <a:solidFill>
            <a:schemeClr val="accent2"/>
          </a:solidFill>
          <a:ln/>
        </p:spPr>
      </p:sp>
      <p:sp>
        <p:nvSpPr>
          <p:cNvPr id="4" name="Signal lamps lamp 2"/>
          <p:cNvSpPr/>
          <p:nvPr/>
        </p:nvSpPr>
        <p:spPr>
          <a:xfrm>
            <a:off x="905256" y="768096"/>
            <a:ext cx="182880" cy="182880"/>
          </a:xfrm>
          <a:prstGeom prst="ellipse">
            <a:avLst/>
          </a:prstGeom>
          <a:solidFill>
            <a:schemeClr val="accent3"/>
          </a:solidFill>
          <a:ln/>
        </p:spPr>
      </p:sp>
      <p:sp>
        <p:nvSpPr>
          <p:cNvPr id="5" name="Signal lamps lamp 3"/>
          <p:cNvSpPr/>
          <p:nvPr/>
        </p:nvSpPr>
        <p:spPr>
          <a:xfrm>
            <a:off x="1170432" y="768096"/>
            <a:ext cx="182880" cy="182880"/>
          </a:xfrm>
          <a:prstGeom prst="ellipse">
            <a:avLst/>
          </a:prstGeom>
          <a:solidFill>
            <a:schemeClr val="accent4"/>
          </a:solidFill>
          <a:ln/>
        </p:spPr>
      </p:sp>
      <p:sp>
        <p:nvSpPr>
          <p:cNvPr id="6" name="Text 0"/>
          <p:cNvSpPr/>
          <p:nvPr>
            <p:ph idx="100" type="body" hasCustomPrompt="1"/>
          </p:nvPr>
        </p:nvSpPr>
        <p:spPr>
          <a:xfrm>
            <a:off x="1463040" y="658368"/>
            <a:ext cx="7315200" cy="365760"/>
          </a:xfrm>
          <a:prstGeom prst="rect">
            <a:avLst/>
          </a:prstGeom>
          <a:noFill/>
          <a:ln/>
        </p:spPr>
        <p:txBody>
          <a:bodyPr wrap="square" lIns="0" tIns="0" rIns="0" bIns="0" rtlCol="0" anchor="ctr"/>
          <a:lstStyle/>
          <a:p>
            <a:pPr indent="0" marL="0">
              <a:buNone/>
            </a:pPr>
            <a:r>
              <a:rPr lang="en-US" sz="1300" b="1" spc="300" kern="0" dirty="0">
                <a:solidFill>
                  <a:schemeClr val="accent1"/>
                </a:solidFill>
                <a:latin typeface="Arial" pitchFamily="34" charset="0"/>
                <a:ea typeface="Arial" pitchFamily="34" charset="-122"/>
                <a:cs typeface="Arial" pitchFamily="34" charset="-120"/>
              </a:rPr>
              <a:t>WIUT HACKATHON 2026  ·  COMPUTER VISION FINAL</a:t>
            </a:r>
            <a:endParaRPr lang="en-US" sz="1300" dirty="0"/>
          </a:p>
        </p:txBody>
      </p:sp>
      <p:sp>
        <p:nvSpPr>
          <p:cNvPr id="7" name="Text 0"/>
          <p:cNvSpPr/>
          <p:nvPr>
            <p:ph idx="101" type="title" hasCustomPrompt="1"/>
          </p:nvPr>
        </p:nvSpPr>
        <p:spPr>
          <a:xfrm>
            <a:off x="548640" y="1188720"/>
            <a:ext cx="5486400" cy="1417320"/>
          </a:xfrm>
          <a:prstGeom prst="rect">
            <a:avLst/>
          </a:prstGeom>
          <a:noFill/>
          <a:ln/>
        </p:spPr>
        <p:txBody>
          <a:bodyPr wrap="square" lIns="0" tIns="0" rIns="0" bIns="0" rtlCol="0" anchor="ctr"/>
          <a:lstStyle/>
          <a:p>
            <a:pPr algn="l" indent="0" marL="0">
              <a:buNone/>
            </a:pPr>
            <a:r>
              <a:rPr lang="en-US" sz="9600" b="1" dirty="0">
                <a:solidFill>
                  <a:schemeClr val="tx1"/>
                </a:solidFill>
                <a:latin typeface="Arial" pitchFamily="34" charset="0"/>
                <a:ea typeface="Arial" pitchFamily="34" charset="-122"/>
                <a:cs typeface="Arial" pitchFamily="34" charset="-120"/>
              </a:rPr>
              <a:t>OQIM</a:t>
            </a:r>
            <a:endParaRPr lang="en-US" sz="9600" dirty="0"/>
          </a:p>
        </p:txBody>
      </p:sp>
      <p:sp>
        <p:nvSpPr>
          <p:cNvPr id="8" name="Text 0"/>
          <p:cNvSpPr/>
          <p:nvPr>
            <p:ph idx="102" type="body" hasCustomPrompt="1"/>
          </p:nvPr>
        </p:nvSpPr>
        <p:spPr>
          <a:xfrm>
            <a:off x="548640" y="2651760"/>
            <a:ext cx="5486400" cy="91440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A parking tracker</a:t>
            </a:r>
            <a:endParaRPr lang="en-US" sz="2600" dirty="0"/>
          </a:p>
          <a:p>
            <a:pPr algn="l" indent="0" marL="0">
              <a:buNone/>
            </a:pPr>
            <a:r>
              <a:rPr lang="en-US" sz="2600" b="1" dirty="0">
                <a:solidFill>
                  <a:schemeClr val="tx1"/>
                </a:solidFill>
                <a:latin typeface="Arial" pitchFamily="34" charset="0"/>
                <a:ea typeface="Arial" pitchFamily="34" charset="-122"/>
                <a:cs typeface="Arial" pitchFamily="34" charset="-120"/>
              </a:rPr>
              <a:t>from car park cameras</a:t>
            </a:r>
            <a:endParaRPr lang="en-US" sz="2600" dirty="0"/>
          </a:p>
        </p:txBody>
      </p:sp>
      <p:sp>
        <p:nvSpPr>
          <p:cNvPr id="9" name="Mode badge"/>
          <p:cNvSpPr/>
          <p:nvPr/>
        </p:nvSpPr>
        <p:spPr>
          <a:xfrm>
            <a:off x="548640" y="3703320"/>
            <a:ext cx="2743200" cy="566928"/>
          </a:xfrm>
          <a:prstGeom prst="roundRect">
            <a:avLst>
              <a:gd name="adj" fmla="val 19355"/>
            </a:avLst>
          </a:prstGeom>
          <a:solidFill>
            <a:schemeClr val="accent1"/>
          </a:solidFill>
          <a:ln/>
        </p:spPr>
        <p:txBody>
          <a:bodyPr wrap="square" lIns="0" tIns="0" rIns="0" bIns="0" rtlCol="0" anchor="ctr"/>
          <a:lstStyle/>
          <a:p>
            <a:pPr algn="ctr" indent="0" marL="0">
              <a:buNone/>
            </a:pPr>
            <a:r>
              <a:rPr lang="en-US" sz="2200" b="1" spc="200" kern="0" dirty="0">
                <a:solidFill>
                  <a:schemeClr val="bg1"/>
                </a:solidFill>
                <a:latin typeface="Arial" pitchFamily="34" charset="0"/>
                <a:ea typeface="Arial" pitchFamily="34" charset="-122"/>
                <a:cs typeface="Arial" pitchFamily="34" charset="-120"/>
              </a:rPr>
              <a:t>MODE: STARTUP</a:t>
            </a:r>
            <a:endParaRPr lang="en-US" sz="2200" dirty="0"/>
          </a:p>
        </p:txBody>
      </p:sp>
      <p:sp>
        <p:nvSpPr>
          <p:cNvPr id="10" name="Team"/>
          <p:cNvSpPr txBox="1"/>
          <p:nvPr/>
        </p:nvSpPr>
        <p:spPr>
          <a:xfrm>
            <a:off x="548640" y="4526280"/>
            <a:ext cx="5486400" cy="960120"/>
          </a:xfrm>
          <a:prstGeom prst="rect">
            <a:avLst/>
          </a:prstGeom>
          <a:noFill/>
          <a:ln/>
        </p:spPr>
        <p:txBody>
          <a:bodyPr wrap="square" lIns="0" tIns="0" rIns="0" bIns="0" rtlCol="0" anchor="t"/>
          <a:lstStyle/>
          <a:p>
            <a:pPr indent="0" marL="0">
              <a:spcAft>
                <a:spcPts val="200"/>
              </a:spcAft>
              <a:buNone/>
            </a:pPr>
            <a:r>
              <a:rPr lang="en-US" sz="1800" b="1" dirty="0">
                <a:solidFill>
                  <a:schemeClr val="tx1"/>
                </a:solidFill>
                <a:latin typeface="Calibri" pitchFamily="34" charset="0"/>
                <a:ea typeface="Calibri" pitchFamily="34" charset="-122"/>
                <a:cs typeface="Calibri" pitchFamily="34" charset="-120"/>
              </a:rPr>
              <a:t>Team PariVision</a:t>
            </a:r>
            <a:endParaRPr lang="en-US" sz="1300" dirty="0"/>
          </a:p>
          <a:p>
            <a:pPr indent="0" marL="0">
              <a:spcAft>
                <a:spcPts val="200"/>
              </a:spcAft>
              <a:buNone/>
            </a:pPr>
            <a:r>
              <a:rPr lang="en-US" sz="1600" dirty="0">
                <a:solidFill>
                  <a:schemeClr val="tx1"/>
                </a:solidFill>
                <a:latin typeface="Calibri" pitchFamily="34" charset="0"/>
                <a:ea typeface="Calibri" pitchFamily="34" charset="-122"/>
                <a:cs typeface="Calibri" pitchFamily="34" charset="-120"/>
              </a:rPr>
              <a:t>Amal Karimov, Komronbek Qodirov, Aziza Adizova</a:t>
            </a:r>
            <a:endParaRPr lang="en-US" sz="1300" dirty="0"/>
          </a:p>
          <a:p>
            <a:pPr indent="0" marL="0">
              <a:spcAft>
                <a:spcPts val="200"/>
              </a:spcAft>
              <a:buNone/>
            </a:pPr>
            <a:r>
              <a:rPr lang="en-US" sz="1600" dirty="0">
                <a:solidFill>
                  <a:schemeClr val="tx2"/>
                </a:solidFill>
                <a:latin typeface="Calibri" pitchFamily="34" charset="0"/>
                <a:ea typeface="Calibri" pitchFamily="34" charset="-122"/>
                <a:cs typeface="Calibri" pitchFamily="34" charset="-120"/>
              </a:rPr>
              <a:t>Webster University in Tashkent</a:t>
            </a:r>
            <a:endParaRPr lang="en-US" sz="1300" dirty="0"/>
          </a:p>
        </p:txBody>
      </p:sp>
      <p:sp>
        <p:nvSpPr>
          <p:cNvPr id="11" name="Links"/>
          <p:cNvSpPr txBox="1"/>
          <p:nvPr/>
        </p:nvSpPr>
        <p:spPr>
          <a:xfrm>
            <a:off x="548640" y="5623560"/>
            <a:ext cx="5486400" cy="640080"/>
          </a:xfrm>
          <a:prstGeom prst="rect">
            <a:avLst/>
          </a:prstGeom>
          <a:noFill/>
          <a:ln/>
        </p:spPr>
        <p:txBody>
          <a:bodyPr wrap="square" lIns="0" tIns="0" rIns="0" bIns="0" rtlCol="0" anchor="t"/>
          <a:lstStyle/>
          <a:p>
            <a:pPr indent="0" marL="0">
              <a:spcAft>
                <a:spcPts val="400"/>
              </a:spcAft>
              <a:buNone/>
            </a:pPr>
            <a:r>
              <a:rPr lang="en-US" sz="1500" dirty="0">
                <a:solidFill>
                  <a:schemeClr val="tx2"/>
                </a:solidFill>
                <a:latin typeface="Calibri" pitchFamily="34" charset="0"/>
                <a:ea typeface="Calibri" pitchFamily="34" charset="-122"/>
                <a:cs typeface="Calibri" pitchFamily="34" charset="-120"/>
              </a:rPr>
              <a:t>Live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https://oqim-audit.vercel.app/tracker</a:t>
            </a:r>
            <a:endParaRPr lang="en-US" sz="1500" dirty="0"/>
          </a:p>
          <a:p>
            <a:pPr indent="0" marL="0">
              <a:spcAft>
                <a:spcPts val="400"/>
              </a:spcAft>
              <a:buNone/>
            </a:pPr>
            <a:r>
              <a:rPr lang="en-US" sz="1500" dirty="0">
                <a:solidFill>
                  <a:schemeClr val="tx2"/>
                </a:solidFill>
                <a:latin typeface="Calibri" pitchFamily="34" charset="0"/>
                <a:ea typeface="Calibri" pitchFamily="34" charset="-122"/>
                <a:cs typeface="Calibri" pitchFamily="34" charset="-120"/>
              </a:rPr>
              <a:t>Code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https://github.com/baytoooo/oqim</a:t>
            </a:r>
            <a:endParaRPr lang="en-US" sz="1500" dirty="0"/>
          </a:p>
        </p:txBody>
      </p:sp>
      <p:sp>
        <p:nvSpPr>
          <p:cNvPr id="12" name="Frame panel"/>
          <p:cNvSpPr/>
          <p:nvPr/>
        </p:nvSpPr>
        <p:spPr>
          <a:xfrm>
            <a:off x="6263640" y="1143000"/>
            <a:ext cx="5376672" cy="3136392"/>
          </a:xfrm>
          <a:prstGeom prst="roundRect">
            <a:avLst>
              <a:gd name="adj" fmla="val 2332"/>
            </a:avLst>
          </a:prstGeom>
          <a:solidFill>
            <a:schemeClr val="bg2"/>
          </a:solidFill>
          <a:ln w="9525">
            <a:solidFill>
              <a:schemeClr val="accent5"/>
            </a:solidFill>
            <a:prstDash val="solid"/>
          </a:ln>
        </p:spPr>
      </p:sp>
      <p:pic>
        <p:nvPicPr>
          <p:cNvPr id="13" name="Car park frame" descr="PKLot camera frame of the PUCPR car park with every space marked free or taken">    </p:cNvPr>
          <p:cNvPicPr>
            <a:picLocks noChangeAspect="1"/>
          </p:cNvPicPr>
          <p:nvPr/>
        </p:nvPicPr>
        <p:blipFill>
          <a:blip r:embed="rId3"/>
          <a:srcRect l="0" r="0" t="0" b="0"/>
          <a:stretch/>
        </p:blipFill>
        <p:spPr>
          <a:xfrm>
            <a:off x="6327648" y="1207008"/>
            <a:ext cx="5248656" cy="3008376"/>
          </a:xfrm>
          <a:prstGeom prst="rect">
            <a:avLst/>
          </a:prstGeom>
        </p:spPr>
      </p:pic>
      <p:sp>
        <p:nvSpPr>
          <p:cNvPr id="14" name="Frame caption"/>
          <p:cNvSpPr txBox="1"/>
          <p:nvPr/>
        </p:nvSpPr>
        <p:spPr>
          <a:xfrm>
            <a:off x="6263640" y="4389120"/>
            <a:ext cx="5376672" cy="502920"/>
          </a:xfrm>
          <a:prstGeom prst="rect">
            <a:avLst/>
          </a:prstGeom>
          <a:noFill/>
          <a:ln/>
        </p:spPr>
        <p:txBody>
          <a:bodyPr wrap="square" lIns="0" tIns="0" rIns="0" bIns="0" rtlCol="0" anchor="t"/>
          <a:lstStyle/>
          <a:p>
            <a:pPr indent="0" marL="0">
              <a:spcAft>
                <a:spcPts val="400"/>
              </a:spcAft>
              <a:buNone/>
            </a:pPr>
            <a:r>
              <a:rPr lang="en-US" sz="1100" dirty="0">
                <a:solidFill>
                  <a:schemeClr val="tx2"/>
                </a:solidFill>
                <a:latin typeface="Calibri" pitchFamily="34" charset="0"/>
                <a:ea typeface="Calibri" pitchFamily="34" charset="-122"/>
                <a:cs typeface="Calibri" pitchFamily="34" charset="-120"/>
              </a:rPr>
              <a:t>The PUCPR car park camera at 09:04 on 17 October 2012 (PKLot dataset). Green: free, red: taken, as our detector read the frame; dashed: spaces the camera found outside the hand labels.</a:t>
            </a:r>
            <a:endParaRPr lang="en-US" sz="1100" dirty="0"/>
          </a:p>
        </p:txBody>
      </p:sp>
      <p:sp>
        <p:nvSpPr>
          <p:cNvPr id="15" name="Frame chip 1"/>
          <p:cNvSpPr/>
          <p:nvPr/>
        </p:nvSpPr>
        <p:spPr>
          <a:xfrm>
            <a:off x="6263640" y="5074920"/>
            <a:ext cx="109728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accent1"/>
                </a:solidFill>
                <a:latin typeface="Arial" pitchFamily="34" charset="0"/>
                <a:ea typeface="Arial" pitchFamily="34" charset="-122"/>
                <a:cs typeface="Arial" pitchFamily="34" charset="-120"/>
              </a:rPr>
              <a:t>PUCPR</a:t>
            </a:r>
            <a:endParaRPr lang="en-US" sz="1300" dirty="0"/>
          </a:p>
        </p:txBody>
      </p:sp>
      <p:sp>
        <p:nvSpPr>
          <p:cNvPr id="16" name="Frame chip 2"/>
          <p:cNvSpPr/>
          <p:nvPr/>
        </p:nvSpPr>
        <p:spPr>
          <a:xfrm>
            <a:off x="7498080" y="5074920"/>
            <a:ext cx="91440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tx1"/>
                </a:solidFill>
                <a:latin typeface="Arial" pitchFamily="34" charset="0"/>
                <a:ea typeface="Arial" pitchFamily="34" charset="-122"/>
                <a:cs typeface="Arial" pitchFamily="34" charset="-120"/>
              </a:rPr>
              <a:t>09:04</a:t>
            </a:r>
            <a:endParaRPr lang="en-US" sz="1300" dirty="0"/>
          </a:p>
        </p:txBody>
      </p:sp>
      <p:sp>
        <p:nvSpPr>
          <p:cNvPr id="17" name="Frame chip 3"/>
          <p:cNvSpPr/>
          <p:nvPr/>
        </p:nvSpPr>
        <p:spPr>
          <a:xfrm>
            <a:off x="8549640" y="5074920"/>
            <a:ext cx="182880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tx1"/>
                </a:solidFill>
                <a:latin typeface="Arial" pitchFamily="34" charset="0"/>
                <a:ea typeface="Arial" pitchFamily="34" charset="-122"/>
                <a:cs typeface="Arial" pitchFamily="34" charset="-120"/>
              </a:rPr>
              <a:t>55 free of 260</a:t>
            </a:r>
            <a:endParaRPr lang="en-US" sz="1300" dirty="0"/>
          </a:p>
        </p:txBody>
      </p:sp>
      <p:sp>
        <p:nvSpPr>
          <p:cNvPr id="18" name="Demo pages"/>
          <p:cNvSpPr txBox="1"/>
          <p:nvPr/>
        </p:nvSpPr>
        <p:spPr>
          <a:xfrm>
            <a:off x="6263640" y="5623560"/>
            <a:ext cx="5376672" cy="320040"/>
          </a:xfrm>
          <a:prstGeom prst="rect">
            <a:avLst/>
          </a:prstGeom>
          <a:noFill/>
          <a:ln/>
        </p:spPr>
        <p:txBody>
          <a:bodyPr wrap="square" lIns="0" tIns="0" rIns="0" bIns="0" rtlCol="0" anchor="ctr"/>
          <a:lstStyle/>
          <a:p>
            <a:pPr indent="0" marL="0">
              <a:spcAft>
                <a:spcPts val="400"/>
              </a:spcAft>
              <a:buNone/>
            </a:pPr>
            <a:r>
              <a:rPr lang="en-US" sz="1400" b="1" dirty="0">
                <a:solidFill>
                  <a:schemeClr val="tx2"/>
                </a:solidFill>
                <a:latin typeface="Calibri" pitchFamily="34" charset="0"/>
                <a:ea typeface="Calibri" pitchFamily="34" charset="-122"/>
                <a:cs typeface="Calibri" pitchFamily="34" charset="-120"/>
              </a:rPr>
              <a:t>Live today:  </a:t>
            </a:r>
            <a:pPr indent="0" marL="0">
              <a:spcAft>
                <a:spcPts val="400"/>
              </a:spcAft>
              <a:buNone/>
            </a:pPr>
            <a:r>
              <a:rPr lang="en-US" sz="1400" b="1" dirty="0">
                <a:solidFill>
                  <a:schemeClr val="tx1"/>
                </a:solidFill>
                <a:latin typeface="Calibri" pitchFamily="34" charset="0"/>
                <a:ea typeface="Calibri" pitchFamily="34" charset="-122"/>
                <a:cs typeface="Calibri" pitchFamily="34" charset="-120"/>
              </a:rPr>
              <a:t>/tracker   /parking   /city   /banner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PROBLEM AND USER</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Drivers circle because they cannot see free spaces</a:t>
            </a:r>
            <a:endParaRPr lang="en-US" sz="3600" dirty="0"/>
          </a:p>
        </p:txBody>
      </p:sp>
      <p:sp>
        <p:nvSpPr>
          <p:cNvPr id="8" name="Stat card 1"/>
          <p:cNvSpPr/>
          <p:nvPr/>
        </p:nvSpPr>
        <p:spPr>
          <a:xfrm>
            <a:off x="548640" y="1691640"/>
            <a:ext cx="3515258" cy="1600200"/>
          </a:xfrm>
          <a:prstGeom prst="roundRect">
            <a:avLst>
              <a:gd name="adj" fmla="val 4571"/>
            </a:avLst>
          </a:prstGeom>
          <a:solidFill>
            <a:schemeClr val="bg2"/>
          </a:solidFill>
          <a:ln w="9525">
            <a:solidFill>
              <a:schemeClr val="accent5"/>
            </a:solidFill>
            <a:prstDash val="solid"/>
          </a:ln>
        </p:spPr>
      </p:sp>
      <p:sp>
        <p:nvSpPr>
          <p:cNvPr id="9" name="Stat 1 value"/>
          <p:cNvSpPr txBox="1"/>
          <p:nvPr/>
        </p:nvSpPr>
        <p:spPr>
          <a:xfrm>
            <a:off x="822960" y="1801368"/>
            <a:ext cx="2966618" cy="719328"/>
          </a:xfrm>
          <a:prstGeom prst="rect">
            <a:avLst/>
          </a:prstGeom>
          <a:noFill/>
          <a:ln/>
        </p:spPr>
        <p:txBody>
          <a:bodyPr wrap="square" lIns="0" tIns="0" rIns="0" bIns="0" rtlCol="0" anchor="b"/>
          <a:lstStyle/>
          <a:p>
            <a:pPr indent="0" marL="0">
              <a:buNone/>
            </a:pPr>
            <a:r>
              <a:rPr lang="en-US" sz="4800" b="1" dirty="0">
                <a:solidFill>
                  <a:schemeClr val="accent2"/>
                </a:solidFill>
                <a:latin typeface="Arial" pitchFamily="34" charset="0"/>
                <a:ea typeface="Arial" pitchFamily="34" charset="-122"/>
                <a:cs typeface="Arial" pitchFamily="34" charset="-120"/>
              </a:rPr>
              <a:t>17 h</a:t>
            </a:r>
            <a:endParaRPr lang="en-US" sz="4800" dirty="0"/>
          </a:p>
        </p:txBody>
      </p:sp>
      <p:sp>
        <p:nvSpPr>
          <p:cNvPr id="10" name="Stat 1 label"/>
          <p:cNvSpPr txBox="1"/>
          <p:nvPr/>
        </p:nvSpPr>
        <p:spPr>
          <a:xfrm>
            <a:off x="822960" y="2575560"/>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year a US driver spends searching for parking (INRIX, 2017)</a:t>
            </a:r>
            <a:endParaRPr lang="en-US" sz="1400" dirty="0"/>
          </a:p>
        </p:txBody>
      </p:sp>
      <p:sp>
        <p:nvSpPr>
          <p:cNvPr id="11" name="Stat card 2"/>
          <p:cNvSpPr/>
          <p:nvPr/>
        </p:nvSpPr>
        <p:spPr>
          <a:xfrm>
            <a:off x="4338218" y="1691640"/>
            <a:ext cx="3515258" cy="1600200"/>
          </a:xfrm>
          <a:prstGeom prst="roundRect">
            <a:avLst>
              <a:gd name="adj" fmla="val 4571"/>
            </a:avLst>
          </a:prstGeom>
          <a:solidFill>
            <a:schemeClr val="bg2"/>
          </a:solidFill>
          <a:ln w="9525">
            <a:solidFill>
              <a:schemeClr val="accent5"/>
            </a:solidFill>
            <a:prstDash val="solid"/>
          </a:ln>
        </p:spPr>
      </p:sp>
      <p:sp>
        <p:nvSpPr>
          <p:cNvPr id="12" name="Stat 2 value"/>
          <p:cNvSpPr txBox="1"/>
          <p:nvPr/>
        </p:nvSpPr>
        <p:spPr>
          <a:xfrm>
            <a:off x="4612538" y="1801368"/>
            <a:ext cx="2966618" cy="719328"/>
          </a:xfrm>
          <a:prstGeom prst="rect">
            <a:avLst/>
          </a:prstGeom>
          <a:noFill/>
          <a:ln/>
        </p:spPr>
        <p:txBody>
          <a:bodyPr wrap="square" lIns="0" tIns="0" rIns="0" bIns="0" rtlCol="0" anchor="b"/>
          <a:lstStyle/>
          <a:p>
            <a:pPr indent="0" marL="0">
              <a:buNone/>
            </a:pPr>
            <a:r>
              <a:rPr lang="en-US" sz="4800" b="1" dirty="0">
                <a:solidFill>
                  <a:schemeClr val="accent3"/>
                </a:solidFill>
                <a:latin typeface="Arial" pitchFamily="34" charset="0"/>
                <a:ea typeface="Arial" pitchFamily="34" charset="-122"/>
                <a:cs typeface="Arial" pitchFamily="34" charset="-120"/>
              </a:rPr>
              <a:t>~5%</a:t>
            </a:r>
            <a:endParaRPr lang="en-US" sz="4800" dirty="0"/>
          </a:p>
        </p:txBody>
      </p:sp>
      <p:sp>
        <p:nvSpPr>
          <p:cNvPr id="13" name="Stat 2 label"/>
          <p:cNvSpPr txBox="1"/>
          <p:nvPr/>
        </p:nvSpPr>
        <p:spPr>
          <a:xfrm>
            <a:off x="4612538" y="2575560"/>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of off-street car parks publish live free spaces (Parkopedia)</a:t>
            </a:r>
            <a:endParaRPr lang="en-US" sz="1400" dirty="0"/>
          </a:p>
        </p:txBody>
      </p:sp>
      <p:sp>
        <p:nvSpPr>
          <p:cNvPr id="14" name="Stat card 3"/>
          <p:cNvSpPr/>
          <p:nvPr/>
        </p:nvSpPr>
        <p:spPr>
          <a:xfrm>
            <a:off x="8127797" y="1691640"/>
            <a:ext cx="3515258" cy="1600200"/>
          </a:xfrm>
          <a:prstGeom prst="roundRect">
            <a:avLst>
              <a:gd name="adj" fmla="val 4571"/>
            </a:avLst>
          </a:prstGeom>
          <a:solidFill>
            <a:schemeClr val="bg2"/>
          </a:solidFill>
          <a:ln w="9525">
            <a:solidFill>
              <a:schemeClr val="accent5"/>
            </a:solidFill>
            <a:prstDash val="solid"/>
          </a:ln>
        </p:spPr>
      </p:sp>
      <p:sp>
        <p:nvSpPr>
          <p:cNvPr id="15" name="Stat 3 value"/>
          <p:cNvSpPr txBox="1"/>
          <p:nvPr/>
        </p:nvSpPr>
        <p:spPr>
          <a:xfrm>
            <a:off x="8402117" y="1801368"/>
            <a:ext cx="2966618" cy="719328"/>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13,208</a:t>
            </a:r>
            <a:endParaRPr lang="en-US" sz="4800" dirty="0"/>
          </a:p>
        </p:txBody>
      </p:sp>
      <p:sp>
        <p:nvSpPr>
          <p:cNvPr id="16" name="Stat 3 label"/>
          <p:cNvSpPr txBox="1"/>
          <p:nvPr/>
        </p:nvSpPr>
        <p:spPr>
          <a:xfrm>
            <a:off x="8402117" y="2575560"/>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paid spaces on 86 streets planned by Poytaxt Parking, Tashkent</a:t>
            </a:r>
            <a:endParaRPr lang="en-US" sz="1400" dirty="0"/>
          </a:p>
        </p:txBody>
      </p:sp>
      <p:sp>
        <p:nvSpPr>
          <p:cNvPr id="17" name="Evidence line"/>
          <p:cNvSpPr txBox="1"/>
          <p:nvPr/>
        </p:nvSpPr>
        <p:spPr>
          <a:xfrm>
            <a:off x="548640" y="3401568"/>
            <a:ext cx="11094415" cy="320040"/>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Calibri" pitchFamily="34" charset="0"/>
                <a:ea typeface="Calibri" pitchFamily="34" charset="-122"/>
                <a:cs typeface="Calibri" pitchFamily="34" charset="-120"/>
              </a:rPr>
              <a:t>SFpark in San Francisco cut cruising for parking by 50% on its pilot blocks.  </a:t>
            </a:r>
            <a:pPr indent="0" marL="0">
              <a:spcAft>
                <a:spcPts val="400"/>
              </a:spcAft>
              <a:buNone/>
            </a:pPr>
            <a:r>
              <a:rPr lang="en-US" sz="1400" dirty="0">
                <a:solidFill>
                  <a:schemeClr val="tx2"/>
                </a:solidFill>
                <a:latin typeface="Calibri" pitchFamily="34" charset="0"/>
                <a:ea typeface="Calibri" pitchFamily="34" charset="-122"/>
                <a:cs typeface="Calibri" pitchFamily="34" charset="-120"/>
              </a:rPr>
              <a:t>Sources: INRIX, Parkopedia, Spot.uz, ACCESS Magazine</a:t>
            </a:r>
            <a:endParaRPr lang="en-US" sz="1400" dirty="0"/>
          </a:p>
        </p:txBody>
      </p:sp>
      <p:sp>
        <p:nvSpPr>
          <p:cNvPr id="18" name="Why panel"/>
          <p:cNvSpPr/>
          <p:nvPr/>
        </p:nvSpPr>
        <p:spPr>
          <a:xfrm>
            <a:off x="548640" y="3886200"/>
            <a:ext cx="5669280" cy="2286000"/>
          </a:xfrm>
          <a:prstGeom prst="roundRect">
            <a:avLst>
              <a:gd name="adj" fmla="val 3200"/>
            </a:avLst>
          </a:prstGeom>
          <a:solidFill>
            <a:schemeClr val="bg2"/>
          </a:solidFill>
          <a:ln w="9525">
            <a:solidFill>
              <a:schemeClr val="accent5"/>
            </a:solidFill>
            <a:prstDash val="solid"/>
          </a:ln>
        </p:spPr>
      </p:sp>
      <p:sp>
        <p:nvSpPr>
          <p:cNvPr id="19" name="Text 17"/>
          <p:cNvSpPr txBox="1"/>
          <p:nvPr/>
        </p:nvSpPr>
        <p:spPr>
          <a:xfrm>
            <a:off x="822960" y="4023360"/>
            <a:ext cx="5120640"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a driver finds a space today</a:t>
            </a:r>
            <a:endParaRPr lang="en-US" sz="1800" dirty="0"/>
          </a:p>
        </p:txBody>
      </p:sp>
      <p:sp>
        <p:nvSpPr>
          <p:cNvPr id="20" name="Why bullets"/>
          <p:cNvSpPr txBox="1"/>
          <p:nvPr/>
        </p:nvSpPr>
        <p:spPr>
          <a:xfrm>
            <a:off x="822960" y="4462272"/>
            <a:ext cx="5120640" cy="16002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Picks a car park by distance or habit, and learns it is full at the gate.</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Drives on to the next one. While searching, the car is part of the traffic.</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 navigator sends every driver to the same nearest car park.</a:t>
            </a:r>
            <a:endParaRPr lang="en-US" sz="1500" dirty="0"/>
          </a:p>
        </p:txBody>
      </p:sp>
      <p:sp>
        <p:nvSpPr>
          <p:cNvPr id="21" name="User panel"/>
          <p:cNvSpPr/>
          <p:nvPr/>
        </p:nvSpPr>
        <p:spPr>
          <a:xfrm>
            <a:off x="6492240" y="3886200"/>
            <a:ext cx="5150815" cy="2286000"/>
          </a:xfrm>
          <a:prstGeom prst="roundRect">
            <a:avLst>
              <a:gd name="adj" fmla="val 3200"/>
            </a:avLst>
          </a:prstGeom>
          <a:solidFill>
            <a:schemeClr val="bg2"/>
          </a:solidFill>
          <a:ln w="9525">
            <a:solidFill>
              <a:schemeClr val="accent5"/>
            </a:solidFill>
            <a:prstDash val="solid"/>
          </a:ln>
        </p:spPr>
      </p:sp>
      <p:sp>
        <p:nvSpPr>
          <p:cNvPr id="22" name="User lamp"/>
          <p:cNvSpPr/>
          <p:nvPr/>
        </p:nvSpPr>
        <p:spPr>
          <a:xfrm>
            <a:off x="6766560" y="4078224"/>
            <a:ext cx="201168" cy="201168"/>
          </a:xfrm>
          <a:prstGeom prst="ellipse">
            <a:avLst/>
          </a:prstGeom>
          <a:solidFill>
            <a:schemeClr val="accent4"/>
          </a:solidFill>
          <a:ln/>
        </p:spPr>
      </p:sp>
      <p:sp>
        <p:nvSpPr>
          <p:cNvPr id="23" name="Text 21"/>
          <p:cNvSpPr txBox="1"/>
          <p:nvPr/>
        </p:nvSpPr>
        <p:spPr>
          <a:xfrm>
            <a:off x="7086600" y="4023360"/>
            <a:ext cx="4236415"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The user, and who pays</a:t>
            </a:r>
            <a:endParaRPr lang="en-US" sz="1800" dirty="0"/>
          </a:p>
        </p:txBody>
      </p:sp>
      <p:sp>
        <p:nvSpPr>
          <p:cNvPr id="24" name="User text"/>
          <p:cNvSpPr txBox="1"/>
          <p:nvPr/>
        </p:nvSpPr>
        <p:spPr>
          <a:xfrm>
            <a:off x="6766560" y="4443984"/>
            <a:ext cx="4602175" cy="1645920"/>
          </a:xfrm>
          <a:prstGeom prst="rect">
            <a:avLst/>
          </a:prstGeom>
          <a:noFill/>
          <a:ln/>
        </p:spPr>
        <p:txBody>
          <a:bodyPr wrap="square" lIns="0" tIns="0" rIns="0" bIns="0" rtlCol="0" anchor="t"/>
          <a:lstStyle/>
          <a:p>
            <a:pPr indent="0" marL="0">
              <a:spcAft>
                <a:spcPts val="300"/>
              </a:spcAft>
              <a:buNone/>
            </a:pPr>
            <a:r>
              <a:rPr lang="en-US" sz="1400" dirty="0">
                <a:solidFill>
                  <a:schemeClr val="tx1"/>
                </a:solidFill>
                <a:latin typeface="Calibri" pitchFamily="34" charset="0"/>
                <a:ea typeface="Calibri" pitchFamily="34" charset="-122"/>
                <a:cs typeface="Calibri" pitchFamily="34" charset="-120"/>
              </a:rPr>
              <a:t>User: drivers going to malls, offices, hospitals and stations.</a:t>
            </a:r>
            <a:endParaRPr lang="en-US" sz="1400" dirty="0"/>
          </a:p>
          <a:p>
            <a:pPr indent="0" marL="0">
              <a:spcAft>
                <a:spcPts val="300"/>
              </a:spcAft>
              <a:buNone/>
            </a:pPr>
            <a:r>
              <a:rPr lang="en-US" sz="1400" b="1" dirty="0">
                <a:solidFill>
                  <a:schemeClr val="accent1"/>
                </a:solidFill>
                <a:latin typeface="Calibri" pitchFamily="34" charset="0"/>
                <a:ea typeface="Calibri" pitchFamily="34" charset="-122"/>
                <a:cs typeface="Calibri" pitchFamily="34" charset="-120"/>
              </a:rPr>
              <a:t>Who pays:</a:t>
            </a:r>
            <a:endParaRPr lang="en-US" sz="1400" dirty="0"/>
          </a:p>
          <a:p>
            <a:pPr marL="177800" indent="-1778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car park operators: fewer drivers turned away</a:t>
            </a:r>
            <a:endParaRPr lang="en-US" sz="1400" dirty="0"/>
          </a:p>
          <a:p>
            <a:pPr marL="177800" indent="-1778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the city: less searching traffic</a:t>
            </a:r>
            <a:endParaRPr lang="en-US" sz="1400" dirty="0"/>
          </a:p>
          <a:p>
            <a:pPr marL="177800" indent="-1778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outdoor advertising: traffic past each billboard</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LIVE DEMO 1 OF 4  ·  /tracker  ·  THE MAIN PRODUCT</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Free spaces now, and when you arrive</a:t>
            </a:r>
            <a:endParaRPr lang="en-US" sz="3600" dirty="0"/>
          </a:p>
        </p:txBody>
      </p:sp>
      <p:sp>
        <p:nvSpPr>
          <p:cNvPr id="8" name="Tracker stage panel"/>
          <p:cNvSpPr/>
          <p:nvPr/>
        </p:nvSpPr>
        <p:spPr>
          <a:xfrm>
            <a:off x="548640" y="1691640"/>
            <a:ext cx="7253935" cy="3328741"/>
          </a:xfrm>
          <a:prstGeom prst="roundRect">
            <a:avLst>
              <a:gd name="adj" fmla="val 2198"/>
            </a:avLst>
          </a:prstGeom>
          <a:solidFill>
            <a:schemeClr val="bg2"/>
          </a:solidFill>
          <a:ln w="9525">
            <a:solidFill>
              <a:schemeClr val="accent5"/>
            </a:solidFill>
            <a:prstDash val="solid"/>
          </a:ln>
        </p:spPr>
      </p:sp>
      <p:pic>
        <p:nvPicPr>
          <p:cNvPr id="9" name="Tracker stage" descr="The tracker page at 10:13: the PUCPR camera with every space marked, and the three car parks">    </p:cNvPr>
          <p:cNvPicPr>
            <a:picLocks noChangeAspect="1"/>
          </p:cNvPicPr>
          <p:nvPr/>
        </p:nvPicPr>
        <p:blipFill>
          <a:blip r:embed="rId1"/>
          <a:srcRect l="0" r="0" t="0" b="0"/>
          <a:stretch/>
        </p:blipFill>
        <p:spPr>
          <a:xfrm>
            <a:off x="612648" y="1755648"/>
            <a:ext cx="7125919" cy="3200725"/>
          </a:xfrm>
          <a:prstGeom prst="rect">
            <a:avLst/>
          </a:prstGeom>
        </p:spPr>
      </p:pic>
      <p:sp>
        <p:nvSpPr>
          <p:cNvPr id="10" name="Step 1 chip"/>
          <p:cNvSpPr/>
          <p:nvPr/>
        </p:nvSpPr>
        <p:spPr>
          <a:xfrm>
            <a:off x="548640" y="5139253"/>
            <a:ext cx="1731188" cy="457200"/>
          </a:xfrm>
          <a:prstGeom prst="roundRect">
            <a:avLst>
              <a:gd name="adj" fmla="val 16000"/>
            </a:avLst>
          </a:prstGeom>
          <a:solidFill>
            <a:schemeClr val="bg2"/>
          </a:solidFill>
          <a:ln w="9525">
            <a:solidFill>
              <a:schemeClr val="accent5"/>
            </a:solidFill>
            <a:prstDash val="solid"/>
          </a:ln>
        </p:spPr>
      </p:sp>
      <p:sp>
        <p:nvSpPr>
          <p:cNvPr id="11" name="Step 1 lamp"/>
          <p:cNvSpPr/>
          <p:nvPr/>
        </p:nvSpPr>
        <p:spPr>
          <a:xfrm>
            <a:off x="640080" y="5239837"/>
            <a:ext cx="256032" cy="256032"/>
          </a:xfrm>
          <a:prstGeom prst="ellipse">
            <a:avLst/>
          </a:prstGeom>
          <a:solidFill>
            <a:schemeClr val="accent1"/>
          </a:solidFill>
          <a:ln/>
        </p:spPr>
        <p:txBody>
          <a:bodyPr wrap="square" lIns="0" tIns="0" rIns="0" bIns="0" rtlCol="0" anchor="ctr"/>
          <a:lstStyle/>
          <a:p>
            <a:pPr algn="ctr" indent="0" marL="0">
              <a:buNone/>
            </a:pPr>
            <a:r>
              <a:rPr lang="en-US" sz="1000" b="1" dirty="0">
                <a:solidFill>
                  <a:schemeClr val="bg1"/>
                </a:solidFill>
                <a:latin typeface="Arial" pitchFamily="34" charset="0"/>
                <a:ea typeface="Arial" pitchFamily="34" charset="-122"/>
                <a:cs typeface="Arial" pitchFamily="34" charset="-120"/>
              </a:rPr>
              <a:t>1</a:t>
            </a:r>
            <a:endParaRPr lang="en-US" sz="1000" dirty="0"/>
          </a:p>
        </p:txBody>
      </p:sp>
      <p:sp>
        <p:nvSpPr>
          <p:cNvPr id="12" name="Step 1 text"/>
          <p:cNvSpPr txBox="1"/>
          <p:nvPr/>
        </p:nvSpPr>
        <p:spPr>
          <a:xfrm>
            <a:off x="969264" y="5139253"/>
            <a:ext cx="1255700" cy="457200"/>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latin typeface="Calibri" pitchFamily="34" charset="0"/>
                <a:ea typeface="Calibri" pitchFamily="34" charset="-122"/>
                <a:cs typeface="Calibri" pitchFamily="34" charset="-120"/>
              </a:rPr>
              <a:t>Play the morning</a:t>
            </a:r>
            <a:endParaRPr lang="en-US" sz="1200" dirty="0"/>
          </a:p>
        </p:txBody>
      </p:sp>
      <p:sp>
        <p:nvSpPr>
          <p:cNvPr id="13" name="Step 2 chip"/>
          <p:cNvSpPr/>
          <p:nvPr/>
        </p:nvSpPr>
        <p:spPr>
          <a:xfrm>
            <a:off x="2389556" y="5139253"/>
            <a:ext cx="1731188" cy="457200"/>
          </a:xfrm>
          <a:prstGeom prst="roundRect">
            <a:avLst>
              <a:gd name="adj" fmla="val 16000"/>
            </a:avLst>
          </a:prstGeom>
          <a:solidFill>
            <a:schemeClr val="bg2"/>
          </a:solidFill>
          <a:ln w="9525">
            <a:solidFill>
              <a:schemeClr val="accent5"/>
            </a:solidFill>
            <a:prstDash val="solid"/>
          </a:ln>
        </p:spPr>
      </p:sp>
      <p:sp>
        <p:nvSpPr>
          <p:cNvPr id="14" name="Step 2 lamp"/>
          <p:cNvSpPr/>
          <p:nvPr/>
        </p:nvSpPr>
        <p:spPr>
          <a:xfrm>
            <a:off x="2480996" y="5239837"/>
            <a:ext cx="256032" cy="256032"/>
          </a:xfrm>
          <a:prstGeom prst="ellipse">
            <a:avLst/>
          </a:prstGeom>
          <a:solidFill>
            <a:schemeClr val="accent1"/>
          </a:solidFill>
          <a:ln/>
        </p:spPr>
        <p:txBody>
          <a:bodyPr wrap="square" lIns="0" tIns="0" rIns="0" bIns="0" rtlCol="0" anchor="ctr"/>
          <a:lstStyle/>
          <a:p>
            <a:pPr algn="ctr" indent="0" marL="0">
              <a:buNone/>
            </a:pPr>
            <a:r>
              <a:rPr lang="en-US" sz="1000" b="1" dirty="0">
                <a:solidFill>
                  <a:schemeClr val="bg1"/>
                </a:solidFill>
                <a:latin typeface="Arial" pitchFamily="34" charset="0"/>
                <a:ea typeface="Arial" pitchFamily="34" charset="-122"/>
                <a:cs typeface="Arial" pitchFamily="34" charset="-120"/>
              </a:rPr>
              <a:t>2</a:t>
            </a:r>
            <a:endParaRPr lang="en-US" sz="1000" dirty="0"/>
          </a:p>
        </p:txBody>
      </p:sp>
      <p:sp>
        <p:nvSpPr>
          <p:cNvPr id="15" name="Step 2 text"/>
          <p:cNvSpPr txBox="1"/>
          <p:nvPr/>
        </p:nvSpPr>
        <p:spPr>
          <a:xfrm>
            <a:off x="2810180" y="5139253"/>
            <a:ext cx="1255700" cy="457200"/>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latin typeface="Calibri" pitchFamily="34" charset="0"/>
                <a:ea typeface="Calibri" pitchFamily="34" charset="-122"/>
                <a:cs typeface="Calibri" pitchFamily="34" charset="-120"/>
              </a:rPr>
              <a:t>Whole car park</a:t>
            </a:r>
            <a:endParaRPr lang="en-US" sz="1200" dirty="0"/>
          </a:p>
        </p:txBody>
      </p:sp>
      <p:sp>
        <p:nvSpPr>
          <p:cNvPr id="16" name="Step 3 chip"/>
          <p:cNvSpPr/>
          <p:nvPr/>
        </p:nvSpPr>
        <p:spPr>
          <a:xfrm>
            <a:off x="4230472" y="5139253"/>
            <a:ext cx="1731188" cy="457200"/>
          </a:xfrm>
          <a:prstGeom prst="roundRect">
            <a:avLst>
              <a:gd name="adj" fmla="val 16000"/>
            </a:avLst>
          </a:prstGeom>
          <a:solidFill>
            <a:schemeClr val="bg2"/>
          </a:solidFill>
          <a:ln w="9525">
            <a:solidFill>
              <a:schemeClr val="accent5"/>
            </a:solidFill>
            <a:prstDash val="solid"/>
          </a:ln>
        </p:spPr>
      </p:sp>
      <p:sp>
        <p:nvSpPr>
          <p:cNvPr id="17" name="Step 3 lamp"/>
          <p:cNvSpPr/>
          <p:nvPr/>
        </p:nvSpPr>
        <p:spPr>
          <a:xfrm>
            <a:off x="4321912" y="5239837"/>
            <a:ext cx="256032" cy="256032"/>
          </a:xfrm>
          <a:prstGeom prst="ellipse">
            <a:avLst/>
          </a:prstGeom>
          <a:solidFill>
            <a:schemeClr val="accent1"/>
          </a:solidFill>
          <a:ln/>
        </p:spPr>
        <p:txBody>
          <a:bodyPr wrap="square" lIns="0" tIns="0" rIns="0" bIns="0" rtlCol="0" anchor="ctr"/>
          <a:lstStyle/>
          <a:p>
            <a:pPr algn="ctr" indent="0" marL="0">
              <a:buNone/>
            </a:pPr>
            <a:r>
              <a:rPr lang="en-US" sz="1000" b="1" dirty="0">
                <a:solidFill>
                  <a:schemeClr val="bg1"/>
                </a:solidFill>
                <a:latin typeface="Arial" pitchFamily="34" charset="0"/>
                <a:ea typeface="Arial" pitchFamily="34" charset="-122"/>
                <a:cs typeface="Arial" pitchFamily="34" charset="-120"/>
              </a:rPr>
              <a:t>3</a:t>
            </a:r>
            <a:endParaRPr lang="en-US" sz="1000" dirty="0"/>
          </a:p>
        </p:txBody>
      </p:sp>
      <p:sp>
        <p:nvSpPr>
          <p:cNvPr id="18" name="Step 3 text"/>
          <p:cNvSpPr txBox="1"/>
          <p:nvPr/>
        </p:nvSpPr>
        <p:spPr>
          <a:xfrm>
            <a:off x="4651096" y="5139253"/>
            <a:ext cx="1255700" cy="457200"/>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latin typeface="Calibri" pitchFamily="34" charset="0"/>
                <a:ea typeface="Calibri" pitchFamily="34" charset="-122"/>
                <a:cs typeface="Calibri" pitchFamily="34" charset="-120"/>
              </a:rPr>
              <a:t>One driver asks</a:t>
            </a:r>
            <a:endParaRPr lang="en-US" sz="1200" dirty="0"/>
          </a:p>
        </p:txBody>
      </p:sp>
      <p:sp>
        <p:nvSpPr>
          <p:cNvPr id="19" name="Step 4 chip"/>
          <p:cNvSpPr/>
          <p:nvPr/>
        </p:nvSpPr>
        <p:spPr>
          <a:xfrm>
            <a:off x="6071387" y="5139253"/>
            <a:ext cx="1731188" cy="457200"/>
          </a:xfrm>
          <a:prstGeom prst="roundRect">
            <a:avLst>
              <a:gd name="adj" fmla="val 16000"/>
            </a:avLst>
          </a:prstGeom>
          <a:solidFill>
            <a:schemeClr val="bg2"/>
          </a:solidFill>
          <a:ln w="9525">
            <a:solidFill>
              <a:schemeClr val="accent5"/>
            </a:solidFill>
            <a:prstDash val="solid"/>
          </a:ln>
        </p:spPr>
      </p:sp>
      <p:sp>
        <p:nvSpPr>
          <p:cNvPr id="20" name="Step 4 lamp"/>
          <p:cNvSpPr/>
          <p:nvPr/>
        </p:nvSpPr>
        <p:spPr>
          <a:xfrm>
            <a:off x="6162827" y="5239837"/>
            <a:ext cx="256032" cy="256032"/>
          </a:xfrm>
          <a:prstGeom prst="ellipse">
            <a:avLst/>
          </a:prstGeom>
          <a:solidFill>
            <a:schemeClr val="accent1"/>
          </a:solidFill>
          <a:ln/>
        </p:spPr>
        <p:txBody>
          <a:bodyPr wrap="square" lIns="0" tIns="0" rIns="0" bIns="0" rtlCol="0" anchor="ctr"/>
          <a:lstStyle/>
          <a:p>
            <a:pPr algn="ctr" indent="0" marL="0">
              <a:buNone/>
            </a:pPr>
            <a:r>
              <a:rPr lang="en-US" sz="1000" b="1" dirty="0">
                <a:solidFill>
                  <a:schemeClr val="bg1"/>
                </a:solidFill>
                <a:latin typeface="Arial" pitchFamily="34" charset="0"/>
                <a:ea typeface="Arial" pitchFamily="34" charset="-122"/>
                <a:cs typeface="Arial" pitchFamily="34" charset="-120"/>
              </a:rPr>
              <a:t>4</a:t>
            </a:r>
            <a:endParaRPr lang="en-US" sz="1000" dirty="0"/>
          </a:p>
        </p:txBody>
      </p:sp>
      <p:sp>
        <p:nvSpPr>
          <p:cNvPr id="21" name="Step 4 text"/>
          <p:cNvSpPr txBox="1"/>
          <p:nvPr/>
        </p:nvSpPr>
        <p:spPr>
          <a:xfrm>
            <a:off x="6492011" y="5139253"/>
            <a:ext cx="1255700" cy="457200"/>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latin typeface="Calibri" pitchFamily="34" charset="0"/>
                <a:ea typeface="Calibri" pitchFamily="34" charset="-122"/>
                <a:cs typeface="Calibri" pitchFamily="34" charset="-120"/>
              </a:rPr>
              <a:t>40 drivers ask</a:t>
            </a:r>
            <a:endParaRPr lang="en-US" sz="1200" dirty="0"/>
          </a:p>
        </p:txBody>
      </p:sp>
      <p:sp>
        <p:nvSpPr>
          <p:cNvPr id="22" name="Demo link"/>
          <p:cNvSpPr txBox="1"/>
          <p:nvPr/>
        </p:nvSpPr>
        <p:spPr>
          <a:xfrm>
            <a:off x="548640" y="5706181"/>
            <a:ext cx="7253935" cy="274320"/>
          </a:xfrm>
          <a:prstGeom prst="rect">
            <a:avLst/>
          </a:prstGeom>
          <a:noFill/>
          <a:ln/>
        </p:spPr>
        <p:txBody>
          <a:bodyPr wrap="square" lIns="0" tIns="0" rIns="0" bIns="0" rtlCol="0" anchor="ctr"/>
          <a:lstStyle/>
          <a:p>
            <a:pPr indent="0" marL="0">
              <a:spcAft>
                <a:spcPts val="400"/>
              </a:spcAft>
              <a:buNone/>
            </a:pPr>
            <a:r>
              <a:rPr lang="en-US" sz="13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https://oqim-audit.vercel.app/tracker</a:t>
            </a:r>
            <a:pPr indent="0" marL="0">
              <a:spcAft>
                <a:spcPts val="400"/>
              </a:spcAft>
              <a:buNone/>
            </a:pPr>
            <a:r>
              <a:rPr lang="en-US" sz="1300" dirty="0">
                <a:solidFill>
                  <a:schemeClr val="tx2"/>
                </a:solidFill>
                <a:latin typeface="Calibri" pitchFamily="34" charset="0"/>
                <a:ea typeface="Calibri" pitchFamily="34" charset="-122"/>
                <a:cs typeface="Calibri" pitchFamily="34" charset="-120"/>
              </a:rPr>
              <a:t>   3 PKLot cameras, one clock, 06:55 to 10:35, a frame every 5 min</a:t>
            </a:r>
            <a:endParaRPr lang="en-US" sz="1300" dirty="0"/>
          </a:p>
        </p:txBody>
      </p:sp>
      <p:sp>
        <p:nvSpPr>
          <p:cNvPr id="23" name="Lots line"/>
          <p:cNvSpPr txBox="1"/>
          <p:nvPr/>
        </p:nvSpPr>
        <p:spPr>
          <a:xfrm>
            <a:off x="548640" y="5998789"/>
            <a:ext cx="7253935" cy="256032"/>
          </a:xfrm>
          <a:prstGeom prst="rect">
            <a:avLst/>
          </a:prstGeom>
          <a:noFill/>
          <a:ln/>
        </p:spPr>
        <p:txBody>
          <a:bodyPr wrap="square" lIns="0" tIns="0" rIns="0" bIns="0" rtlCol="0" anchor="ctr"/>
          <a:lstStyle/>
          <a:p>
            <a:pPr indent="0" marL="0">
              <a:spcAft>
                <a:spcPts val="400"/>
              </a:spcAft>
              <a:buNone/>
            </a:pPr>
            <a:r>
              <a:rPr lang="en-US" sz="1100" dirty="0">
                <a:solidFill>
                  <a:schemeClr val="tx2"/>
                </a:solidFill>
                <a:latin typeface="Calibri" pitchFamily="34" charset="0"/>
                <a:ea typeface="Calibri" pitchFamily="34" charset="-122"/>
                <a:cs typeface="Calibri" pitchFamily="34" charset="-120"/>
              </a:rPr>
              <a:t>Labelled spaces: PUCPR 100 (2012-10-17),  UFPR05 40 (2013-03-22),  UFPR04 28 (2013-01-18)</a:t>
            </a:r>
            <a:endParaRPr lang="en-US" sz="1100" dirty="0"/>
          </a:p>
        </p:txBody>
      </p:sp>
      <p:sp>
        <p:nvSpPr>
          <p:cNvPr id="24" name="Ask now panel"/>
          <p:cNvSpPr/>
          <p:nvPr/>
        </p:nvSpPr>
        <p:spPr>
          <a:xfrm>
            <a:off x="8076895" y="1691640"/>
            <a:ext cx="3566160" cy="2454006"/>
          </a:xfrm>
          <a:prstGeom prst="roundRect">
            <a:avLst>
              <a:gd name="adj" fmla="val 2981"/>
            </a:avLst>
          </a:prstGeom>
          <a:solidFill>
            <a:schemeClr val="bg2"/>
          </a:solidFill>
          <a:ln w="9525">
            <a:solidFill>
              <a:schemeClr val="accent5"/>
            </a:solidFill>
            <a:prstDash val="solid"/>
          </a:ln>
        </p:spPr>
      </p:sp>
      <p:pic>
        <p:nvPicPr>
          <p:cNvPr id="25" name="Ask now" descr="Advice for one driver: the car park to drive to, free spaces expected on arrival and the chance of a space">    </p:cNvPr>
          <p:cNvPicPr>
            <a:picLocks noChangeAspect="1"/>
          </p:cNvPicPr>
          <p:nvPr/>
        </p:nvPicPr>
        <p:blipFill>
          <a:blip r:embed="rId3"/>
          <a:srcRect l="0" r="0" t="0" b="0"/>
          <a:stretch/>
        </p:blipFill>
        <p:spPr>
          <a:xfrm>
            <a:off x="8140903" y="1755648"/>
            <a:ext cx="3438144" cy="2325990"/>
          </a:xfrm>
          <a:prstGeom prst="rect">
            <a:avLst/>
          </a:prstGeom>
        </p:spPr>
      </p:pic>
      <p:sp>
        <p:nvSpPr>
          <p:cNvPr id="26" name="Spread panel"/>
          <p:cNvSpPr/>
          <p:nvPr/>
        </p:nvSpPr>
        <p:spPr>
          <a:xfrm>
            <a:off x="8076895" y="4237086"/>
            <a:ext cx="3566160" cy="1716807"/>
          </a:xfrm>
          <a:prstGeom prst="roundRect">
            <a:avLst>
              <a:gd name="adj" fmla="val 4261"/>
            </a:avLst>
          </a:prstGeom>
          <a:solidFill>
            <a:schemeClr val="bg2"/>
          </a:solidFill>
          <a:ln w="9525">
            <a:solidFill>
              <a:schemeClr val="accent5"/>
            </a:solidFill>
            <a:prstDash val="solid"/>
          </a:ln>
        </p:spPr>
      </p:sp>
      <p:pic>
        <p:nvPicPr>
          <p:cNvPr id="27" name="Spread" descr="40 drivers asking at once: every navigator to the nearest car park against OQIM">    </p:cNvPr>
          <p:cNvPicPr>
            <a:picLocks noChangeAspect="1"/>
          </p:cNvPicPr>
          <p:nvPr/>
        </p:nvPicPr>
        <p:blipFill>
          <a:blip r:embed="rId4"/>
          <a:srcRect l="0" r="0" t="0" b="0"/>
          <a:stretch/>
        </p:blipFill>
        <p:spPr>
          <a:xfrm>
            <a:off x="8140903" y="4301094"/>
            <a:ext cx="3438144" cy="1588791"/>
          </a:xfrm>
          <a:prstGeom prst="rect">
            <a:avLst/>
          </a:prstGeom>
        </p:spPr>
      </p:pic>
      <p:sp>
        <p:nvSpPr>
          <p:cNvPr id="28" name="Spread caption"/>
          <p:cNvSpPr txBox="1"/>
          <p:nvPr/>
        </p:nvSpPr>
        <p:spPr>
          <a:xfrm>
            <a:off x="8076895" y="6017901"/>
            <a:ext cx="3566160" cy="384048"/>
          </a:xfrm>
          <a:prstGeom prst="rect">
            <a:avLst/>
          </a:prstGeom>
          <a:noFill/>
          <a:ln/>
        </p:spPr>
        <p:txBody>
          <a:bodyPr wrap="square" lIns="0" tIns="0" rIns="0" bIns="0" rtlCol="0" anchor="t"/>
          <a:lstStyle/>
          <a:p>
            <a:pPr indent="0" marL="0">
              <a:spcAft>
                <a:spcPts val="400"/>
              </a:spcAft>
              <a:buNone/>
            </a:pPr>
            <a:r>
              <a:rPr lang="en-US" sz="1100" dirty="0">
                <a:solidFill>
                  <a:schemeClr val="tx2"/>
                </a:solidFill>
                <a:latin typeface="Calibri" pitchFamily="34" charset="0"/>
                <a:ea typeface="Calibri" pitchFamily="34" charset="-122"/>
                <a:cs typeface="Calibri" pitchFamily="34" charset="-120"/>
              </a:rPr>
              <a:t>At 10:13, 40 drivers: the nearest car park leaves 17 of 40 at a full gate, OQIM 4 of 40.</a:t>
            </a:r>
            <a:endParaRPr lang="en-US" sz="1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MEASURED  ·  /tracker AGAINST THE PKLOT HAND LABELS</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98.8% of space readings right</a:t>
            </a:r>
            <a:endParaRPr lang="en-US" sz="3600" dirty="0"/>
          </a:p>
        </p:txBody>
      </p:sp>
      <p:sp>
        <p:nvSpPr>
          <p:cNvPr id="8" name="Accuracy panel"/>
          <p:cNvSpPr/>
          <p:nvPr/>
        </p:nvSpPr>
        <p:spPr>
          <a:xfrm>
            <a:off x="548640" y="1691640"/>
            <a:ext cx="2926080" cy="1371600"/>
          </a:xfrm>
          <a:prstGeom prst="roundRect">
            <a:avLst>
              <a:gd name="adj" fmla="val 5333"/>
            </a:avLst>
          </a:prstGeom>
          <a:solidFill>
            <a:schemeClr val="bg2"/>
          </a:solidFill>
          <a:ln w="9525">
            <a:solidFill>
              <a:schemeClr val="accent5"/>
            </a:solidFill>
            <a:prstDash val="solid"/>
          </a:ln>
        </p:spPr>
      </p:sp>
      <p:sp>
        <p:nvSpPr>
          <p:cNvPr id="9" name="Accuracy value"/>
          <p:cNvSpPr txBox="1"/>
          <p:nvPr/>
        </p:nvSpPr>
        <p:spPr>
          <a:xfrm>
            <a:off x="749808" y="1783080"/>
            <a:ext cx="2523744" cy="44704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98.8%</a:t>
            </a:r>
            <a:endParaRPr lang="en-US" sz="2800" dirty="0"/>
          </a:p>
        </p:txBody>
      </p:sp>
      <p:sp>
        <p:nvSpPr>
          <p:cNvPr id="10" name="Accuracy label"/>
          <p:cNvSpPr txBox="1"/>
          <p:nvPr/>
        </p:nvSpPr>
        <p:spPr>
          <a:xfrm>
            <a:off x="749808" y="2284984"/>
            <a:ext cx="2523744" cy="695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6,844 space readings right, 112 frames of 3 cameras</a:t>
            </a:r>
            <a:endParaRPr lang="en-US" sz="1300" dirty="0"/>
          </a:p>
        </p:txBody>
      </p:sp>
      <p:sp>
        <p:nvSpPr>
          <p:cNvPr id="11" name="Free count panel"/>
          <p:cNvSpPr/>
          <p:nvPr/>
        </p:nvSpPr>
        <p:spPr>
          <a:xfrm>
            <a:off x="3657600" y="1691640"/>
            <a:ext cx="2926080" cy="1371600"/>
          </a:xfrm>
          <a:prstGeom prst="roundRect">
            <a:avLst>
              <a:gd name="adj" fmla="val 5333"/>
            </a:avLst>
          </a:prstGeom>
          <a:solidFill>
            <a:schemeClr val="bg2"/>
          </a:solidFill>
          <a:ln w="9525">
            <a:solidFill>
              <a:schemeClr val="accent5"/>
            </a:solidFill>
            <a:prstDash val="solid"/>
          </a:ln>
        </p:spPr>
      </p:sp>
      <p:sp>
        <p:nvSpPr>
          <p:cNvPr id="12" name="Free count value"/>
          <p:cNvSpPr txBox="1"/>
          <p:nvPr/>
        </p:nvSpPr>
        <p:spPr>
          <a:xfrm>
            <a:off x="3858768" y="1783080"/>
            <a:ext cx="2523744" cy="447040"/>
          </a:xfrm>
          <a:prstGeom prst="rect">
            <a:avLst/>
          </a:prstGeom>
          <a:noFill/>
          <a:ln/>
        </p:spPr>
        <p:txBody>
          <a:bodyPr wrap="square" lIns="0" tIns="0" rIns="0" bIns="0" rtlCol="0" anchor="b"/>
          <a:lstStyle/>
          <a:p>
            <a:pPr indent="0" marL="0">
              <a:buNone/>
            </a:pPr>
            <a:r>
              <a:rPr lang="en-US" sz="2800" b="1" dirty="0">
                <a:solidFill>
                  <a:schemeClr val="accent1"/>
                </a:solidFill>
                <a:latin typeface="Arial" pitchFamily="34" charset="0"/>
                <a:ea typeface="Arial" pitchFamily="34" charset="-122"/>
                <a:cs typeface="Arial" pitchFamily="34" charset="-120"/>
              </a:rPr>
              <a:t>1 / 4</a:t>
            </a:r>
            <a:endParaRPr lang="en-US" sz="2800" dirty="0"/>
          </a:p>
        </p:txBody>
      </p:sp>
      <p:sp>
        <p:nvSpPr>
          <p:cNvPr id="13" name="Free count label"/>
          <p:cNvSpPr txBox="1"/>
          <p:nvPr/>
        </p:nvSpPr>
        <p:spPr>
          <a:xfrm>
            <a:off x="3858768" y="2284984"/>
            <a:ext cx="2523744" cy="695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spaces the free count is off by, median / 90th percentile, per frame</a:t>
            </a:r>
            <a:endParaRPr lang="en-US" sz="1300" dirty="0"/>
          </a:p>
        </p:txBody>
      </p:sp>
      <p:sp>
        <p:nvSpPr>
          <p:cNvPr id="14" name="Whole panel"/>
          <p:cNvSpPr/>
          <p:nvPr/>
        </p:nvSpPr>
        <p:spPr>
          <a:xfrm>
            <a:off x="548640" y="3200400"/>
            <a:ext cx="2926080" cy="1371600"/>
          </a:xfrm>
          <a:prstGeom prst="roundRect">
            <a:avLst>
              <a:gd name="adj" fmla="val 5333"/>
            </a:avLst>
          </a:prstGeom>
          <a:solidFill>
            <a:schemeClr val="bg2"/>
          </a:solidFill>
          <a:ln w="9525">
            <a:solidFill>
              <a:schemeClr val="accent5"/>
            </a:solidFill>
            <a:prstDash val="solid"/>
          </a:ln>
        </p:spPr>
      </p:sp>
      <p:sp>
        <p:nvSpPr>
          <p:cNvPr id="15" name="Whole value"/>
          <p:cNvSpPr txBox="1"/>
          <p:nvPr/>
        </p:nvSpPr>
        <p:spPr>
          <a:xfrm>
            <a:off x="749808" y="3291840"/>
            <a:ext cx="2523744" cy="447040"/>
          </a:xfrm>
          <a:prstGeom prst="rect">
            <a:avLst/>
          </a:prstGeom>
          <a:noFill/>
          <a:ln/>
        </p:spPr>
        <p:txBody>
          <a:bodyPr wrap="square" lIns="0" tIns="0" rIns="0" bIns="0" rtlCol="0" anchor="b"/>
          <a:lstStyle/>
          <a:p>
            <a:pPr indent="0" marL="0">
              <a:buNone/>
            </a:pPr>
            <a:r>
              <a:rPr lang="en-US" sz="2800" b="1" dirty="0">
                <a:solidFill>
                  <a:schemeClr val="accent3"/>
                </a:solidFill>
                <a:latin typeface="Arial" pitchFamily="34" charset="0"/>
                <a:ea typeface="Arial" pitchFamily="34" charset="-122"/>
                <a:cs typeface="Arial" pitchFamily="34" charset="-120"/>
              </a:rPr>
              <a:t>+198 spaces</a:t>
            </a:r>
            <a:endParaRPr lang="en-US" sz="2800" dirty="0"/>
          </a:p>
        </p:txBody>
      </p:sp>
      <p:sp>
        <p:nvSpPr>
          <p:cNvPr id="16" name="Whole label"/>
          <p:cNvSpPr txBox="1"/>
          <p:nvPr/>
        </p:nvSpPr>
        <p:spPr>
          <a:xfrm>
            <a:off x="749808" y="3793744"/>
            <a:ext cx="2523744" cy="695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found outside the 168 hand-labelled ones, from where cars stay 20 min</a:t>
            </a:r>
            <a:endParaRPr lang="en-US" sz="1300" dirty="0"/>
          </a:p>
        </p:txBody>
      </p:sp>
      <p:sp>
        <p:nvSpPr>
          <p:cNvPr id="17" name="Whole check panel"/>
          <p:cNvSpPr/>
          <p:nvPr/>
        </p:nvSpPr>
        <p:spPr>
          <a:xfrm>
            <a:off x="3657600" y="3200400"/>
            <a:ext cx="2926080" cy="1371600"/>
          </a:xfrm>
          <a:prstGeom prst="roundRect">
            <a:avLst>
              <a:gd name="adj" fmla="val 5333"/>
            </a:avLst>
          </a:prstGeom>
          <a:solidFill>
            <a:schemeClr val="bg2"/>
          </a:solidFill>
          <a:ln w="9525">
            <a:solidFill>
              <a:schemeClr val="accent5"/>
            </a:solidFill>
            <a:prstDash val="solid"/>
          </a:ln>
        </p:spPr>
      </p:sp>
      <p:sp>
        <p:nvSpPr>
          <p:cNvPr id="18" name="Whole check value"/>
          <p:cNvSpPr txBox="1"/>
          <p:nvPr/>
        </p:nvSpPr>
        <p:spPr>
          <a:xfrm>
            <a:off x="3858768" y="3291840"/>
            <a:ext cx="2523744" cy="44704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139 of 142</a:t>
            </a:r>
            <a:endParaRPr lang="en-US" sz="2800" dirty="0"/>
          </a:p>
        </p:txBody>
      </p:sp>
      <p:sp>
        <p:nvSpPr>
          <p:cNvPr id="19" name="Whole check label"/>
          <p:cNvSpPr txBox="1"/>
          <p:nvPr/>
        </p:nvSpPr>
        <p:spPr>
          <a:xfrm>
            <a:off x="3858768" y="3793744"/>
            <a:ext cx="2523744" cy="695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labelled spaces that cars used, found the same way: the check for the method</a:t>
            </a:r>
            <a:endParaRPr lang="en-US" sz="1300" dirty="0"/>
          </a:p>
        </p:txBody>
      </p:sp>
      <p:sp>
        <p:nvSpPr>
          <p:cNvPr id="20" name="Method panel"/>
          <p:cNvSpPr/>
          <p:nvPr/>
        </p:nvSpPr>
        <p:spPr>
          <a:xfrm>
            <a:off x="548640" y="4709160"/>
            <a:ext cx="6035040" cy="1508760"/>
          </a:xfrm>
          <a:prstGeom prst="roundRect">
            <a:avLst>
              <a:gd name="adj" fmla="val 4848"/>
            </a:avLst>
          </a:prstGeom>
          <a:solidFill>
            <a:schemeClr val="bg2"/>
          </a:solidFill>
          <a:ln w="9525">
            <a:solidFill>
              <a:schemeClr val="accent5"/>
            </a:solidFill>
            <a:prstDash val="solid"/>
          </a:ln>
        </p:spPr>
      </p:sp>
      <p:sp>
        <p:nvSpPr>
          <p:cNvPr id="21" name="Method text"/>
          <p:cNvSpPr txBox="1"/>
          <p:nvPr/>
        </p:nvSpPr>
        <p:spPr>
          <a:xfrm>
            <a:off x="777240" y="4818888"/>
            <a:ext cx="5577840" cy="1325880"/>
          </a:xfrm>
          <a:prstGeom prst="rect">
            <a:avLst/>
          </a:prstGeom>
          <a:noFill/>
          <a:ln/>
        </p:spPr>
        <p:txBody>
          <a:bodyPr wrap="square" lIns="0" tIns="0" rIns="0" bIns="0" rtlCol="0" anchor="ctr"/>
          <a:lstStyle/>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How it was checked: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every frame against the dataset's hand labels. Same rule as /parking, picked on its 96 calibration images. Cars seen on the labelled spaces: 146 in, 11 out.</a:t>
            </a:r>
            <a:endParaRPr lang="en-US" sz="1300" dirty="0"/>
          </a:p>
          <a:p>
            <a:pPr indent="0" marL="0">
              <a:spcAft>
                <a:spcPts val="400"/>
              </a:spcAft>
              <a:buNone/>
            </a:pPr>
            <a:r>
              <a:rPr lang="en-US" sz="1300" b="1" dirty="0">
                <a:solidFill>
                  <a:schemeClr val="accent2"/>
                </a:solidFill>
                <a:latin typeface="Calibri" pitchFamily="34" charset="0"/>
                <a:ea typeface="Calibri" pitchFamily="34" charset="-122"/>
                <a:cs typeface="Calibri" pitchFamily="34" charset="-120"/>
              </a:rPr>
              <a:t>Be clear: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recorded mornings of a public dataset, not a live feed yet.</a:t>
            </a:r>
            <a:endParaRPr lang="en-US" sz="1300" dirty="0"/>
          </a:p>
        </p:txBody>
      </p:sp>
      <p:sp>
        <p:nvSpPr>
          <p:cNvPr id="22" name="Chart panel"/>
          <p:cNvSpPr/>
          <p:nvPr/>
        </p:nvSpPr>
        <p:spPr>
          <a:xfrm>
            <a:off x="6858000" y="1691640"/>
            <a:ext cx="4785055" cy="4526280"/>
          </a:xfrm>
          <a:prstGeom prst="roundRect">
            <a:avLst>
              <a:gd name="adj" fmla="val 1616"/>
            </a:avLst>
          </a:prstGeom>
          <a:solidFill>
            <a:schemeClr val="bg2"/>
          </a:solidFill>
          <a:ln w="9525">
            <a:solidFill>
              <a:schemeClr val="accent5"/>
            </a:solidFill>
            <a:prstDash val="solid"/>
          </a:ln>
        </p:spPr>
      </p:sp>
      <p:sp>
        <p:nvSpPr>
          <p:cNvPr id="23" name="Text 21"/>
          <p:cNvSpPr txBox="1"/>
          <p:nvPr/>
        </p:nvSpPr>
        <p:spPr>
          <a:xfrm>
            <a:off x="7086600" y="1801368"/>
            <a:ext cx="4327855" cy="32918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Forecast error by minutes ahead</a:t>
            </a:r>
            <a:endParaRPr lang="en-US" sz="1500" dirty="0"/>
          </a:p>
        </p:txBody>
      </p:sp>
      <p:sp>
        <p:nvSpPr>
          <p:cNvPr id="24" name="Chart subtitle"/>
          <p:cNvSpPr txBox="1"/>
          <p:nvPr/>
        </p:nvSpPr>
        <p:spPr>
          <a:xfrm>
            <a:off x="7086600" y="2121408"/>
            <a:ext cx="4327855" cy="237744"/>
          </a:xfrm>
          <a:prstGeom prst="rect">
            <a:avLst/>
          </a:prstGeom>
          <a:noFill/>
          <a:ln/>
        </p:spPr>
        <p:txBody>
          <a:bodyPr wrap="square" lIns="0" tIns="0" rIns="0" bIns="0" rtlCol="0" anchor="t"/>
          <a:lstStyle/>
          <a:p>
            <a:pPr indent="0" marL="0">
              <a:spcAft>
                <a:spcPts val="400"/>
              </a:spcAft>
              <a:buNone/>
            </a:pPr>
            <a:r>
              <a:rPr lang="en-US" sz="1200" dirty="0">
                <a:solidFill>
                  <a:schemeClr val="tx2"/>
                </a:solidFill>
                <a:latin typeface="Calibri" pitchFamily="34" charset="0"/>
                <a:ea typeface="Calibri" pitchFamily="34" charset="-122"/>
                <a:cs typeface="Calibri" pitchFamily="34" charset="-120"/>
              </a:rPr>
              <a:t>mean spaces off, three car parks</a:t>
            </a:r>
            <a:endParaRPr lang="en-US" sz="1200" dirty="0"/>
          </a:p>
        </p:txBody>
      </p:sp>
      <p:graphicFrame>
        <p:nvGraphicFramePr>
          <p:cNvPr id="25" name="Forecast chart" descr=""/>
          <p:cNvGraphicFramePr/>
          <p:nvPr/>
        </p:nvGraphicFramePr>
        <p:xfrm>
          <a:off x="6995160" y="2404872"/>
          <a:ext cx="4510735" cy="2788920"/>
        </p:xfrm>
        <a:graphic xmlns:a="http://schemas.openxmlformats.org/drawingml/2006/main">
          <a:graphicData uri="http://schemas.openxmlformats.org/drawingml/2006/chart">
            <c:chart xmlns:c="http://schemas.openxmlformats.org/drawingml/2006/chart" r:id="rId1"/>
          </a:graphicData>
        </a:graphic>
      </p:graphicFrame>
      <p:sp>
        <p:nvSpPr>
          <p:cNvPr id="26" name="Chart caption"/>
          <p:cNvSpPr txBox="1"/>
          <p:nvPr/>
        </p:nvSpPr>
        <p:spPr>
          <a:xfrm>
            <a:off x="7086600" y="5276088"/>
            <a:ext cx="4327855" cy="868680"/>
          </a:xfrm>
          <a:prstGeom prst="rect">
            <a:avLst/>
          </a:prstGeom>
          <a:noFill/>
          <a:ln/>
        </p:spPr>
        <p:txBody>
          <a:bodyPr wrap="square" lIns="0" tIns="0" rIns="0" bIns="0" rtlCol="0" anchor="t"/>
          <a:lstStyle/>
          <a:p>
            <a:pPr indent="0" marL="0">
              <a:spcAft>
                <a:spcPts val="400"/>
              </a:spcAft>
              <a:buNone/>
            </a:pPr>
            <a:r>
              <a:rPr lang="en-US" sz="1250" b="1" dirty="0">
                <a:solidFill>
                  <a:schemeClr val="accent1"/>
                </a:solidFill>
                <a:latin typeface="Calibri" pitchFamily="34" charset="0"/>
                <a:ea typeface="Calibri" pitchFamily="34" charset="-122"/>
                <a:cs typeface="Calibri" pitchFamily="34" charset="-120"/>
              </a:rPr>
              <a:t>10 min ahead: </a:t>
            </a:r>
            <a:pPr indent="0" marL="0">
              <a:spcAft>
                <a:spcPts val="400"/>
              </a:spcAft>
              <a:buNone/>
            </a:pPr>
            <a:r>
              <a:rPr lang="en-US" sz="1250" dirty="0">
                <a:solidFill>
                  <a:schemeClr val="tx1"/>
                </a:solidFill>
                <a:latin typeface="Calibri" pitchFamily="34" charset="0"/>
                <a:ea typeface="Calibri" pitchFamily="34" charset="-122"/>
                <a:cs typeface="Calibri" pitchFamily="34" charset="-120"/>
              </a:rPr>
              <a:t>3.0 spaces off, against 4.6 for "same as now", over 101 forecasts.</a:t>
            </a:r>
            <a:endParaRPr lang="en-US" sz="1250" dirty="0"/>
          </a:p>
          <a:p>
            <a:pPr indent="0" marL="0">
              <a:spcAft>
                <a:spcPts val="400"/>
              </a:spcAft>
              <a:buNone/>
            </a:pPr>
            <a:r>
              <a:rPr lang="en-US" sz="1250" dirty="0">
                <a:solidFill>
                  <a:schemeClr val="tx2"/>
                </a:solidFill>
                <a:latin typeface="Calibri" pitchFamily="34" charset="0"/>
                <a:ea typeface="Calibri" pitchFamily="34" charset="-122"/>
                <a:cs typeface="Calibri" pitchFamily="34" charset="-120"/>
              </a:rPr>
              <a:t>Trend: half the last 20 minutes, half the car park's typical weekday, from the labels of its other days.</a:t>
            </a:r>
            <a:endParaRPr lang="en-US" sz="125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TECHNOLOGY AND ARCHITECTURE</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From a camera frame to advice</a:t>
            </a:r>
            <a:endParaRPr lang="en-US" sz="3600" dirty="0"/>
          </a:p>
        </p:txBody>
      </p:sp>
      <p:sp>
        <p:nvSpPr>
          <p:cNvPr id="8" name="Pipeline frame"/>
          <p:cNvSpPr/>
          <p:nvPr/>
        </p:nvSpPr>
        <p:spPr>
          <a:xfrm>
            <a:off x="548640" y="1691640"/>
            <a:ext cx="11094415" cy="2880360"/>
          </a:xfrm>
          <a:prstGeom prst="roundRect">
            <a:avLst>
              <a:gd name="adj" fmla="val 2540"/>
            </a:avLst>
          </a:prstGeom>
          <a:solidFill>
            <a:schemeClr val="bg2"/>
          </a:solidFill>
          <a:ln w="9525">
            <a:solidFill>
              <a:schemeClr val="accent5"/>
            </a:solidFill>
            <a:prstDash val="solid"/>
          </a:ln>
        </p:spPr>
      </p:sp>
      <p:sp>
        <p:nvSpPr>
          <p:cNvPr id="9" name="Pipeline label"/>
          <p:cNvSpPr txBox="1"/>
          <p:nvPr/>
        </p:nvSpPr>
        <p:spPr>
          <a:xfrm>
            <a:off x="822960" y="1783080"/>
            <a:ext cx="7315200" cy="320040"/>
          </a:xfrm>
          <a:prstGeom prst="rect">
            <a:avLst/>
          </a:prstGeom>
          <a:noFill/>
          <a:ln/>
        </p:spPr>
        <p:txBody>
          <a:bodyPr wrap="square" lIns="0" tIns="0" rIns="0" bIns="0" rtlCol="0" anchor="ctr"/>
          <a:lstStyle/>
          <a:p>
            <a:pPr indent="0" marL="0">
              <a:spcAft>
                <a:spcPts val="400"/>
              </a:spcAft>
              <a:buNone/>
            </a:pPr>
            <a:r>
              <a:rPr lang="en-US" sz="1400" b="1" dirty="0">
                <a:solidFill>
                  <a:schemeClr val="tx2"/>
                </a:solidFill>
                <a:latin typeface="Arial" pitchFamily="34" charset="0"/>
                <a:ea typeface="Arial" pitchFamily="34" charset="-122"/>
                <a:cs typeface="Arial" pitchFamily="34" charset="-120"/>
              </a:rPr>
              <a:t>For each camera, the same pipeline on every page</a:t>
            </a:r>
            <a:endParaRPr lang="en-US" sz="1400" dirty="0"/>
          </a:p>
        </p:txBody>
      </p:sp>
      <p:sp>
        <p:nvSpPr>
          <p:cNvPr id="10" name="Arch box 1"/>
          <p:cNvSpPr/>
          <p:nvPr/>
        </p:nvSpPr>
        <p:spPr>
          <a:xfrm>
            <a:off x="822960" y="2212848"/>
            <a:ext cx="1889699" cy="2194560"/>
          </a:xfrm>
          <a:prstGeom prst="roundRect">
            <a:avLst>
              <a:gd name="adj" fmla="val 3871"/>
            </a:avLst>
          </a:prstGeom>
          <a:solidFill>
            <a:schemeClr val="bg1"/>
          </a:solidFill>
          <a:ln w="9525">
            <a:solidFill>
              <a:schemeClr val="accent5"/>
            </a:solidFill>
            <a:prstDash val="solid"/>
          </a:ln>
        </p:spPr>
      </p:sp>
      <p:sp>
        <p:nvSpPr>
          <p:cNvPr id="11" name="Arch box 1 title"/>
          <p:cNvSpPr txBox="1"/>
          <p:nvPr/>
        </p:nvSpPr>
        <p:spPr>
          <a:xfrm>
            <a:off x="987552" y="2331720"/>
            <a:ext cx="1560515" cy="347472"/>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Frames</a:t>
            </a:r>
            <a:endParaRPr lang="en-US" sz="1500" dirty="0"/>
          </a:p>
        </p:txBody>
      </p:sp>
      <p:sp>
        <p:nvSpPr>
          <p:cNvPr id="12" name="Arch box 1 text"/>
          <p:cNvSpPr txBox="1"/>
          <p:nvPr/>
        </p:nvSpPr>
        <p:spPr>
          <a:xfrm>
            <a:off x="987552" y="2724912"/>
            <a:ext cx="1560515" cy="1627632"/>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alibri" pitchFamily="34" charset="0"/>
                <a:ea typeface="Calibri" pitchFamily="34" charset="-122"/>
                <a:cs typeface="Calibri" pitchFamily="34" charset="-120"/>
              </a:rPr>
              <a:t>One frame every 5 min from an ordinary fixed camera, or a photo, or a video.</a:t>
            </a:r>
            <a:endParaRPr lang="en-US" sz="1400" dirty="0"/>
          </a:p>
        </p:txBody>
      </p:sp>
      <p:sp>
        <p:nvSpPr>
          <p:cNvPr id="13" name="Arch arrow 1"/>
          <p:cNvSpPr/>
          <p:nvPr/>
        </p:nvSpPr>
        <p:spPr>
          <a:xfrm rot="5400000">
            <a:off x="2776667" y="3246120"/>
            <a:ext cx="146304" cy="109728"/>
          </a:xfrm>
          <a:prstGeom prst="triangle">
            <a:avLst/>
          </a:prstGeom>
          <a:solidFill>
            <a:schemeClr val="accent1"/>
          </a:solidFill>
          <a:ln/>
        </p:spPr>
      </p:sp>
      <p:sp>
        <p:nvSpPr>
          <p:cNvPr id="14" name="Arch box 2"/>
          <p:cNvSpPr/>
          <p:nvPr/>
        </p:nvSpPr>
        <p:spPr>
          <a:xfrm>
            <a:off x="2986979" y="2212848"/>
            <a:ext cx="1889699" cy="2194560"/>
          </a:xfrm>
          <a:prstGeom prst="roundRect">
            <a:avLst>
              <a:gd name="adj" fmla="val 3871"/>
            </a:avLst>
          </a:prstGeom>
          <a:solidFill>
            <a:schemeClr val="bg1"/>
          </a:solidFill>
          <a:ln w="9525">
            <a:solidFill>
              <a:schemeClr val="accent5"/>
            </a:solidFill>
            <a:prstDash val="solid"/>
          </a:ln>
        </p:spPr>
      </p:sp>
      <p:sp>
        <p:nvSpPr>
          <p:cNvPr id="15" name="Arch box 2 title"/>
          <p:cNvSpPr txBox="1"/>
          <p:nvPr/>
        </p:nvSpPr>
        <p:spPr>
          <a:xfrm>
            <a:off x="3151571" y="2331720"/>
            <a:ext cx="1560515" cy="347472"/>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Detect</a:t>
            </a:r>
            <a:endParaRPr lang="en-US" sz="1500" dirty="0"/>
          </a:p>
        </p:txBody>
      </p:sp>
      <p:sp>
        <p:nvSpPr>
          <p:cNvPr id="16" name="Arch box 2 text"/>
          <p:cNvSpPr txBox="1"/>
          <p:nvPr/>
        </p:nvSpPr>
        <p:spPr>
          <a:xfrm>
            <a:off x="3151571" y="2724912"/>
            <a:ext cx="1560515" cy="1627632"/>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alibri" pitchFamily="34" charset="0"/>
                <a:ea typeface="Calibri" pitchFamily="34" charset="-122"/>
                <a:cs typeface="Calibri" pitchFamily="34" charset="-120"/>
              </a:rPr>
              <a:t>YOLO26m on the tracker frames; YOLO26n (10 MB) in the browser. Whole frame plus 3 x 3 tiles at 960 px.</a:t>
            </a:r>
            <a:endParaRPr lang="en-US" sz="1400" dirty="0"/>
          </a:p>
        </p:txBody>
      </p:sp>
      <p:sp>
        <p:nvSpPr>
          <p:cNvPr id="17" name="Arch arrow 2"/>
          <p:cNvSpPr/>
          <p:nvPr/>
        </p:nvSpPr>
        <p:spPr>
          <a:xfrm rot="5400000">
            <a:off x="4940686" y="3246120"/>
            <a:ext cx="146304" cy="109728"/>
          </a:xfrm>
          <a:prstGeom prst="triangle">
            <a:avLst/>
          </a:prstGeom>
          <a:solidFill>
            <a:schemeClr val="accent1"/>
          </a:solidFill>
          <a:ln/>
        </p:spPr>
      </p:sp>
      <p:sp>
        <p:nvSpPr>
          <p:cNvPr id="18" name="Arch box 3"/>
          <p:cNvSpPr/>
          <p:nvPr/>
        </p:nvSpPr>
        <p:spPr>
          <a:xfrm>
            <a:off x="5150998" y="2212848"/>
            <a:ext cx="1889699" cy="2194560"/>
          </a:xfrm>
          <a:prstGeom prst="roundRect">
            <a:avLst>
              <a:gd name="adj" fmla="val 3871"/>
            </a:avLst>
          </a:prstGeom>
          <a:solidFill>
            <a:schemeClr val="bg1"/>
          </a:solidFill>
          <a:ln w="9525">
            <a:solidFill>
              <a:schemeClr val="accent5"/>
            </a:solidFill>
            <a:prstDash val="solid"/>
          </a:ln>
        </p:spPr>
      </p:sp>
      <p:sp>
        <p:nvSpPr>
          <p:cNvPr id="19" name="Arch box 3 title"/>
          <p:cNvSpPr txBox="1"/>
          <p:nvPr/>
        </p:nvSpPr>
        <p:spPr>
          <a:xfrm>
            <a:off x="5315590" y="2331720"/>
            <a:ext cx="1560515" cy="347472"/>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Space state</a:t>
            </a:r>
            <a:endParaRPr lang="en-US" sz="1500" dirty="0"/>
          </a:p>
        </p:txBody>
      </p:sp>
      <p:sp>
        <p:nvSpPr>
          <p:cNvPr id="20" name="Arch box 3 text"/>
          <p:cNvSpPr txBox="1"/>
          <p:nvPr/>
        </p:nvSpPr>
        <p:spPr>
          <a:xfrm>
            <a:off x="5315590" y="2724912"/>
            <a:ext cx="1560515" cy="1627632"/>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alibri" pitchFamily="34" charset="0"/>
                <a:ea typeface="Calibri" pitchFamily="34" charset="-122"/>
                <a:cs typeface="Calibri" pitchFamily="34" charset="-120"/>
              </a:rPr>
              <a:t>Taken when one box covers 40% of the space. It changes only when two frames in a row agree.</a:t>
            </a:r>
            <a:endParaRPr lang="en-US" sz="1400" dirty="0"/>
          </a:p>
        </p:txBody>
      </p:sp>
      <p:sp>
        <p:nvSpPr>
          <p:cNvPr id="21" name="Arch arrow 3"/>
          <p:cNvSpPr/>
          <p:nvPr/>
        </p:nvSpPr>
        <p:spPr>
          <a:xfrm rot="5400000">
            <a:off x="7104705" y="3246120"/>
            <a:ext cx="146304" cy="109728"/>
          </a:xfrm>
          <a:prstGeom prst="triangle">
            <a:avLst/>
          </a:prstGeom>
          <a:solidFill>
            <a:schemeClr val="accent1"/>
          </a:solidFill>
          <a:ln/>
        </p:spPr>
      </p:sp>
      <p:sp>
        <p:nvSpPr>
          <p:cNvPr id="22" name="Arch box 4"/>
          <p:cNvSpPr/>
          <p:nvPr/>
        </p:nvSpPr>
        <p:spPr>
          <a:xfrm>
            <a:off x="7315017" y="2212848"/>
            <a:ext cx="1889699" cy="2194560"/>
          </a:xfrm>
          <a:prstGeom prst="roundRect">
            <a:avLst>
              <a:gd name="adj" fmla="val 3871"/>
            </a:avLst>
          </a:prstGeom>
          <a:solidFill>
            <a:schemeClr val="bg1"/>
          </a:solidFill>
          <a:ln w="9525">
            <a:solidFill>
              <a:schemeClr val="accent5"/>
            </a:solidFill>
            <a:prstDash val="solid"/>
          </a:ln>
        </p:spPr>
      </p:sp>
      <p:sp>
        <p:nvSpPr>
          <p:cNvPr id="23" name="Arch box 4 title"/>
          <p:cNvSpPr txBox="1"/>
          <p:nvPr/>
        </p:nvSpPr>
        <p:spPr>
          <a:xfrm>
            <a:off x="7479609" y="2331720"/>
            <a:ext cx="1560515" cy="347472"/>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Forecast</a:t>
            </a:r>
            <a:endParaRPr lang="en-US" sz="1500" dirty="0"/>
          </a:p>
        </p:txBody>
      </p:sp>
      <p:sp>
        <p:nvSpPr>
          <p:cNvPr id="24" name="Arch box 4 text"/>
          <p:cNvSpPr txBox="1"/>
          <p:nvPr/>
        </p:nvSpPr>
        <p:spPr>
          <a:xfrm>
            <a:off x="7479609" y="2724912"/>
            <a:ext cx="1560515" cy="1627632"/>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alibri" pitchFamily="34" charset="0"/>
                <a:ea typeface="Calibri" pitchFamily="34" charset="-122"/>
                <a:cs typeface="Calibri" pitchFamily="34" charset="-120"/>
              </a:rPr>
              <a:t>Free spaces, cars in and out. Free spaces 10 min ahead from the last 20 minutes and the usual weekday.</a:t>
            </a:r>
            <a:endParaRPr lang="en-US" sz="1400" dirty="0"/>
          </a:p>
        </p:txBody>
      </p:sp>
      <p:sp>
        <p:nvSpPr>
          <p:cNvPr id="25" name="Arch arrow 4"/>
          <p:cNvSpPr/>
          <p:nvPr/>
        </p:nvSpPr>
        <p:spPr>
          <a:xfrm rot="5400000">
            <a:off x="9268724" y="3246120"/>
            <a:ext cx="146304" cy="109728"/>
          </a:xfrm>
          <a:prstGeom prst="triangle">
            <a:avLst/>
          </a:prstGeom>
          <a:solidFill>
            <a:schemeClr val="accent1"/>
          </a:solidFill>
          <a:ln/>
        </p:spPr>
      </p:sp>
      <p:sp>
        <p:nvSpPr>
          <p:cNvPr id="26" name="Arch box 5"/>
          <p:cNvSpPr/>
          <p:nvPr/>
        </p:nvSpPr>
        <p:spPr>
          <a:xfrm>
            <a:off x="9479036" y="2212848"/>
            <a:ext cx="1889699" cy="2194560"/>
          </a:xfrm>
          <a:prstGeom prst="roundRect">
            <a:avLst>
              <a:gd name="adj" fmla="val 3871"/>
            </a:avLst>
          </a:prstGeom>
          <a:solidFill>
            <a:schemeClr val="bg1"/>
          </a:solidFill>
          <a:ln w="9525">
            <a:solidFill>
              <a:schemeClr val="accent5"/>
            </a:solidFill>
            <a:prstDash val="solid"/>
          </a:ln>
        </p:spPr>
      </p:sp>
      <p:sp>
        <p:nvSpPr>
          <p:cNvPr id="27" name="Arch box 5 title"/>
          <p:cNvSpPr txBox="1"/>
          <p:nvPr/>
        </p:nvSpPr>
        <p:spPr>
          <a:xfrm>
            <a:off x="9643628" y="2331720"/>
            <a:ext cx="1560515" cy="347472"/>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Advise</a:t>
            </a:r>
            <a:endParaRPr lang="en-US" sz="1500" dirty="0"/>
          </a:p>
        </p:txBody>
      </p:sp>
      <p:sp>
        <p:nvSpPr>
          <p:cNvPr id="28" name="Arch box 5 text"/>
          <p:cNvSpPr txBox="1"/>
          <p:nvPr/>
        </p:nvSpPr>
        <p:spPr>
          <a:xfrm>
            <a:off x="9643628" y="2724912"/>
            <a:ext cx="1560515" cy="1627632"/>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alibri" pitchFamily="34" charset="0"/>
                <a:ea typeface="Calibri" pitchFamily="34" charset="-122"/>
                <a:cs typeface="Calibri" pitchFamily="34" charset="-120"/>
              </a:rPr>
              <a:t>Drivers placed one by one on the car park and route of least door-to-door time, counting those already sent.</a:t>
            </a:r>
            <a:endParaRPr lang="en-US" sz="1400" dirty="0"/>
          </a:p>
        </p:txBody>
      </p:sp>
      <p:sp>
        <p:nvSpPr>
          <p:cNvPr id="29" name="Tech stat 1 panel"/>
          <p:cNvSpPr/>
          <p:nvPr/>
        </p:nvSpPr>
        <p:spPr>
          <a:xfrm>
            <a:off x="548640" y="4800600"/>
            <a:ext cx="2567864" cy="1371600"/>
          </a:xfrm>
          <a:prstGeom prst="roundRect">
            <a:avLst>
              <a:gd name="adj" fmla="val 5333"/>
            </a:avLst>
          </a:prstGeom>
          <a:solidFill>
            <a:schemeClr val="bg2"/>
          </a:solidFill>
          <a:ln w="9525">
            <a:solidFill>
              <a:schemeClr val="accent5"/>
            </a:solidFill>
            <a:prstDash val="solid"/>
          </a:ln>
        </p:spPr>
      </p:sp>
      <p:sp>
        <p:nvSpPr>
          <p:cNvPr id="30" name="Tech stat 1 value"/>
          <p:cNvSpPr txBox="1"/>
          <p:nvPr/>
        </p:nvSpPr>
        <p:spPr>
          <a:xfrm>
            <a:off x="749808" y="4892040"/>
            <a:ext cx="2165528" cy="502920"/>
          </a:xfrm>
          <a:prstGeom prst="rect">
            <a:avLst/>
          </a:prstGeom>
          <a:noFill/>
          <a:ln/>
        </p:spPr>
        <p:txBody>
          <a:bodyPr wrap="square" lIns="0" tIns="0" rIns="0" bIns="0" rtlCol="0" anchor="b"/>
          <a:lstStyle/>
          <a:p>
            <a:pPr indent="0" marL="0">
              <a:buNone/>
            </a:pPr>
            <a:r>
              <a:rPr lang="en-US" sz="3200" b="1" dirty="0">
                <a:solidFill>
                  <a:schemeClr val="accent1"/>
                </a:solidFill>
                <a:latin typeface="Arial" pitchFamily="34" charset="0"/>
                <a:ea typeface="Arial" pitchFamily="34" charset="-122"/>
                <a:cs typeface="Arial" pitchFamily="34" charset="-120"/>
              </a:rPr>
              <a:t>10 MB</a:t>
            </a:r>
            <a:endParaRPr lang="en-US" sz="3200" dirty="0"/>
          </a:p>
        </p:txBody>
      </p:sp>
      <p:sp>
        <p:nvSpPr>
          <p:cNvPr id="31" name="Tech stat 1 label"/>
          <p:cNvSpPr txBox="1"/>
          <p:nvPr/>
        </p:nvSpPr>
        <p:spPr>
          <a:xfrm>
            <a:off x="749808" y="5449824"/>
            <a:ext cx="2165528"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detector, YOLO26n in ONNX Runtime Web: WebGPU or WebAssembly</a:t>
            </a:r>
            <a:endParaRPr lang="en-US" sz="1300" dirty="0"/>
          </a:p>
        </p:txBody>
      </p:sp>
      <p:sp>
        <p:nvSpPr>
          <p:cNvPr id="32" name="Tech stat 2 panel"/>
          <p:cNvSpPr/>
          <p:nvPr/>
        </p:nvSpPr>
        <p:spPr>
          <a:xfrm>
            <a:off x="3390824" y="4800600"/>
            <a:ext cx="2567864" cy="1371600"/>
          </a:xfrm>
          <a:prstGeom prst="roundRect">
            <a:avLst>
              <a:gd name="adj" fmla="val 5333"/>
            </a:avLst>
          </a:prstGeom>
          <a:solidFill>
            <a:schemeClr val="bg2"/>
          </a:solidFill>
          <a:ln w="9525">
            <a:solidFill>
              <a:schemeClr val="accent5"/>
            </a:solidFill>
            <a:prstDash val="solid"/>
          </a:ln>
        </p:spPr>
      </p:sp>
      <p:sp>
        <p:nvSpPr>
          <p:cNvPr id="33" name="Tech stat 2 value"/>
          <p:cNvSpPr txBox="1"/>
          <p:nvPr/>
        </p:nvSpPr>
        <p:spPr>
          <a:xfrm>
            <a:off x="3591992" y="4892040"/>
            <a:ext cx="2165528" cy="502920"/>
          </a:xfrm>
          <a:prstGeom prst="rect">
            <a:avLst/>
          </a:prstGeom>
          <a:noFill/>
          <a:ln/>
        </p:spPr>
        <p:txBody>
          <a:bodyPr wrap="square" lIns="0" tIns="0" rIns="0" bIns="0" rtlCol="0" anchor="b"/>
          <a:lstStyle/>
          <a:p>
            <a:pPr indent="0" marL="0">
              <a:buNone/>
            </a:pPr>
            <a:r>
              <a:rPr lang="en-US" sz="3200" b="1" dirty="0">
                <a:solidFill>
                  <a:schemeClr val="accent4"/>
                </a:solidFill>
                <a:latin typeface="Arial" pitchFamily="34" charset="0"/>
                <a:ea typeface="Arial" pitchFamily="34" charset="-122"/>
                <a:cs typeface="Arial" pitchFamily="34" charset="-120"/>
              </a:rPr>
              <a:t>0</a:t>
            </a:r>
            <a:endParaRPr lang="en-US" sz="3200" dirty="0"/>
          </a:p>
        </p:txBody>
      </p:sp>
      <p:sp>
        <p:nvSpPr>
          <p:cNvPr id="34" name="Tech stat 2 label"/>
          <p:cNvSpPr txBox="1"/>
          <p:nvPr/>
        </p:nvSpPr>
        <p:spPr>
          <a:xfrm>
            <a:off x="3591992" y="5449824"/>
            <a:ext cx="2165528"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GPU servers. The detector runs in a browser tab.</a:t>
            </a:r>
            <a:endParaRPr lang="en-US" sz="1300" dirty="0"/>
          </a:p>
        </p:txBody>
      </p:sp>
      <p:sp>
        <p:nvSpPr>
          <p:cNvPr id="35" name="Tech stat 3 panel"/>
          <p:cNvSpPr/>
          <p:nvPr/>
        </p:nvSpPr>
        <p:spPr>
          <a:xfrm>
            <a:off x="6233008" y="4800600"/>
            <a:ext cx="2567864" cy="1371600"/>
          </a:xfrm>
          <a:prstGeom prst="roundRect">
            <a:avLst>
              <a:gd name="adj" fmla="val 5333"/>
            </a:avLst>
          </a:prstGeom>
          <a:solidFill>
            <a:schemeClr val="bg2"/>
          </a:solidFill>
          <a:ln w="9525">
            <a:solidFill>
              <a:schemeClr val="accent5"/>
            </a:solidFill>
            <a:prstDash val="solid"/>
          </a:ln>
        </p:spPr>
      </p:sp>
      <p:sp>
        <p:nvSpPr>
          <p:cNvPr id="36" name="Tech stat 3 value"/>
          <p:cNvSpPr txBox="1"/>
          <p:nvPr/>
        </p:nvSpPr>
        <p:spPr>
          <a:xfrm>
            <a:off x="6434176" y="4892040"/>
            <a:ext cx="2165528" cy="502920"/>
          </a:xfrm>
          <a:prstGeom prst="rect">
            <a:avLst/>
          </a:prstGeom>
          <a:noFill/>
          <a:ln/>
        </p:spPr>
        <p:txBody>
          <a:bodyPr wrap="square" lIns="0" tIns="0" rIns="0" bIns="0" rtlCol="0" anchor="b"/>
          <a:lstStyle/>
          <a:p>
            <a:pPr indent="0" marL="0">
              <a:buNone/>
            </a:pPr>
            <a:r>
              <a:rPr lang="en-US" sz="3200" b="1" dirty="0">
                <a:solidFill>
                  <a:schemeClr val="accent1"/>
                </a:solidFill>
                <a:latin typeface="Arial" pitchFamily="34" charset="0"/>
                <a:ea typeface="Arial" pitchFamily="34" charset="-122"/>
                <a:cs typeface="Arial" pitchFamily="34" charset="-120"/>
              </a:rPr>
              <a:t>No plates</a:t>
            </a:r>
            <a:endParaRPr lang="en-US" sz="3200" dirty="0"/>
          </a:p>
        </p:txBody>
      </p:sp>
      <p:sp>
        <p:nvSpPr>
          <p:cNvPr id="37" name="Tech stat 3 label"/>
          <p:cNvSpPr txBox="1"/>
          <p:nvPr/>
        </p:nvSpPr>
        <p:spPr>
          <a:xfrm>
            <a:off x="6434176" y="5449824"/>
            <a:ext cx="2165528"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and no faces are read. Only vehicle boxes.</a:t>
            </a:r>
            <a:endParaRPr lang="en-US" sz="1300" dirty="0"/>
          </a:p>
        </p:txBody>
      </p:sp>
      <p:sp>
        <p:nvSpPr>
          <p:cNvPr id="38" name="Tech stat 4 panel"/>
          <p:cNvSpPr/>
          <p:nvPr/>
        </p:nvSpPr>
        <p:spPr>
          <a:xfrm>
            <a:off x="9075191" y="4800600"/>
            <a:ext cx="2567864" cy="1371600"/>
          </a:xfrm>
          <a:prstGeom prst="roundRect">
            <a:avLst>
              <a:gd name="adj" fmla="val 5333"/>
            </a:avLst>
          </a:prstGeom>
          <a:solidFill>
            <a:schemeClr val="bg2"/>
          </a:solidFill>
          <a:ln w="9525">
            <a:solidFill>
              <a:schemeClr val="accent5"/>
            </a:solidFill>
            <a:prstDash val="solid"/>
          </a:ln>
        </p:spPr>
      </p:sp>
      <p:sp>
        <p:nvSpPr>
          <p:cNvPr id="39" name="Tech stat 4 value"/>
          <p:cNvSpPr txBox="1"/>
          <p:nvPr/>
        </p:nvSpPr>
        <p:spPr>
          <a:xfrm>
            <a:off x="9276359" y="4892040"/>
            <a:ext cx="2165528" cy="502920"/>
          </a:xfrm>
          <a:prstGeom prst="rect">
            <a:avLst/>
          </a:prstGeom>
          <a:noFill/>
          <a:ln/>
        </p:spPr>
        <p:txBody>
          <a:bodyPr wrap="square" lIns="0" tIns="0" rIns="0" bIns="0" rtlCol="0" anchor="b"/>
          <a:lstStyle/>
          <a:p>
            <a:pPr indent="0" marL="0">
              <a:buNone/>
            </a:pPr>
            <a:r>
              <a:rPr lang="en-US" sz="3200" b="1" dirty="0">
                <a:solidFill>
                  <a:schemeClr val="accent3"/>
                </a:solidFill>
                <a:latin typeface="Arial" pitchFamily="34" charset="0"/>
                <a:ea typeface="Arial" pitchFamily="34" charset="-122"/>
                <a:cs typeface="Arial" pitchFamily="34" charset="-120"/>
              </a:rPr>
              <a:t>4 pages</a:t>
            </a:r>
            <a:endParaRPr lang="en-US" sz="3200" dirty="0"/>
          </a:p>
        </p:txBody>
      </p:sp>
      <p:sp>
        <p:nvSpPr>
          <p:cNvPr id="40" name="Tech stat 4 label"/>
          <p:cNvSpPr txBox="1"/>
          <p:nvPr/>
        </p:nvSpPr>
        <p:spPr>
          <a:xfrm>
            <a:off x="9276359" y="5449824"/>
            <a:ext cx="2165528"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one pipeline: tracker, own photo, district, billboard counter</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LIVE DEMO 2 OF 4  ·  /parking</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Your own photo, no hand marking</a:t>
            </a:r>
            <a:endParaRPr lang="en-US" sz="3600" dirty="0"/>
          </a:p>
        </p:txBody>
      </p:sp>
      <p:sp>
        <p:nvSpPr>
          <p:cNvPr id="8" name="Own photo panel"/>
          <p:cNvSpPr/>
          <p:nvPr/>
        </p:nvSpPr>
        <p:spPr>
          <a:xfrm>
            <a:off x="548640" y="1691640"/>
            <a:ext cx="6400800" cy="3658351"/>
          </a:xfrm>
          <a:prstGeom prst="roundRect">
            <a:avLst>
              <a:gd name="adj" fmla="val 2000"/>
            </a:avLst>
          </a:prstGeom>
          <a:solidFill>
            <a:schemeClr val="bg2"/>
          </a:solidFill>
          <a:ln w="9525">
            <a:solidFill>
              <a:schemeClr val="accent5"/>
            </a:solidFill>
            <a:prstDash val="solid"/>
          </a:ln>
        </p:spPr>
      </p:sp>
      <p:pic>
        <p:nvPicPr>
          <p:cNvPr id="9" name="Own photo" descr="A car park photo loaded on /parking: cars marked as taken spaces and gaps in rows of cars as suggested free spaces">    </p:cNvPr>
          <p:cNvPicPr>
            <a:picLocks noChangeAspect="1"/>
          </p:cNvPicPr>
          <p:nvPr/>
        </p:nvPicPr>
        <p:blipFill>
          <a:blip r:embed="rId1"/>
          <a:srcRect l="0" r="0" t="0" b="0"/>
          <a:stretch/>
        </p:blipFill>
        <p:spPr>
          <a:xfrm>
            <a:off x="612648" y="1755648"/>
            <a:ext cx="6272784" cy="3530335"/>
          </a:xfrm>
          <a:prstGeom prst="rect">
            <a:avLst/>
          </a:prstGeom>
        </p:spPr>
      </p:pic>
      <p:sp>
        <p:nvSpPr>
          <p:cNvPr id="10" name="Photo caption"/>
          <p:cNvSpPr txBox="1"/>
          <p:nvPr/>
        </p:nvSpPr>
        <p:spPr>
          <a:xfrm>
            <a:off x="548640" y="5441431"/>
            <a:ext cx="6400800" cy="776489"/>
          </a:xfrm>
          <a:prstGeom prst="rect">
            <a:avLst/>
          </a:prstGeom>
          <a:noFill/>
          <a:ln/>
        </p:spPr>
        <p:txBody>
          <a:bodyPr wrap="square" lIns="0" tIns="0" rIns="0" bIns="0" rtlCol="0" anchor="t"/>
          <a:lstStyle/>
          <a:p>
            <a:pPr indent="0" marL="0">
              <a:spcAft>
                <a:spcPts val="400"/>
              </a:spcAft>
              <a:buNone/>
            </a:pPr>
            <a:r>
              <a:rPr lang="en-US" sz="1200" b="1" dirty="0">
                <a:solidFill>
                  <a:schemeClr val="accent2"/>
                </a:solidFill>
                <a:latin typeface="Calibri" pitchFamily="34" charset="0"/>
                <a:ea typeface="Calibri" pitchFamily="34" charset="-122"/>
                <a:cs typeface="Calibri" pitchFamily="34" charset="-120"/>
              </a:rPr>
              <a:t>Red: </a:t>
            </a:r>
            <a:pPr indent="0" marL="0">
              <a:spcAft>
                <a:spcPts val="400"/>
              </a:spcAft>
              <a:buNone/>
            </a:pPr>
            <a:r>
              <a:rPr lang="en-US" sz="1200" dirty="0">
                <a:solidFill>
                  <a:schemeClr val="tx1"/>
                </a:solidFill>
                <a:latin typeface="Calibri" pitchFamily="34" charset="0"/>
                <a:ea typeface="Calibri" pitchFamily="34" charset="-122"/>
                <a:cs typeface="Calibri" pitchFamily="34" charset="-120"/>
              </a:rPr>
              <a:t>every car found is a taken space.  </a:t>
            </a:r>
            <a:pPr indent="0" marL="0">
              <a:spcAft>
                <a:spcPts val="400"/>
              </a:spcAft>
              <a:buNone/>
            </a:pPr>
            <a:r>
              <a:rPr lang="en-US" sz="1200" b="1" dirty="0">
                <a:solidFill>
                  <a:schemeClr val="accent4"/>
                </a:solidFill>
                <a:latin typeface="Calibri" pitchFamily="34" charset="0"/>
                <a:ea typeface="Calibri" pitchFamily="34" charset="-122"/>
                <a:cs typeface="Calibri" pitchFamily="34" charset="-120"/>
              </a:rPr>
              <a:t>Dashed green: </a:t>
            </a:r>
            <a:pPr indent="0" marL="0">
              <a:spcAft>
                <a:spcPts val="400"/>
              </a:spcAft>
              <a:buNone/>
            </a:pPr>
            <a:r>
              <a:rPr lang="en-US" sz="1200" dirty="0">
                <a:solidFill>
                  <a:schemeClr val="tx1"/>
                </a:solidFill>
                <a:latin typeface="Calibri" pitchFamily="34" charset="0"/>
                <a:ea typeface="Calibri" pitchFamily="34" charset="-122"/>
                <a:cs typeface="Calibri" pitchFamily="34" charset="-120"/>
              </a:rPr>
              <a:t>a gap in a row of cars that fits a car is a suggested free space.</a:t>
            </a:r>
            <a:endParaRPr lang="en-US" sz="1200" dirty="0"/>
          </a:p>
          <a:p>
            <a:pPr indent="0" marL="0">
              <a:spcAft>
                <a:spcPts val="400"/>
              </a:spcAft>
              <a:buNone/>
            </a:pPr>
            <a:r>
              <a:rPr lang="en-US" sz="1200" dirty="0">
                <a:solidFill>
                  <a:schemeClr val="tx2"/>
                </a:solidFill>
                <a:latin typeface="Calibri" pitchFamily="34" charset="0"/>
                <a:ea typeface="Calibri" pitchFamily="34" charset="-122"/>
                <a:cs typeface="Calibri" pitchFamily="34" charset="-120"/>
              </a:rPr>
              <a:t>A PKLot frame loaded as your own photo, no hand labels used. Far rows are also read on 5 x 5 tiles, each enlarged.</a:t>
            </a:r>
            <a:endParaRPr lang="en-US" sz="1200" dirty="0"/>
          </a:p>
        </p:txBody>
      </p:sp>
      <p:sp>
        <p:nvSpPr>
          <p:cNvPr id="11" name="Taken found panel"/>
          <p:cNvSpPr/>
          <p:nvPr/>
        </p:nvSpPr>
        <p:spPr>
          <a:xfrm>
            <a:off x="7223760" y="1691640"/>
            <a:ext cx="2118208" cy="1325880"/>
          </a:xfrm>
          <a:prstGeom prst="roundRect">
            <a:avLst>
              <a:gd name="adj" fmla="val 5517"/>
            </a:avLst>
          </a:prstGeom>
          <a:solidFill>
            <a:schemeClr val="bg2"/>
          </a:solidFill>
          <a:ln w="9525">
            <a:solidFill>
              <a:schemeClr val="accent5"/>
            </a:solidFill>
            <a:prstDash val="solid"/>
          </a:ln>
        </p:spPr>
      </p:sp>
      <p:sp>
        <p:nvSpPr>
          <p:cNvPr id="12" name="Taken found value"/>
          <p:cNvSpPr txBox="1"/>
          <p:nvPr/>
        </p:nvSpPr>
        <p:spPr>
          <a:xfrm>
            <a:off x="7424928" y="1783080"/>
            <a:ext cx="1715872" cy="44704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88.4%</a:t>
            </a:r>
            <a:endParaRPr lang="en-US" sz="2800" dirty="0"/>
          </a:p>
        </p:txBody>
      </p:sp>
      <p:sp>
        <p:nvSpPr>
          <p:cNvPr id="13" name="Taken found label"/>
          <p:cNvSpPr txBox="1"/>
          <p:nvPr/>
        </p:nvSpPr>
        <p:spPr>
          <a:xfrm>
            <a:off x="7424928" y="2284984"/>
            <a:ext cx="1715872" cy="6502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taken spaces found from the photo alone</a:t>
            </a:r>
            <a:endParaRPr lang="en-US" sz="1300" dirty="0"/>
          </a:p>
        </p:txBody>
      </p:sp>
      <p:sp>
        <p:nvSpPr>
          <p:cNvPr id="14" name="Suggested right panel"/>
          <p:cNvSpPr/>
          <p:nvPr/>
        </p:nvSpPr>
        <p:spPr>
          <a:xfrm>
            <a:off x="9524848" y="1691640"/>
            <a:ext cx="2118208" cy="1325880"/>
          </a:xfrm>
          <a:prstGeom prst="roundRect">
            <a:avLst>
              <a:gd name="adj" fmla="val 5517"/>
            </a:avLst>
          </a:prstGeom>
          <a:solidFill>
            <a:schemeClr val="bg2"/>
          </a:solidFill>
          <a:ln w="9525">
            <a:solidFill>
              <a:schemeClr val="accent5"/>
            </a:solidFill>
            <a:prstDash val="solid"/>
          </a:ln>
        </p:spPr>
      </p:sp>
      <p:sp>
        <p:nvSpPr>
          <p:cNvPr id="15" name="Suggested right value"/>
          <p:cNvSpPr txBox="1"/>
          <p:nvPr/>
        </p:nvSpPr>
        <p:spPr>
          <a:xfrm>
            <a:off x="9726016" y="1783080"/>
            <a:ext cx="1715872" cy="44704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83.5%</a:t>
            </a:r>
            <a:endParaRPr lang="en-US" sz="2800" dirty="0"/>
          </a:p>
        </p:txBody>
      </p:sp>
      <p:sp>
        <p:nvSpPr>
          <p:cNvPr id="16" name="Suggested right label"/>
          <p:cNvSpPr txBox="1"/>
          <p:nvPr/>
        </p:nvSpPr>
        <p:spPr>
          <a:xfrm>
            <a:off x="9726016" y="2284984"/>
            <a:ext cx="1715872" cy="6502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suggested free spaces really are free</a:t>
            </a:r>
            <a:endParaRPr lang="en-US" sz="1300" dirty="0"/>
          </a:p>
        </p:txBody>
      </p:sp>
      <p:sp>
        <p:nvSpPr>
          <p:cNvPr id="17" name="Suggest caveat"/>
          <p:cNvSpPr txBox="1"/>
          <p:nvPr/>
        </p:nvSpPr>
        <p:spPr>
          <a:xfrm>
            <a:off x="7223760" y="3108960"/>
            <a:ext cx="4419295" cy="502920"/>
          </a:xfrm>
          <a:prstGeom prst="rect">
            <a:avLst/>
          </a:prstGeom>
          <a:noFill/>
          <a:ln/>
        </p:spPr>
        <p:txBody>
          <a:bodyPr wrap="square" lIns="0" tIns="0" rIns="0" bIns="0" rtlCol="0" anchor="ctr"/>
          <a:lstStyle/>
          <a:p>
            <a:pPr indent="0" marL="0">
              <a:spcAft>
                <a:spcPts val="400"/>
              </a:spcAft>
              <a:buNone/>
            </a:pPr>
            <a:r>
              <a:rPr lang="en-US" sz="1300" b="1" dirty="0">
                <a:solidFill>
                  <a:schemeClr val="accent3"/>
                </a:solidFill>
                <a:latin typeface="Calibri" pitchFamily="34" charset="0"/>
                <a:ea typeface="Calibri" pitchFamily="34" charset="-122"/>
                <a:cs typeface="Calibri" pitchFamily="34" charset="-120"/>
              </a:rPr>
              <a:t>Checked on </a:t>
            </a:r>
            <a:pPr indent="0" marL="0">
              <a:spcAft>
                <a:spcPts val="400"/>
              </a:spcAft>
              <a:buNone/>
            </a:pPr>
            <a:r>
              <a:rPr lang="en-US" sz="1300" b="1" dirty="0">
                <a:solidFill>
                  <a:schemeClr val="accent3"/>
                </a:solidFill>
                <a:latin typeface="Calibri" pitchFamily="34" charset="0"/>
                <a:ea typeface="Calibri" pitchFamily="34" charset="-122"/>
                <a:cs typeface="Calibri" pitchFamily="34" charset="-120"/>
              </a:rPr>
              <a:t>336 PKLot images</a:t>
            </a:r>
            <a:pPr indent="0" marL="0">
              <a:spcAft>
                <a:spcPts val="400"/>
              </a:spcAft>
              <a:buNone/>
            </a:pPr>
            <a:r>
              <a:rPr lang="en-US" sz="1300" dirty="0">
                <a:solidFill>
                  <a:schemeClr val="accent3"/>
                </a:solidFill>
                <a:latin typeface="Calibri" pitchFamily="34" charset="0"/>
                <a:ea typeface="Calibri" pitchFamily="34" charset="-122"/>
                <a:cs typeface="Calibri" pitchFamily="34" charset="-120"/>
              </a:rPr>
              <a:t>: the same images its settings were picked on. Not held out.</a:t>
            </a:r>
            <a:endParaRPr lang="en-US" sz="1300" dirty="0"/>
          </a:p>
        </p:txBody>
      </p:sp>
      <p:sp>
        <p:nvSpPr>
          <p:cNvPr id="18" name="Held out panel"/>
          <p:cNvSpPr/>
          <p:nvPr/>
        </p:nvSpPr>
        <p:spPr>
          <a:xfrm>
            <a:off x="7223760" y="3703320"/>
            <a:ext cx="4419295" cy="1325880"/>
          </a:xfrm>
          <a:prstGeom prst="roundRect">
            <a:avLst>
              <a:gd name="adj" fmla="val 5517"/>
            </a:avLst>
          </a:prstGeom>
          <a:solidFill>
            <a:schemeClr val="bg2"/>
          </a:solidFill>
          <a:ln w="9525">
            <a:solidFill>
              <a:schemeClr val="accent5"/>
            </a:solidFill>
            <a:prstDash val="solid"/>
          </a:ln>
        </p:spPr>
      </p:sp>
      <p:sp>
        <p:nvSpPr>
          <p:cNvPr id="19" name="Held out value"/>
          <p:cNvSpPr txBox="1"/>
          <p:nvPr/>
        </p:nvSpPr>
        <p:spPr>
          <a:xfrm>
            <a:off x="7424928" y="3794760"/>
            <a:ext cx="4016959" cy="447040"/>
          </a:xfrm>
          <a:prstGeom prst="rect">
            <a:avLst/>
          </a:prstGeom>
          <a:noFill/>
          <a:ln/>
        </p:spPr>
        <p:txBody>
          <a:bodyPr wrap="square" lIns="0" tIns="0" rIns="0" bIns="0" rtlCol="0" anchor="b"/>
          <a:lstStyle/>
          <a:p>
            <a:pPr indent="0" marL="0">
              <a:buNone/>
            </a:pPr>
            <a:r>
              <a:rPr lang="en-US" sz="2800" b="1" dirty="0">
                <a:solidFill>
                  <a:schemeClr val="accent1"/>
                </a:solidFill>
                <a:latin typeface="Arial" pitchFamily="34" charset="0"/>
                <a:ea typeface="Arial" pitchFamily="34" charset="-122"/>
                <a:cs typeface="Arial" pitchFamily="34" charset="-120"/>
              </a:rPr>
              <a:t>97.4%</a:t>
            </a:r>
            <a:endParaRPr lang="en-US" sz="2800" dirty="0"/>
          </a:p>
        </p:txBody>
      </p:sp>
      <p:sp>
        <p:nvSpPr>
          <p:cNvPr id="20" name="Held out label"/>
          <p:cNvSpPr txBox="1"/>
          <p:nvPr/>
        </p:nvSpPr>
        <p:spPr>
          <a:xfrm>
            <a:off x="7424928" y="4296664"/>
            <a:ext cx="4016959" cy="6502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13,447 spaces right on 240 held-out images when the spaces are marked; the rule was picked on 96 other images</a:t>
            </a:r>
            <a:endParaRPr lang="en-US" sz="1300" dirty="0"/>
          </a:p>
        </p:txBody>
      </p:sp>
      <p:sp>
        <p:nvSpPr>
          <p:cNvPr id="21" name="Limit panel"/>
          <p:cNvSpPr/>
          <p:nvPr/>
        </p:nvSpPr>
        <p:spPr>
          <a:xfrm>
            <a:off x="7223760" y="5166360"/>
            <a:ext cx="4419295" cy="1051560"/>
          </a:xfrm>
          <a:prstGeom prst="roundRect">
            <a:avLst>
              <a:gd name="adj" fmla="val 6957"/>
            </a:avLst>
          </a:prstGeom>
          <a:solidFill>
            <a:schemeClr val="bg2"/>
          </a:solidFill>
          <a:ln w="9525">
            <a:solidFill>
              <a:schemeClr val="accent5"/>
            </a:solidFill>
            <a:prstDash val="solid"/>
          </a:ln>
        </p:spPr>
      </p:sp>
      <p:sp>
        <p:nvSpPr>
          <p:cNvPr id="22" name="Limit text"/>
          <p:cNvSpPr txBox="1"/>
          <p:nvPr/>
        </p:nvSpPr>
        <p:spPr>
          <a:xfrm>
            <a:off x="7424928" y="5257800"/>
            <a:ext cx="4016959" cy="868680"/>
          </a:xfrm>
          <a:prstGeom prst="rect">
            <a:avLst/>
          </a:prstGeom>
          <a:noFill/>
          <a:ln/>
        </p:spPr>
        <p:txBody>
          <a:bodyPr wrap="square" lIns="0" tIns="0" rIns="0" bIns="0" rtlCol="0" anchor="ctr"/>
          <a:lstStyle/>
          <a:p>
            <a:pPr indent="0" marL="0">
              <a:spcAft>
                <a:spcPts val="400"/>
              </a:spcAft>
              <a:buNone/>
            </a:pPr>
            <a:r>
              <a:rPr lang="en-US" sz="1300" b="1" dirty="0">
                <a:solidFill>
                  <a:schemeClr val="accent2"/>
                </a:solidFill>
                <a:latin typeface="Calibri" pitchFamily="34" charset="0"/>
                <a:ea typeface="Calibri" pitchFamily="34" charset="-122"/>
                <a:cs typeface="Calibri" pitchFamily="34" charset="-120"/>
              </a:rPr>
              <a:t>Limit: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it suggests 12.2% of all free spaces. A free space with no car on either side, such as an empty row, cannot be seen in one photo: draw it with 4 clicks.</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LIVE DEMO 3 OF 4  ·  /city  ·  KWUN TONG, HONG KONG</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A district: 22 live cameras and car parks</a:t>
            </a:r>
            <a:endParaRPr lang="en-US" sz="3600" dirty="0"/>
          </a:p>
        </p:txBody>
      </p:sp>
      <p:sp>
        <p:nvSpPr>
          <p:cNvPr id="8" name="City map panel"/>
          <p:cNvSpPr/>
          <p:nvPr/>
        </p:nvSpPr>
        <p:spPr>
          <a:xfrm>
            <a:off x="548640" y="1691640"/>
            <a:ext cx="6309360" cy="3071404"/>
          </a:xfrm>
          <a:prstGeom prst="roundRect">
            <a:avLst>
              <a:gd name="adj" fmla="val 2382"/>
            </a:avLst>
          </a:prstGeom>
          <a:solidFill>
            <a:schemeClr val="bg2"/>
          </a:solidFill>
          <a:ln w="9525">
            <a:solidFill>
              <a:schemeClr val="accent5"/>
            </a:solidFill>
            <a:prstDash val="solid"/>
          </a:ln>
        </p:spPr>
      </p:sp>
      <p:pic>
        <p:nvPicPr>
          <p:cNvPr id="9" name="City map" descr="Kwun Tong district model: roads coloured by load, car parks with free spaces">    </p:cNvPr>
          <p:cNvPicPr>
            <a:picLocks noChangeAspect="1"/>
          </p:cNvPicPr>
          <p:nvPr/>
        </p:nvPicPr>
        <p:blipFill>
          <a:blip r:embed="rId1"/>
          <a:srcRect l="0" r="0" t="0" b="0"/>
          <a:stretch/>
        </p:blipFill>
        <p:spPr>
          <a:xfrm>
            <a:off x="612648" y="1755648"/>
            <a:ext cx="6181344" cy="2943388"/>
          </a:xfrm>
          <a:prstGeom prst="rect">
            <a:avLst/>
          </a:prstGeom>
        </p:spPr>
      </p:pic>
      <p:sp>
        <p:nvSpPr>
          <p:cNvPr id="10" name="Camera wall panel"/>
          <p:cNvSpPr/>
          <p:nvPr/>
        </p:nvSpPr>
        <p:spPr>
          <a:xfrm>
            <a:off x="548640" y="4872772"/>
            <a:ext cx="6309360" cy="1034252"/>
          </a:xfrm>
          <a:prstGeom prst="roundRect">
            <a:avLst>
              <a:gd name="adj" fmla="val 7073"/>
            </a:avLst>
          </a:prstGeom>
          <a:solidFill>
            <a:schemeClr val="bg2"/>
          </a:solidFill>
          <a:ln w="9525">
            <a:solidFill>
              <a:schemeClr val="accent5"/>
            </a:solidFill>
            <a:prstDash val="solid"/>
          </a:ln>
        </p:spPr>
      </p:sp>
      <p:pic>
        <p:nvPicPr>
          <p:cNvPr id="11" name="Camera wall" descr="The district's cameras as OQIM counted their last snapshot, with vehicle boxes">    </p:cNvPr>
          <p:cNvPicPr>
            <a:picLocks noChangeAspect="1"/>
          </p:cNvPicPr>
          <p:nvPr/>
        </p:nvPicPr>
        <p:blipFill>
          <a:blip r:embed="rId2"/>
          <a:srcRect l="0" r="0" t="0" b="0"/>
          <a:stretch/>
        </p:blipFill>
        <p:spPr>
          <a:xfrm>
            <a:off x="612648" y="4936780"/>
            <a:ext cx="6181344" cy="906236"/>
          </a:xfrm>
          <a:prstGeom prst="rect">
            <a:avLst/>
          </a:prstGeom>
        </p:spPr>
      </p:pic>
      <p:sp>
        <p:nvSpPr>
          <p:cNvPr id="12" name="City caption"/>
          <p:cNvSpPr txBox="1"/>
          <p:nvPr/>
        </p:nvSpPr>
        <p:spPr>
          <a:xfrm>
            <a:off x="548640" y="5925312"/>
            <a:ext cx="6309360" cy="292608"/>
          </a:xfrm>
          <a:prstGeom prst="rect">
            <a:avLst/>
          </a:prstGeom>
          <a:noFill/>
          <a:ln/>
        </p:spPr>
        <p:txBody>
          <a:bodyPr wrap="square" lIns="0" tIns="0" rIns="0" bIns="0" rtlCol="0" anchor="ctr"/>
          <a:lstStyle/>
          <a:p>
            <a:pPr indent="0" marL="0">
              <a:spcAft>
                <a:spcPts val="400"/>
              </a:spcAft>
              <a:buNone/>
            </a:pPr>
            <a:r>
              <a:rPr lang="en-US" sz="1100" dirty="0">
                <a:solidFill>
                  <a:schemeClr val="tx2"/>
                </a:solidFill>
                <a:latin typeface="Calibri" pitchFamily="34" charset="0"/>
                <a:ea typeface="Calibri" pitchFamily="34" charset="-122"/>
                <a:cs typeface="Calibri" pitchFamily="34" charset="-120"/>
              </a:rPr>
              <a:t>Transport Department cameras (DATA.GOV.HK), 1,116 snapshots counted by YOLO26m; boxes in orange. Live vacancy of 28 car parks.</a:t>
            </a:r>
            <a:endParaRPr lang="en-US" sz="1100" dirty="0"/>
          </a:p>
        </p:txBody>
      </p:sp>
      <p:sp>
        <p:nvSpPr>
          <p:cNvPr id="13" name="Full panel"/>
          <p:cNvSpPr/>
          <p:nvPr/>
        </p:nvSpPr>
        <p:spPr>
          <a:xfrm>
            <a:off x="7132320" y="1691640"/>
            <a:ext cx="4510735" cy="1371600"/>
          </a:xfrm>
          <a:prstGeom prst="roundRect">
            <a:avLst>
              <a:gd name="adj" fmla="val 5333"/>
            </a:avLst>
          </a:prstGeom>
          <a:solidFill>
            <a:schemeClr val="bg2"/>
          </a:solidFill>
          <a:ln w="9525">
            <a:solidFill>
              <a:schemeClr val="accent5"/>
            </a:solidFill>
            <a:prstDash val="solid"/>
          </a:ln>
        </p:spPr>
      </p:sp>
      <p:sp>
        <p:nvSpPr>
          <p:cNvPr id="14" name="Full value"/>
          <p:cNvSpPr txBox="1"/>
          <p:nvPr/>
        </p:nvSpPr>
        <p:spPr>
          <a:xfrm>
            <a:off x="7333488" y="1783080"/>
            <a:ext cx="4108399" cy="502920"/>
          </a:xfrm>
          <a:prstGeom prst="rect">
            <a:avLst/>
          </a:prstGeom>
          <a:noFill/>
          <a:ln/>
        </p:spPr>
        <p:txBody>
          <a:bodyPr wrap="square" lIns="0" tIns="0" rIns="0" bIns="0" rtlCol="0" anchor="b"/>
          <a:lstStyle/>
          <a:p>
            <a:pPr indent="0" marL="0">
              <a:buNone/>
            </a:pPr>
            <a:r>
              <a:rPr lang="en-US" sz="3000" b="1" dirty="0">
                <a:solidFill>
                  <a:schemeClr val="accent4"/>
                </a:solidFill>
                <a:latin typeface="Arial" pitchFamily="34" charset="0"/>
                <a:ea typeface="Arial" pitchFamily="34" charset="-122"/>
                <a:cs typeface="Arial" pitchFamily="34" charset="-120"/>
              </a:rPr>
              <a:t>60 → 5</a:t>
            </a:r>
            <a:endParaRPr lang="en-US" sz="3000" dirty="0"/>
          </a:p>
        </p:txBody>
      </p:sp>
      <p:sp>
        <p:nvSpPr>
          <p:cNvPr id="15" name="Full label"/>
          <p:cNvSpPr txBox="1"/>
          <p:nvPr/>
        </p:nvSpPr>
        <p:spPr>
          <a:xfrm>
            <a:off x="7333488" y="2340864"/>
            <a:ext cx="4108399"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60 drivers arrive to a full car park: nearest car park against OQIM</a:t>
            </a:r>
            <a:endParaRPr lang="en-US" sz="1300" dirty="0"/>
          </a:p>
        </p:txBody>
      </p:sp>
      <p:sp>
        <p:nvSpPr>
          <p:cNvPr id="16" name="Door panel"/>
          <p:cNvSpPr/>
          <p:nvPr/>
        </p:nvSpPr>
        <p:spPr>
          <a:xfrm>
            <a:off x="7132320" y="3200400"/>
            <a:ext cx="2163928" cy="1234440"/>
          </a:xfrm>
          <a:prstGeom prst="roundRect">
            <a:avLst>
              <a:gd name="adj" fmla="val 5926"/>
            </a:avLst>
          </a:prstGeom>
          <a:solidFill>
            <a:schemeClr val="bg2"/>
          </a:solidFill>
          <a:ln w="9525">
            <a:solidFill>
              <a:schemeClr val="accent5"/>
            </a:solidFill>
            <a:prstDash val="solid"/>
          </a:ln>
        </p:spPr>
      </p:sp>
      <p:sp>
        <p:nvSpPr>
          <p:cNvPr id="17" name="Door value"/>
          <p:cNvSpPr txBox="1"/>
          <p:nvPr/>
        </p:nvSpPr>
        <p:spPr>
          <a:xfrm>
            <a:off x="7333488" y="3291840"/>
            <a:ext cx="1761592" cy="438912"/>
          </a:xfrm>
          <a:prstGeom prst="rect">
            <a:avLst/>
          </a:prstGeom>
          <a:noFill/>
          <a:ln/>
        </p:spPr>
        <p:txBody>
          <a:bodyPr wrap="square" lIns="0" tIns="0" rIns="0" bIns="0" rtlCol="0" anchor="b"/>
          <a:lstStyle/>
          <a:p>
            <a:pPr indent="0" marL="0">
              <a:buNone/>
            </a:pPr>
            <a:r>
              <a:rPr lang="en-US" sz="2600" b="1" dirty="0">
                <a:solidFill>
                  <a:schemeClr val="accent4"/>
                </a:solidFill>
                <a:latin typeface="Arial" pitchFamily="34" charset="0"/>
                <a:ea typeface="Arial" pitchFamily="34" charset="-122"/>
                <a:cs typeface="Arial" pitchFamily="34" charset="-120"/>
              </a:rPr>
              <a:t>−18%</a:t>
            </a:r>
            <a:endParaRPr lang="en-US" sz="2600" dirty="0"/>
          </a:p>
        </p:txBody>
      </p:sp>
      <p:sp>
        <p:nvSpPr>
          <p:cNvPr id="18" name="Door label"/>
          <p:cNvSpPr txBox="1"/>
          <p:nvPr/>
        </p:nvSpPr>
        <p:spPr>
          <a:xfrm>
            <a:off x="7333488" y="3785616"/>
            <a:ext cx="1761592" cy="56692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door to door, 15.5 to 12.7 min</a:t>
            </a:r>
            <a:endParaRPr lang="en-US" sz="1300" dirty="0"/>
          </a:p>
        </p:txBody>
      </p:sp>
      <p:sp>
        <p:nvSpPr>
          <p:cNvPr id="19" name="Km panel"/>
          <p:cNvSpPr/>
          <p:nvPr/>
        </p:nvSpPr>
        <p:spPr>
          <a:xfrm>
            <a:off x="9479128" y="3200400"/>
            <a:ext cx="2163928" cy="1234440"/>
          </a:xfrm>
          <a:prstGeom prst="roundRect">
            <a:avLst>
              <a:gd name="adj" fmla="val 5926"/>
            </a:avLst>
          </a:prstGeom>
          <a:solidFill>
            <a:schemeClr val="bg2"/>
          </a:solidFill>
          <a:ln w="9525">
            <a:solidFill>
              <a:schemeClr val="accent5"/>
            </a:solidFill>
            <a:prstDash val="solid"/>
          </a:ln>
        </p:spPr>
      </p:sp>
      <p:sp>
        <p:nvSpPr>
          <p:cNvPr id="20" name="Km value"/>
          <p:cNvSpPr txBox="1"/>
          <p:nvPr/>
        </p:nvSpPr>
        <p:spPr>
          <a:xfrm>
            <a:off x="9680296" y="3291840"/>
            <a:ext cx="1761592" cy="438912"/>
          </a:xfrm>
          <a:prstGeom prst="rect">
            <a:avLst/>
          </a:prstGeom>
          <a:noFill/>
          <a:ln/>
        </p:spPr>
        <p:txBody>
          <a:bodyPr wrap="square" lIns="0" tIns="0" rIns="0" bIns="0" rtlCol="0" anchor="b"/>
          <a:lstStyle/>
          <a:p>
            <a:pPr indent="0" marL="0">
              <a:buNone/>
            </a:pPr>
            <a:r>
              <a:rPr lang="en-US" sz="2600" b="1" dirty="0">
                <a:solidFill>
                  <a:schemeClr val="accent4"/>
                </a:solidFill>
                <a:latin typeface="Arial" pitchFamily="34" charset="0"/>
                <a:ea typeface="Arial" pitchFamily="34" charset="-122"/>
                <a:cs typeface="Arial" pitchFamily="34" charset="-120"/>
              </a:rPr>
              <a:t>−41%</a:t>
            </a:r>
            <a:endParaRPr lang="en-US" sz="2600" dirty="0"/>
          </a:p>
        </p:txBody>
      </p:sp>
      <p:sp>
        <p:nvSpPr>
          <p:cNvPr id="21" name="Km label"/>
          <p:cNvSpPr txBox="1"/>
          <p:nvPr/>
        </p:nvSpPr>
        <p:spPr>
          <a:xfrm>
            <a:off x="9680296" y="3785616"/>
            <a:ext cx="1761592" cy="56692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vehicle-km with searching, 305 to 181</a:t>
            </a:r>
            <a:endParaRPr lang="en-US" sz="1300" dirty="0"/>
          </a:p>
        </p:txBody>
      </p:sp>
      <p:sp>
        <p:nvSpPr>
          <p:cNvPr id="22" name="How card"/>
          <p:cNvSpPr/>
          <p:nvPr/>
        </p:nvSpPr>
        <p:spPr>
          <a:xfrm>
            <a:off x="7132320" y="4572000"/>
            <a:ext cx="4510735" cy="1645920"/>
          </a:xfrm>
          <a:prstGeom prst="roundRect">
            <a:avLst>
              <a:gd name="adj" fmla="val 4444"/>
            </a:avLst>
          </a:prstGeom>
          <a:solidFill>
            <a:schemeClr val="bg2"/>
          </a:solidFill>
          <a:ln w="9525">
            <a:solidFill>
              <a:schemeClr val="accent5"/>
            </a:solidFill>
            <a:prstDash val="solid"/>
          </a:ln>
        </p:spPr>
      </p:sp>
      <p:sp>
        <p:nvSpPr>
          <p:cNvPr id="23" name="How text"/>
          <p:cNvSpPr txBox="1"/>
          <p:nvPr/>
        </p:nvSpPr>
        <p:spPr>
          <a:xfrm>
            <a:off x="7360920" y="4663440"/>
            <a:ext cx="4053535" cy="1463040"/>
          </a:xfrm>
          <a:prstGeom prst="rect">
            <a:avLst/>
          </a:prstGeom>
          <a:noFill/>
          <a:ln/>
        </p:spPr>
        <p:txBody>
          <a:bodyPr wrap="square" lIns="0" tIns="0" rIns="0" bIns="0" rtlCol="0" anchor="ctr"/>
          <a:lstStyle/>
          <a:p>
            <a:pPr indent="0" marL="0">
              <a:spcAft>
                <a:spcPts val="300"/>
              </a:spcAft>
              <a:buNone/>
            </a:pPr>
            <a:r>
              <a:rPr lang="en-US" sz="1300" b="1" dirty="0">
                <a:solidFill>
                  <a:schemeClr val="accent1"/>
                </a:solidFill>
                <a:latin typeface="Calibri" pitchFamily="34" charset="0"/>
                <a:ea typeface="Calibri" pitchFamily="34" charset="-122"/>
                <a:cs typeface="Calibri" pitchFamily="34" charset="-120"/>
              </a:rPr>
              <a:t>How: </a:t>
            </a:r>
            <a:pPr indent="0" marL="0">
              <a:spcAft>
                <a:spcPts val="300"/>
              </a:spcAft>
              <a:buNone/>
            </a:pPr>
            <a:r>
              <a:rPr lang="en-US" sz="1300" dirty="0">
                <a:solidFill>
                  <a:schemeClr val="tx1"/>
                </a:solidFill>
                <a:latin typeface="Calibri" pitchFamily="34" charset="0"/>
                <a:ea typeface="Calibri" pitchFamily="34" charset="-122"/>
                <a:cs typeface="Calibri" pitchFamily="34" charset="-120"/>
              </a:rPr>
              <a:t>drivers are placed one by one. Each gets the car park and route of least door-to-door time, with the roads and spaces already taken by the drivers before.</a:t>
            </a:r>
            <a:endParaRPr lang="en-US" sz="1300" dirty="0"/>
          </a:p>
          <a:p>
            <a:pPr indent="0" marL="0">
              <a:spcAft>
                <a:spcPts val="300"/>
              </a:spcAft>
              <a:buNone/>
            </a:pPr>
            <a:r>
              <a:rPr lang="en-US" sz="1300" b="1" dirty="0">
                <a:solidFill>
                  <a:schemeClr val="accent4"/>
                </a:solidFill>
                <a:latin typeface="Calibri" pitchFamily="34" charset="0"/>
                <a:ea typeface="Calibri" pitchFamily="34" charset="-122"/>
                <a:cs typeface="Calibri" pitchFamily="34" charset="-120"/>
              </a:rPr>
              <a:t>Measured: </a:t>
            </a:r>
            <a:pPr indent="0" marL="0">
              <a:spcAft>
                <a:spcPts val="300"/>
              </a:spcAft>
              <a:buNone/>
            </a:pPr>
            <a:r>
              <a:rPr lang="en-US" sz="1300" dirty="0">
                <a:solidFill>
                  <a:schemeClr val="tx1"/>
                </a:solidFill>
                <a:latin typeface="Calibri" pitchFamily="34" charset="0"/>
                <a:ea typeface="Calibri" pitchFamily="34" charset="-122"/>
                <a:cs typeface="Calibri" pitchFamily="34" charset="-120"/>
              </a:rPr>
              <a:t>camera counts and car park vacancy.  </a:t>
            </a:r>
            <a:endParaRPr lang="en-US" sz="1300" dirty="0"/>
          </a:p>
          <a:p>
            <a:pPr indent="0" marL="0">
              <a:spcAft>
                <a:spcPts val="300"/>
              </a:spcAft>
              <a:buNone/>
            </a:pPr>
            <a:r>
              <a:rPr lang="en-US" sz="1300" b="1" dirty="0">
                <a:solidFill>
                  <a:schemeClr val="accent3"/>
                </a:solidFill>
                <a:latin typeface="Calibri" pitchFamily="34" charset="0"/>
                <a:ea typeface="Calibri" pitchFamily="34" charset="-122"/>
                <a:cs typeface="Calibri" pitchFamily="34" charset="-120"/>
              </a:rPr>
              <a:t>Simulated: </a:t>
            </a:r>
            <a:pPr indent="0" marL="0">
              <a:spcAft>
                <a:spcPts val="300"/>
              </a:spcAft>
              <a:buNone/>
            </a:pPr>
            <a:r>
              <a:rPr lang="en-US" sz="1300" dirty="0">
                <a:solidFill>
                  <a:schemeClr val="tx1"/>
                </a:solidFill>
                <a:latin typeface="Calibri" pitchFamily="34" charset="0"/>
                <a:ea typeface="Calibri" pitchFamily="34" charset="-122"/>
                <a:cs typeface="Calibri" pitchFamily="34" charset="-120"/>
              </a:rPr>
              <a:t>the drivers.</a:t>
            </a:r>
            <a:endParaRPr lang="en-US" sz="1300" dirty="0"/>
          </a:p>
          <a:p>
            <a:pPr indent="0" marL="0">
              <a:spcAft>
                <a:spcPts val="300"/>
              </a:spcAft>
              <a:buNone/>
            </a:pPr>
            <a:r>
              <a:rPr lang="en-US" sz="1300" dirty="0">
                <a:solidFill>
                  <a:schemeClr val="tx2"/>
                </a:solidFill>
                <a:latin typeface="Calibri" pitchFamily="34" charset="0"/>
                <a:ea typeface="Calibri" pitchFamily="34" charset="-122"/>
                <a:cs typeface="Calibri" pitchFamily="34" charset="-120"/>
              </a:rPr>
              <a:t>Snapshot: 13:45 Hong Kong time, 11 October. The live page shows today's numbers.</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NEW  ·  LIVE DEMO 4 OF 4  ·  /banner</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How many vehicles pass your billboard</a:t>
            </a:r>
            <a:endParaRPr lang="en-US" sz="3600" dirty="0"/>
          </a:p>
        </p:txBody>
      </p:sp>
      <p:sp>
        <p:nvSpPr>
          <p:cNvPr id="8" name="Banner video panel"/>
          <p:cNvSpPr/>
          <p:nvPr/>
        </p:nvSpPr>
        <p:spPr>
          <a:xfrm>
            <a:off x="548640" y="1691640"/>
            <a:ext cx="5669280" cy="2808055"/>
          </a:xfrm>
          <a:prstGeom prst="roundRect">
            <a:avLst>
              <a:gd name="adj" fmla="val 2605"/>
            </a:avLst>
          </a:prstGeom>
          <a:solidFill>
            <a:schemeClr val="bg2"/>
          </a:solidFill>
          <a:ln w="9525">
            <a:solidFill>
              <a:schemeClr val="accent5"/>
            </a:solidFill>
            <a:prstDash val="solid"/>
          </a:ln>
        </p:spPr>
      </p:sp>
      <p:pic>
        <p:nvPicPr>
          <p:cNvPr id="9" name="Banner video" descr="The billboard counter on sample C3896: boxes on the vehicles, green when a vehicle crosses the line">    </p:cNvPr>
          <p:cNvPicPr>
            <a:picLocks noChangeAspect="1"/>
          </p:cNvPicPr>
          <p:nvPr/>
        </p:nvPicPr>
        <p:blipFill>
          <a:blip r:embed="rId1"/>
          <a:srcRect l="0" r="0" t="0" b="0"/>
          <a:stretch/>
        </p:blipFill>
        <p:spPr>
          <a:xfrm>
            <a:off x="612648" y="1755648"/>
            <a:ext cx="5541264" cy="2680039"/>
          </a:xfrm>
          <a:prstGeom prst="rect">
            <a:avLst/>
          </a:prstGeom>
        </p:spPr>
      </p:pic>
      <p:sp>
        <p:nvSpPr>
          <p:cNvPr id="10" name="Minutes label"/>
          <p:cNvSpPr txBox="1"/>
          <p:nvPr/>
        </p:nvSpPr>
        <p:spPr>
          <a:xfrm>
            <a:off x="548640" y="4527127"/>
            <a:ext cx="5669280" cy="219456"/>
          </a:xfrm>
          <a:prstGeom prst="rect">
            <a:avLst/>
          </a:prstGeom>
          <a:noFill/>
          <a:ln/>
        </p:spPr>
        <p:txBody>
          <a:bodyPr wrap="square" lIns="0" tIns="0" rIns="0" bIns="0" rtlCol="0" anchor="ctr"/>
          <a:lstStyle/>
          <a:p>
            <a:pPr indent="0" marL="0">
              <a:spcAft>
                <a:spcPts val="400"/>
              </a:spcAft>
              <a:buNone/>
            </a:pPr>
            <a:r>
              <a:rPr lang="en-US" sz="1100" dirty="0">
                <a:solidFill>
                  <a:schemeClr val="tx2"/>
                </a:solidFill>
                <a:latin typeface="Calibri" pitchFamily="34" charset="0"/>
                <a:ea typeface="Calibri" pitchFamily="34" charset="-122"/>
                <a:cs typeface="Calibri" pitchFamily="34" charset="-120"/>
              </a:rPr>
              <a:t>Vehicles per minute past the line, sample C3896 (5 min 40 s)</a:t>
            </a:r>
            <a:endParaRPr lang="en-US" sz="1100" dirty="0"/>
          </a:p>
        </p:txBody>
      </p:sp>
      <p:sp>
        <p:nvSpPr>
          <p:cNvPr id="11" name="Banner minutes panel"/>
          <p:cNvSpPr/>
          <p:nvPr/>
        </p:nvSpPr>
        <p:spPr>
          <a:xfrm>
            <a:off x="548640" y="4871781"/>
            <a:ext cx="5669280" cy="1346139"/>
          </a:xfrm>
          <a:prstGeom prst="roundRect">
            <a:avLst>
              <a:gd name="adj" fmla="val 5434"/>
            </a:avLst>
          </a:prstGeom>
          <a:solidFill>
            <a:schemeClr val="bg2"/>
          </a:solidFill>
          <a:ln w="9525">
            <a:solidFill>
              <a:schemeClr val="accent5"/>
            </a:solidFill>
            <a:prstDash val="solid"/>
          </a:ln>
        </p:spPr>
      </p:sp>
      <p:pic>
        <p:nvPicPr>
          <p:cNvPr id="12" name="Banner minutes" descr="Vehicles that passed the line in each minute of the sample clip">    </p:cNvPr>
          <p:cNvPicPr>
            <a:picLocks noChangeAspect="1"/>
          </p:cNvPicPr>
          <p:nvPr/>
        </p:nvPicPr>
        <p:blipFill>
          <a:blip r:embed="rId2"/>
          <a:srcRect l="0" r="0" t="0" b="0"/>
          <a:stretch/>
        </p:blipFill>
        <p:spPr>
          <a:xfrm>
            <a:off x="612648" y="4935789"/>
            <a:ext cx="5541264" cy="1218123"/>
          </a:xfrm>
          <a:prstGeom prst="rect">
            <a:avLst/>
          </a:prstGeom>
        </p:spPr>
      </p:pic>
      <p:sp>
        <p:nvSpPr>
          <p:cNvPr id="13" name="Counts panel"/>
          <p:cNvSpPr/>
          <p:nvPr/>
        </p:nvSpPr>
        <p:spPr>
          <a:xfrm>
            <a:off x="6492240" y="1691640"/>
            <a:ext cx="5150815" cy="1481328"/>
          </a:xfrm>
          <a:prstGeom prst="roundRect">
            <a:avLst>
              <a:gd name="adj" fmla="val 4938"/>
            </a:avLst>
          </a:prstGeom>
          <a:solidFill>
            <a:schemeClr val="bg2"/>
          </a:solidFill>
          <a:ln w="9525">
            <a:solidFill>
              <a:schemeClr val="accent5"/>
            </a:solidFill>
            <a:prstDash val="solid"/>
          </a:ln>
        </p:spPr>
      </p:sp>
      <p:sp>
        <p:nvSpPr>
          <p:cNvPr id="14" name="Text 10"/>
          <p:cNvSpPr txBox="1"/>
          <p:nvPr/>
        </p:nvSpPr>
        <p:spPr>
          <a:xfrm>
            <a:off x="6720840" y="1764792"/>
            <a:ext cx="4693615" cy="32918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Draw one line in front of the billboard</a:t>
            </a:r>
            <a:endParaRPr lang="en-US" sz="1500" dirty="0"/>
          </a:p>
        </p:txBody>
      </p:sp>
      <p:sp>
        <p:nvSpPr>
          <p:cNvPr id="15" name="Counts list"/>
          <p:cNvSpPr txBox="1"/>
          <p:nvPr/>
        </p:nvSpPr>
        <p:spPr>
          <a:xfrm>
            <a:off x="6720840" y="2130552"/>
            <a:ext cx="4693615" cy="978408"/>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1"/>
                </a:solidFill>
                <a:latin typeface="Calibri" pitchFamily="34" charset="0"/>
                <a:ea typeface="Calibri" pitchFamily="34" charset="-122"/>
                <a:cs typeface="Calibri" pitchFamily="34" charset="-120"/>
              </a:rPr>
              <a:t>each tracked vehicle is counted once, when it crosses the line</a:t>
            </a:r>
            <a:endParaRPr lang="en-US" sz="1300" dirty="0"/>
          </a:p>
          <a:p>
            <a:pPr marL="177800" indent="-177800">
              <a:spcAft>
                <a:spcPts val="300"/>
              </a:spcAft>
              <a:buSzPct val="100000"/>
              <a:buChar char="•"/>
            </a:pPr>
            <a:r>
              <a:rPr lang="en-US" sz="1300" dirty="0">
                <a:solidFill>
                  <a:schemeClr val="tx1"/>
                </a:solidFill>
                <a:latin typeface="Calibri" pitchFamily="34" charset="0"/>
                <a:ea typeface="Calibri" pitchFamily="34" charset="-122"/>
                <a:cs typeface="Calibri" pitchFamily="34" charset="-120"/>
              </a:rPr>
              <a:t>by type (car, bus, truck, motorcycle) and direction</a:t>
            </a:r>
            <a:endParaRPr lang="en-US" sz="1300" dirty="0"/>
          </a:p>
          <a:p>
            <a:pPr marL="177800" indent="-177800">
              <a:spcAft>
                <a:spcPts val="300"/>
              </a:spcAft>
              <a:buSzPct val="100000"/>
              <a:buChar char="•"/>
            </a:pPr>
            <a:r>
              <a:rPr lang="en-US" sz="1300" dirty="0">
                <a:solidFill>
                  <a:schemeClr val="tx1"/>
                </a:solidFill>
                <a:latin typeface="Calibri" pitchFamily="34" charset="0"/>
                <a:ea typeface="Calibri" pitchFamily="34" charset="-122"/>
                <a:cs typeface="Calibri" pitchFamily="34" charset="-120"/>
              </a:rPr>
              <a:t>per minute and per hour; a log per billboard; CSV</a:t>
            </a:r>
            <a:endParaRPr lang="en-US" sz="1300" dirty="0"/>
          </a:p>
        </p:txBody>
      </p:sp>
      <p:sp>
        <p:nvSpPr>
          <p:cNvPr id="16" name="Agreement panel"/>
          <p:cNvSpPr/>
          <p:nvPr/>
        </p:nvSpPr>
        <p:spPr>
          <a:xfrm>
            <a:off x="6492240" y="3282696"/>
            <a:ext cx="5150815" cy="1874520"/>
          </a:xfrm>
          <a:prstGeom prst="roundRect">
            <a:avLst>
              <a:gd name="adj" fmla="val 3902"/>
            </a:avLst>
          </a:prstGeom>
          <a:solidFill>
            <a:schemeClr val="bg2"/>
          </a:solidFill>
          <a:ln w="9525">
            <a:solidFill>
              <a:schemeClr val="accent5"/>
            </a:solidFill>
            <a:prstDash val="solid"/>
          </a:ln>
        </p:spPr>
      </p:sp>
      <p:sp>
        <p:nvSpPr>
          <p:cNvPr id="17" name="Banner agreement value"/>
          <p:cNvSpPr txBox="1"/>
          <p:nvPr/>
        </p:nvSpPr>
        <p:spPr>
          <a:xfrm>
            <a:off x="6720840" y="3355848"/>
            <a:ext cx="4693615"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185 vs 189</a:t>
            </a:r>
            <a:endParaRPr lang="en-US" sz="2800" dirty="0"/>
          </a:p>
        </p:txBody>
      </p:sp>
      <p:sp>
        <p:nvSpPr>
          <p:cNvPr id="18" name="Banner agreement label"/>
          <p:cNvSpPr txBox="1"/>
          <p:nvPr/>
        </p:nvSpPr>
        <p:spPr>
          <a:xfrm>
            <a:off x="6720840" y="3867912"/>
            <a:ext cx="4693615" cy="4114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vehicles on 2 sample clips: YOLO26s in the browser against our offline YOLO26m pipeline, 97.9%</a:t>
            </a:r>
            <a:endParaRPr lang="en-US" sz="1300" dirty="0"/>
          </a:p>
        </p:txBody>
      </p:sp>
      <p:sp>
        <p:nvSpPr>
          <p:cNvPr id="19" name="Banner clips"/>
          <p:cNvSpPr txBox="1"/>
          <p:nvPr/>
        </p:nvSpPr>
        <p:spPr>
          <a:xfrm>
            <a:off x="6720840" y="4306824"/>
            <a:ext cx="4693615" cy="795528"/>
          </a:xfrm>
          <a:prstGeom prst="rect">
            <a:avLst/>
          </a:prstGeom>
          <a:noFill/>
          <a:ln/>
        </p:spPr>
        <p:txBody>
          <a:bodyPr wrap="square" lIns="0" tIns="0" rIns="0" bIns="0" rtlCol="0" anchor="t"/>
          <a:lstStyle/>
          <a:p>
            <a:pPr indent="0" marL="0">
              <a:spcAft>
                <a:spcPts val="200"/>
              </a:spcAft>
              <a:buNone/>
            </a:pPr>
            <a:r>
              <a:rPr lang="en-US" sz="1200" dirty="0">
                <a:solidFill>
                  <a:schemeClr val="tx1"/>
                </a:solidFill>
                <a:latin typeface="Calibri" pitchFamily="34" charset="0"/>
                <a:ea typeface="Calibri" pitchFamily="34" charset="-122"/>
                <a:cs typeface="Calibri" pitchFamily="34" charset="-120"/>
              </a:rPr>
              <a:t>C3896 (midday, 5:40): 130 against 130;  C3905 (dusk, 2:08): 55 against 59</a:t>
            </a:r>
            <a:endParaRPr lang="en-US" sz="1200" dirty="0"/>
          </a:p>
          <a:p>
            <a:pPr indent="0" marL="0">
              <a:spcAft>
                <a:spcPts val="200"/>
              </a:spcAft>
              <a:buNone/>
            </a:pPr>
            <a:r>
              <a:rPr lang="en-US" sz="1200" b="1" dirty="0">
                <a:solidFill>
                  <a:schemeClr val="accent3"/>
                </a:solidFill>
                <a:latin typeface="Calibri" pitchFamily="34" charset="0"/>
                <a:ea typeface="Calibri" pitchFamily="34" charset="-122"/>
                <a:cs typeface="Calibri" pitchFamily="34" charset="-120"/>
              </a:rPr>
              <a:t>Two models agreeing, not a hand count. A hand count is still to do.</a:t>
            </a:r>
            <a:endParaRPr lang="en-US" sz="1200" dirty="0"/>
          </a:p>
        </p:txBody>
      </p:sp>
      <p:sp>
        <p:nvSpPr>
          <p:cNvPr id="20" name="Payer panel"/>
          <p:cNvSpPr/>
          <p:nvPr/>
        </p:nvSpPr>
        <p:spPr>
          <a:xfrm>
            <a:off x="6492240" y="5266944"/>
            <a:ext cx="5150815" cy="950976"/>
          </a:xfrm>
          <a:prstGeom prst="roundRect">
            <a:avLst>
              <a:gd name="adj" fmla="val 7692"/>
            </a:avLst>
          </a:prstGeom>
          <a:solidFill>
            <a:schemeClr val="bg2"/>
          </a:solidFill>
          <a:ln w="9525">
            <a:solidFill>
              <a:schemeClr val="accent5"/>
            </a:solidFill>
            <a:prstDash val="solid"/>
          </a:ln>
        </p:spPr>
      </p:sp>
      <p:sp>
        <p:nvSpPr>
          <p:cNvPr id="21" name="Banner payer"/>
          <p:cNvSpPr txBox="1"/>
          <p:nvPr/>
        </p:nvSpPr>
        <p:spPr>
          <a:xfrm>
            <a:off x="6720840" y="5340096"/>
            <a:ext cx="4693615" cy="804672"/>
          </a:xfrm>
          <a:prstGeom prst="rect">
            <a:avLst/>
          </a:prstGeom>
          <a:noFill/>
          <a:ln/>
        </p:spPr>
        <p:txBody>
          <a:bodyPr wrap="square" lIns="0" tIns="0" rIns="0" bIns="0" rtlCol="0" anchor="ctr"/>
          <a:lstStyle/>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Who pays: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outdoor advertising companies, to show advertisers the traffic past each billboard, hour by hour, from a fixed camera or a phone video.</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NEXT STAGE  ·  /audit, /network AND /roads</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Next: the same cameras time the lights</a:t>
            </a:r>
            <a:endParaRPr lang="en-US" sz="3600" dirty="0"/>
          </a:p>
        </p:txBody>
      </p:sp>
      <p:sp>
        <p:nvSpPr>
          <p:cNvPr id="8" name="Next 1 image panel"/>
          <p:cNvSpPr/>
          <p:nvPr/>
        </p:nvSpPr>
        <p:spPr>
          <a:xfrm>
            <a:off x="548640" y="1691640"/>
            <a:ext cx="3515258" cy="1911096"/>
          </a:xfrm>
          <a:prstGeom prst="roundRect">
            <a:avLst>
              <a:gd name="adj" fmla="val 3828"/>
            </a:avLst>
          </a:prstGeom>
          <a:solidFill>
            <a:schemeClr val="bg2"/>
          </a:solidFill>
          <a:ln w="9525">
            <a:solidFill>
              <a:schemeClr val="accent5"/>
            </a:solidFill>
            <a:prstDash val="solid"/>
          </a:ln>
        </p:spPr>
      </p:sp>
      <p:pic>
        <p:nvPicPr>
          <p:cNvPr id="9" name="Next 1 image" descr="Signal lamp reader on the Tashkent junction">    </p:cNvPr>
          <p:cNvPicPr>
            <a:picLocks noChangeAspect="1"/>
          </p:cNvPicPr>
          <p:nvPr/>
        </p:nvPicPr>
        <p:blipFill>
          <a:blip r:embed="rId1"/>
          <a:srcRect l="0" r="0" t="0" b="0"/>
          <a:stretch/>
        </p:blipFill>
        <p:spPr>
          <a:xfrm>
            <a:off x="612648" y="1755648"/>
            <a:ext cx="3387242" cy="1783080"/>
          </a:xfrm>
          <a:prstGeom prst="rect">
            <a:avLst/>
          </a:prstGeom>
        </p:spPr>
      </p:pic>
      <p:sp>
        <p:nvSpPr>
          <p:cNvPr id="10" name="Tag MEASURED"/>
          <p:cNvSpPr/>
          <p:nvPr/>
        </p:nvSpPr>
        <p:spPr>
          <a:xfrm>
            <a:off x="704088" y="3172968"/>
            <a:ext cx="1188720" cy="274320"/>
          </a:xfrm>
          <a:prstGeom prst="roundRect">
            <a:avLst>
              <a:gd name="adj" fmla="val 16667"/>
            </a:avLst>
          </a:prstGeom>
          <a:solidFill>
            <a:schemeClr val="bg1"/>
          </a:solidFill>
          <a:ln/>
        </p:spPr>
        <p:txBody>
          <a:bodyPr wrap="square" lIns="0" tIns="0" rIns="0" bIns="0" rtlCol="0" anchor="ctr"/>
          <a:lstStyle/>
          <a:p>
            <a:pPr algn="ctr" indent="0" marL="0">
              <a:buNone/>
            </a:pPr>
            <a:r>
              <a:rPr lang="en-US" sz="1000" b="1" spc="200" kern="0" dirty="0">
                <a:solidFill>
                  <a:schemeClr val="accent4"/>
                </a:solidFill>
                <a:latin typeface="Arial" pitchFamily="34" charset="0"/>
                <a:ea typeface="Arial" pitchFamily="34" charset="-122"/>
                <a:cs typeface="Arial" pitchFamily="34" charset="-120"/>
              </a:rPr>
              <a:t>MEASURED</a:t>
            </a:r>
            <a:endParaRPr lang="en-US" sz="1000" dirty="0"/>
          </a:p>
        </p:txBody>
      </p:sp>
      <p:sp>
        <p:nvSpPr>
          <p:cNvPr id="11" name="Text 8"/>
          <p:cNvSpPr txBox="1"/>
          <p:nvPr/>
        </p:nvSpPr>
        <p:spPr>
          <a:xfrm>
            <a:off x="548640" y="3694176"/>
            <a:ext cx="3515258" cy="32918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Signal audit  ·  /audit</a:t>
            </a:r>
            <a:endParaRPr lang="en-US" sz="1500" dirty="0"/>
          </a:p>
        </p:txBody>
      </p:sp>
      <p:sp>
        <p:nvSpPr>
          <p:cNvPr id="12" name="Next 1 label"/>
          <p:cNvSpPr txBox="1"/>
          <p:nvPr/>
        </p:nvSpPr>
        <p:spPr>
          <a:xfrm>
            <a:off x="548640" y="4059936"/>
            <a:ext cx="3515258" cy="749808"/>
          </a:xfrm>
          <a:prstGeom prst="rect">
            <a:avLst/>
          </a:prstGeom>
          <a:noFill/>
          <a:ln/>
        </p:spPr>
        <p:txBody>
          <a:bodyPr wrap="square" lIns="0" tIns="0" rIns="0" bIns="0" rtlCol="0" anchor="t"/>
          <a:lstStyle/>
          <a:p>
            <a:pPr indent="0" marL="0">
              <a:spcAft>
                <a:spcPts val="400"/>
              </a:spcAft>
              <a:buNone/>
            </a:pPr>
            <a:r>
              <a:rPr lang="en-US" sz="1200" dirty="0">
                <a:solidFill>
                  <a:schemeClr val="tx2"/>
                </a:solidFill>
                <a:latin typeface="Calibri" pitchFamily="34" charset="0"/>
                <a:ea typeface="Calibri" pitchFamily="34" charset="-122"/>
                <a:cs typeface="Calibri" pitchFamily="34" charset="-120"/>
              </a:rPr>
              <a:t>The lights read from pixels, every vehicle over the stop line, signal plans checked on a replay. 4 clips of one Tashkent junction (organisers' footage).</a:t>
            </a:r>
            <a:endParaRPr lang="en-US" sz="1200" dirty="0"/>
          </a:p>
        </p:txBody>
      </p:sp>
      <p:sp>
        <p:nvSpPr>
          <p:cNvPr id="13" name="Next 1 stat 1 value"/>
          <p:cNvSpPr txBox="1"/>
          <p:nvPr/>
        </p:nvSpPr>
        <p:spPr>
          <a:xfrm>
            <a:off x="548640" y="4846320"/>
            <a:ext cx="3515258" cy="347472"/>
          </a:xfrm>
          <a:prstGeom prst="rect">
            <a:avLst/>
          </a:prstGeom>
          <a:noFill/>
          <a:ln/>
        </p:spPr>
        <p:txBody>
          <a:bodyPr wrap="square" lIns="0" tIns="0" rIns="0" bIns="0" rtlCol="0" anchor="b"/>
          <a:lstStyle/>
          <a:p>
            <a:pPr indent="0" marL="0">
              <a:spcAft>
                <a:spcPts val="400"/>
              </a:spcAft>
              <a:buNone/>
            </a:pPr>
            <a:r>
              <a:rPr lang="en-US" sz="2200" b="1" dirty="0">
                <a:solidFill>
                  <a:schemeClr val="accent4"/>
                </a:solidFill>
                <a:latin typeface="Arial" pitchFamily="34" charset="0"/>
                <a:ea typeface="Arial" pitchFamily="34" charset="-122"/>
                <a:cs typeface="Arial" pitchFamily="34" charset="-120"/>
              </a:rPr>
              <a:t>0.29 to 0.55 s</a:t>
            </a:r>
            <a:endParaRPr lang="en-US" sz="2200" dirty="0"/>
          </a:p>
        </p:txBody>
      </p:sp>
      <p:sp>
        <p:nvSpPr>
          <p:cNvPr id="14" name="Next 1 stat 1 label"/>
          <p:cNvSpPr txBox="1"/>
          <p:nvPr/>
        </p:nvSpPr>
        <p:spPr>
          <a:xfrm>
            <a:off x="548640" y="5202936"/>
            <a:ext cx="3515258" cy="274320"/>
          </a:xfrm>
          <a:prstGeom prst="rect">
            <a:avLst/>
          </a:prstGeom>
          <a:noFill/>
          <a:ln/>
        </p:spPr>
        <p:txBody>
          <a:bodyPr wrap="square" lIns="0" tIns="0" rIns="0" bIns="0" rtlCol="0" anchor="t"/>
          <a:lstStyle/>
          <a:p>
            <a:pPr indent="0" marL="0">
              <a:spcAft>
                <a:spcPts val="400"/>
              </a:spcAft>
              <a:buNone/>
            </a:pPr>
            <a:r>
              <a:rPr lang="en-US" sz="1200" dirty="0">
                <a:solidFill>
                  <a:schemeClr val="tx1"/>
                </a:solidFill>
                <a:latin typeface="Calibri" pitchFamily="34" charset="0"/>
                <a:ea typeface="Calibri" pitchFamily="34" charset="-122"/>
                <a:cs typeface="Calibri" pitchFamily="34" charset="-120"/>
              </a:rPr>
              <a:t>replay error on 3 of 4 clips; C3905 too short, fails</a:t>
            </a:r>
            <a:endParaRPr lang="en-US" sz="1200" dirty="0"/>
          </a:p>
        </p:txBody>
      </p:sp>
      <p:sp>
        <p:nvSpPr>
          <p:cNvPr id="15" name="Next 1 stat 2 value"/>
          <p:cNvSpPr txBox="1"/>
          <p:nvPr/>
        </p:nvSpPr>
        <p:spPr>
          <a:xfrm>
            <a:off x="548640" y="5532120"/>
            <a:ext cx="3515258" cy="347472"/>
          </a:xfrm>
          <a:prstGeom prst="rect">
            <a:avLst/>
          </a:prstGeom>
          <a:noFill/>
          <a:ln/>
        </p:spPr>
        <p:txBody>
          <a:bodyPr wrap="square" lIns="0" tIns="0" rIns="0" bIns="0" rtlCol="0" anchor="b"/>
          <a:lstStyle/>
          <a:p>
            <a:pPr indent="0" marL="0">
              <a:spcAft>
                <a:spcPts val="400"/>
              </a:spcAft>
              <a:buNone/>
            </a:pPr>
            <a:r>
              <a:rPr lang="en-US" sz="2200" b="1" dirty="0">
                <a:solidFill>
                  <a:schemeClr val="accent4"/>
                </a:solidFill>
                <a:latin typeface="Arial" pitchFamily="34" charset="0"/>
                <a:ea typeface="Arial" pitchFamily="34" charset="-122"/>
                <a:cs typeface="Arial" pitchFamily="34" charset="-120"/>
              </a:rPr>
              <a:t>4 of 4</a:t>
            </a:r>
            <a:endParaRPr lang="en-US" sz="2200" dirty="0"/>
          </a:p>
        </p:txBody>
      </p:sp>
      <p:sp>
        <p:nvSpPr>
          <p:cNvPr id="16" name="Next 1 stat 2 label"/>
          <p:cNvSpPr txBox="1"/>
          <p:nvPr/>
        </p:nvSpPr>
        <p:spPr>
          <a:xfrm>
            <a:off x="548640" y="5888736"/>
            <a:ext cx="3515258" cy="274320"/>
          </a:xfrm>
          <a:prstGeom prst="rect">
            <a:avLst/>
          </a:prstGeom>
          <a:noFill/>
          <a:ln/>
        </p:spPr>
        <p:txBody>
          <a:bodyPr wrap="square" lIns="0" tIns="0" rIns="0" bIns="0" rtlCol="0" anchor="t"/>
          <a:lstStyle/>
          <a:p>
            <a:pPr indent="0" marL="0">
              <a:spcAft>
                <a:spcPts val="400"/>
              </a:spcAft>
              <a:buNone/>
            </a:pPr>
            <a:r>
              <a:rPr lang="en-US" sz="1200" dirty="0">
                <a:solidFill>
                  <a:schemeClr val="tx1"/>
                </a:solidFill>
                <a:latin typeface="Calibri" pitchFamily="34" charset="0"/>
                <a:ea typeface="Calibri" pitchFamily="34" charset="-122"/>
                <a:cs typeface="Calibri" pitchFamily="34" charset="-120"/>
              </a:rPr>
              <a:t>clips where the textbook Webster plan is worse than now</a:t>
            </a:r>
            <a:endParaRPr lang="en-US" sz="1200" dirty="0"/>
          </a:p>
        </p:txBody>
      </p:sp>
      <p:sp>
        <p:nvSpPr>
          <p:cNvPr id="17" name="Next 2 image panel"/>
          <p:cNvSpPr/>
          <p:nvPr/>
        </p:nvSpPr>
        <p:spPr>
          <a:xfrm>
            <a:off x="4338218" y="1691640"/>
            <a:ext cx="3515258" cy="1911096"/>
          </a:xfrm>
          <a:prstGeom prst="roundRect">
            <a:avLst>
              <a:gd name="adj" fmla="val 3828"/>
            </a:avLst>
          </a:prstGeom>
          <a:solidFill>
            <a:schemeClr val="bg2"/>
          </a:solidFill>
          <a:ln w="9525">
            <a:solidFill>
              <a:schemeClr val="accent5"/>
            </a:solidFill>
            <a:prstDash val="solid"/>
          </a:ln>
        </p:spPr>
      </p:sp>
      <p:pic>
        <p:nvPicPr>
          <p:cNvPr id="18" name="Next 2 image" descr="3D corridor of Tashkent">    </p:cNvPr>
          <p:cNvPicPr>
            <a:picLocks noChangeAspect="1"/>
          </p:cNvPicPr>
          <p:nvPr/>
        </p:nvPicPr>
        <p:blipFill>
          <a:blip r:embed="rId2"/>
          <a:srcRect l="0" r="0" t="0" b="0"/>
          <a:stretch/>
        </p:blipFill>
        <p:spPr>
          <a:xfrm>
            <a:off x="4402226" y="1755648"/>
            <a:ext cx="3387242" cy="1783080"/>
          </a:xfrm>
          <a:prstGeom prst="rect">
            <a:avLst/>
          </a:prstGeom>
        </p:spPr>
      </p:pic>
      <p:sp>
        <p:nvSpPr>
          <p:cNvPr id="19" name="Tag SIMULATION"/>
          <p:cNvSpPr/>
          <p:nvPr/>
        </p:nvSpPr>
        <p:spPr>
          <a:xfrm>
            <a:off x="4493666" y="3172968"/>
            <a:ext cx="1188720" cy="274320"/>
          </a:xfrm>
          <a:prstGeom prst="roundRect">
            <a:avLst>
              <a:gd name="adj" fmla="val 16667"/>
            </a:avLst>
          </a:prstGeom>
          <a:solidFill>
            <a:schemeClr val="bg1"/>
          </a:solidFill>
          <a:ln/>
        </p:spPr>
        <p:txBody>
          <a:bodyPr wrap="square" lIns="0" tIns="0" rIns="0" bIns="0" rtlCol="0" anchor="ctr"/>
          <a:lstStyle/>
          <a:p>
            <a:pPr algn="ctr" indent="0" marL="0">
              <a:buNone/>
            </a:pPr>
            <a:r>
              <a:rPr lang="en-US" sz="1000" b="1" spc="200" kern="0" dirty="0">
                <a:solidFill>
                  <a:schemeClr val="accent3"/>
                </a:solidFill>
                <a:latin typeface="Arial" pitchFamily="34" charset="0"/>
                <a:ea typeface="Arial" pitchFamily="34" charset="-122"/>
                <a:cs typeface="Arial" pitchFamily="34" charset="-120"/>
              </a:rPr>
              <a:t>SIMULATION</a:t>
            </a:r>
            <a:endParaRPr lang="en-US" sz="1000" dirty="0"/>
          </a:p>
        </p:txBody>
      </p:sp>
      <p:sp>
        <p:nvSpPr>
          <p:cNvPr id="20" name="Text 16"/>
          <p:cNvSpPr txBox="1"/>
          <p:nvPr/>
        </p:nvSpPr>
        <p:spPr>
          <a:xfrm>
            <a:off x="4338218" y="3694176"/>
            <a:ext cx="3515258" cy="32918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Green wave  ·  /network</a:t>
            </a:r>
            <a:endParaRPr lang="en-US" sz="1500" dirty="0"/>
          </a:p>
        </p:txBody>
      </p:sp>
      <p:sp>
        <p:nvSpPr>
          <p:cNvPr id="21" name="Next 2 label"/>
          <p:cNvSpPr txBox="1"/>
          <p:nvPr/>
        </p:nvSpPr>
        <p:spPr>
          <a:xfrm>
            <a:off x="4338218" y="4059936"/>
            <a:ext cx="3515258" cy="749808"/>
          </a:xfrm>
          <a:prstGeom prst="rect">
            <a:avLst/>
          </a:prstGeom>
          <a:noFill/>
          <a:ln/>
        </p:spPr>
        <p:txBody>
          <a:bodyPr wrap="square" lIns="0" tIns="0" rIns="0" bIns="0" rtlCol="0" anchor="t"/>
          <a:lstStyle/>
          <a:p>
            <a:pPr indent="0" marL="0">
              <a:spcAft>
                <a:spcPts val="400"/>
              </a:spcAft>
              <a:buNone/>
            </a:pPr>
            <a:r>
              <a:rPr lang="en-US" sz="1200" dirty="0">
                <a:solidFill>
                  <a:schemeClr val="tx2"/>
                </a:solidFill>
                <a:latin typeface="Calibri" pitchFamily="34" charset="0"/>
                <a:ea typeface="Calibri" pitchFamily="34" charset="-122"/>
                <a:cs typeface="Calibri" pitchFamily="34" charset="-120"/>
              </a:rPr>
              <a:t>Amir Temur Avenue, Tashkent: 1.46 km, 5 signals, 224 vehicles in 10 min. Only the offsets change.</a:t>
            </a:r>
            <a:endParaRPr lang="en-US" sz="1200" dirty="0"/>
          </a:p>
        </p:txBody>
      </p:sp>
      <p:sp>
        <p:nvSpPr>
          <p:cNvPr id="22" name="Next 2 stat 1 value"/>
          <p:cNvSpPr txBox="1"/>
          <p:nvPr/>
        </p:nvSpPr>
        <p:spPr>
          <a:xfrm>
            <a:off x="4338218" y="4846320"/>
            <a:ext cx="3515258" cy="347472"/>
          </a:xfrm>
          <a:prstGeom prst="rect">
            <a:avLst/>
          </a:prstGeom>
          <a:noFill/>
          <a:ln/>
        </p:spPr>
        <p:txBody>
          <a:bodyPr wrap="square" lIns="0" tIns="0" rIns="0" bIns="0" rtlCol="0" anchor="b"/>
          <a:lstStyle/>
          <a:p>
            <a:pPr indent="0" marL="0">
              <a:spcAft>
                <a:spcPts val="400"/>
              </a:spcAft>
              <a:buNone/>
            </a:pPr>
            <a:r>
              <a:rPr lang="en-US" sz="2200" b="1" dirty="0">
                <a:solidFill>
                  <a:schemeClr val="accent4"/>
                </a:solidFill>
                <a:latin typeface="Arial" pitchFamily="34" charset="0"/>
                <a:ea typeface="Arial" pitchFamily="34" charset="-122"/>
                <a:cs typeface="Arial" pitchFamily="34" charset="-120"/>
              </a:rPr>
              <a:t>141 s → 24 s</a:t>
            </a:r>
            <a:endParaRPr lang="en-US" sz="2200" dirty="0"/>
          </a:p>
        </p:txBody>
      </p:sp>
      <p:sp>
        <p:nvSpPr>
          <p:cNvPr id="23" name="Next 2 stat 1 label"/>
          <p:cNvSpPr txBox="1"/>
          <p:nvPr/>
        </p:nvSpPr>
        <p:spPr>
          <a:xfrm>
            <a:off x="4338218" y="5202936"/>
            <a:ext cx="3515258" cy="274320"/>
          </a:xfrm>
          <a:prstGeom prst="rect">
            <a:avLst/>
          </a:prstGeom>
          <a:noFill/>
          <a:ln/>
        </p:spPr>
        <p:txBody>
          <a:bodyPr wrap="square" lIns="0" tIns="0" rIns="0" bIns="0" rtlCol="0" anchor="t"/>
          <a:lstStyle/>
          <a:p>
            <a:pPr indent="0" marL="0">
              <a:spcAft>
                <a:spcPts val="400"/>
              </a:spcAft>
              <a:buNone/>
            </a:pPr>
            <a:r>
              <a:rPr lang="en-US" sz="1200" dirty="0">
                <a:solidFill>
                  <a:schemeClr val="tx1"/>
                </a:solidFill>
                <a:latin typeface="Calibri" pitchFamily="34" charset="0"/>
                <a:ea typeface="Calibri" pitchFamily="34" charset="-122"/>
                <a:cs typeface="Calibri" pitchFamily="34" charset="-120"/>
              </a:rPr>
              <a:t>mean delay at the signals</a:t>
            </a:r>
            <a:endParaRPr lang="en-US" sz="1200" dirty="0"/>
          </a:p>
        </p:txBody>
      </p:sp>
      <p:sp>
        <p:nvSpPr>
          <p:cNvPr id="24" name="Next 2 stat 2 value"/>
          <p:cNvSpPr txBox="1"/>
          <p:nvPr/>
        </p:nvSpPr>
        <p:spPr>
          <a:xfrm>
            <a:off x="4338218" y="5532120"/>
            <a:ext cx="3515258" cy="347472"/>
          </a:xfrm>
          <a:prstGeom prst="rect">
            <a:avLst/>
          </a:prstGeom>
          <a:noFill/>
          <a:ln/>
        </p:spPr>
        <p:txBody>
          <a:bodyPr wrap="square" lIns="0" tIns="0" rIns="0" bIns="0" rtlCol="0" anchor="b"/>
          <a:lstStyle/>
          <a:p>
            <a:pPr indent="0" marL="0">
              <a:spcAft>
                <a:spcPts val="400"/>
              </a:spcAft>
              <a:buNone/>
            </a:pPr>
            <a:r>
              <a:rPr lang="en-US" sz="2200" b="1" dirty="0">
                <a:solidFill>
                  <a:schemeClr val="accent4"/>
                </a:solidFill>
                <a:latin typeface="Arial" pitchFamily="34" charset="0"/>
                <a:ea typeface="Arial" pitchFamily="34" charset="-122"/>
                <a:cs typeface="Arial" pitchFamily="34" charset="-120"/>
              </a:rPr>
              <a:t>4.58 → 0.60</a:t>
            </a:r>
            <a:endParaRPr lang="en-US" sz="2200" dirty="0"/>
          </a:p>
        </p:txBody>
      </p:sp>
      <p:sp>
        <p:nvSpPr>
          <p:cNvPr id="25" name="Next 2 stat 2 label"/>
          <p:cNvSpPr txBox="1"/>
          <p:nvPr/>
        </p:nvSpPr>
        <p:spPr>
          <a:xfrm>
            <a:off x="4338218" y="5888736"/>
            <a:ext cx="3515258" cy="274320"/>
          </a:xfrm>
          <a:prstGeom prst="rect">
            <a:avLst/>
          </a:prstGeom>
          <a:noFill/>
          <a:ln/>
        </p:spPr>
        <p:txBody>
          <a:bodyPr wrap="square" lIns="0" tIns="0" rIns="0" bIns="0" rtlCol="0" anchor="t"/>
          <a:lstStyle/>
          <a:p>
            <a:pPr indent="0" marL="0">
              <a:spcAft>
                <a:spcPts val="400"/>
              </a:spcAft>
              <a:buNone/>
            </a:pPr>
            <a:r>
              <a:rPr lang="en-US" sz="1200" dirty="0">
                <a:solidFill>
                  <a:schemeClr val="tx1"/>
                </a:solidFill>
                <a:latin typeface="Calibri" pitchFamily="34" charset="0"/>
                <a:ea typeface="Calibri" pitchFamily="34" charset="-122"/>
                <a:cs typeface="Calibri" pitchFamily="34" charset="-120"/>
              </a:rPr>
              <a:t>stops per vehicle</a:t>
            </a:r>
            <a:endParaRPr lang="en-US" sz="1200" dirty="0"/>
          </a:p>
        </p:txBody>
      </p:sp>
      <p:sp>
        <p:nvSpPr>
          <p:cNvPr id="26" name="Next 3 image panel"/>
          <p:cNvSpPr/>
          <p:nvPr/>
        </p:nvSpPr>
        <p:spPr>
          <a:xfrm>
            <a:off x="8127797" y="1691640"/>
            <a:ext cx="3515258" cy="1911096"/>
          </a:xfrm>
          <a:prstGeom prst="roundRect">
            <a:avLst>
              <a:gd name="adj" fmla="val 3828"/>
            </a:avLst>
          </a:prstGeom>
          <a:solidFill>
            <a:schemeClr val="bg2"/>
          </a:solidFill>
          <a:ln w="9525">
            <a:solidFill>
              <a:schemeClr val="accent5"/>
            </a:solidFill>
            <a:prstDash val="solid"/>
          </a:ln>
        </p:spPr>
      </p:sp>
      <p:pic>
        <p:nvPicPr>
          <p:cNvPr id="27" name="Next 3 image" descr="Road damage found on a sample photo: a pothole, an alligator crack and a longitudinal crack">    </p:cNvPr>
          <p:cNvPicPr>
            <a:picLocks noChangeAspect="1"/>
          </p:cNvPicPr>
          <p:nvPr/>
        </p:nvPicPr>
        <p:blipFill>
          <a:blip r:embed="rId3"/>
          <a:srcRect l="0" r="0" t="0" b="0"/>
          <a:stretch/>
        </p:blipFill>
        <p:spPr>
          <a:xfrm>
            <a:off x="8191805" y="1755648"/>
            <a:ext cx="3387242" cy="1783080"/>
          </a:xfrm>
          <a:prstGeom prst="rect">
            <a:avLst/>
          </a:prstGeom>
        </p:spPr>
      </p:pic>
      <p:sp>
        <p:nvSpPr>
          <p:cNvPr id="28" name="Tag MEASURED"/>
          <p:cNvSpPr/>
          <p:nvPr/>
        </p:nvSpPr>
        <p:spPr>
          <a:xfrm>
            <a:off x="8283245" y="3172968"/>
            <a:ext cx="1188720" cy="274320"/>
          </a:xfrm>
          <a:prstGeom prst="roundRect">
            <a:avLst>
              <a:gd name="adj" fmla="val 16667"/>
            </a:avLst>
          </a:prstGeom>
          <a:solidFill>
            <a:schemeClr val="bg1"/>
          </a:solidFill>
          <a:ln/>
        </p:spPr>
        <p:txBody>
          <a:bodyPr wrap="square" lIns="0" tIns="0" rIns="0" bIns="0" rtlCol="0" anchor="ctr"/>
          <a:lstStyle/>
          <a:p>
            <a:pPr algn="ctr" indent="0" marL="0">
              <a:buNone/>
            </a:pPr>
            <a:r>
              <a:rPr lang="en-US" sz="1000" b="1" spc="200" kern="0" dirty="0">
                <a:solidFill>
                  <a:schemeClr val="accent4"/>
                </a:solidFill>
                <a:latin typeface="Arial" pitchFamily="34" charset="0"/>
                <a:ea typeface="Arial" pitchFamily="34" charset="-122"/>
                <a:cs typeface="Arial" pitchFamily="34" charset="-120"/>
              </a:rPr>
              <a:t>MEASURED</a:t>
            </a:r>
            <a:endParaRPr lang="en-US" sz="1000" dirty="0"/>
          </a:p>
        </p:txBody>
      </p:sp>
      <p:sp>
        <p:nvSpPr>
          <p:cNvPr id="29" name="Text 24"/>
          <p:cNvSpPr txBox="1"/>
          <p:nvPr/>
        </p:nvSpPr>
        <p:spPr>
          <a:xfrm>
            <a:off x="8127797" y="3694176"/>
            <a:ext cx="3515258" cy="32918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Road damage  ·  /roads</a:t>
            </a:r>
            <a:endParaRPr lang="en-US" sz="1500" dirty="0"/>
          </a:p>
        </p:txBody>
      </p:sp>
      <p:sp>
        <p:nvSpPr>
          <p:cNvPr id="30" name="Next 3 label"/>
          <p:cNvSpPr txBox="1"/>
          <p:nvPr/>
        </p:nvSpPr>
        <p:spPr>
          <a:xfrm>
            <a:off x="8127797" y="4059936"/>
            <a:ext cx="3515258" cy="749808"/>
          </a:xfrm>
          <a:prstGeom prst="rect">
            <a:avLst/>
          </a:prstGeom>
          <a:noFill/>
          <a:ln/>
        </p:spPr>
        <p:txBody>
          <a:bodyPr wrap="square" lIns="0" tIns="0" rIns="0" bIns="0" rtlCol="0" anchor="t"/>
          <a:lstStyle/>
          <a:p>
            <a:pPr indent="0" marL="0">
              <a:spcAft>
                <a:spcPts val="400"/>
              </a:spcAft>
              <a:buNone/>
            </a:pPr>
            <a:r>
              <a:rPr lang="en-US" sz="1200" dirty="0">
                <a:solidFill>
                  <a:schemeClr val="tx2"/>
                </a:solidFill>
                <a:latin typeface="Calibri" pitchFamily="34" charset="0"/>
                <a:ea typeface="Calibri" pitchFamily="34" charset="-122"/>
                <a:cs typeface="Calibri" pitchFamily="34" charset="-120"/>
              </a:rPr>
              <a:t>YOLOv8n fine-tuned on RDD2022 (4 classes), in the browser, on phone photos. A 300-image sample of the RDD2022 test split.</a:t>
            </a:r>
            <a:endParaRPr lang="en-US" sz="1200" dirty="0"/>
          </a:p>
        </p:txBody>
      </p:sp>
      <p:sp>
        <p:nvSpPr>
          <p:cNvPr id="31" name="Next 3 stat 1 value"/>
          <p:cNvSpPr txBox="1"/>
          <p:nvPr/>
        </p:nvSpPr>
        <p:spPr>
          <a:xfrm>
            <a:off x="8127797" y="4846320"/>
            <a:ext cx="3515258" cy="347472"/>
          </a:xfrm>
          <a:prstGeom prst="rect">
            <a:avLst/>
          </a:prstGeom>
          <a:noFill/>
          <a:ln/>
        </p:spPr>
        <p:txBody>
          <a:bodyPr wrap="square" lIns="0" tIns="0" rIns="0" bIns="0" rtlCol="0" anchor="b"/>
          <a:lstStyle/>
          <a:p>
            <a:pPr indent="0" marL="0">
              <a:spcAft>
                <a:spcPts val="400"/>
              </a:spcAft>
              <a:buNone/>
            </a:pPr>
            <a:r>
              <a:rPr lang="en-US" sz="2200" b="1" dirty="0">
                <a:solidFill>
                  <a:schemeClr val="accent4"/>
                </a:solidFill>
                <a:latin typeface="Arial" pitchFamily="34" charset="0"/>
                <a:ea typeface="Arial" pitchFamily="34" charset="-122"/>
                <a:cs typeface="Arial" pitchFamily="34" charset="-120"/>
              </a:rPr>
              <a:t>0.66</a:t>
            </a:r>
            <a:endParaRPr lang="en-US" sz="2200" dirty="0"/>
          </a:p>
        </p:txBody>
      </p:sp>
      <p:sp>
        <p:nvSpPr>
          <p:cNvPr id="32" name="Next 3 stat 1 label"/>
          <p:cNvSpPr txBox="1"/>
          <p:nvPr/>
        </p:nvSpPr>
        <p:spPr>
          <a:xfrm>
            <a:off x="8127797" y="5202936"/>
            <a:ext cx="3515258" cy="274320"/>
          </a:xfrm>
          <a:prstGeom prst="rect">
            <a:avLst/>
          </a:prstGeom>
          <a:noFill/>
          <a:ln/>
        </p:spPr>
        <p:txBody>
          <a:bodyPr wrap="square" lIns="0" tIns="0" rIns="0" bIns="0" rtlCol="0" anchor="t"/>
          <a:lstStyle/>
          <a:p>
            <a:pPr indent="0" marL="0">
              <a:spcAft>
                <a:spcPts val="400"/>
              </a:spcAft>
              <a:buNone/>
            </a:pPr>
            <a:r>
              <a:rPr lang="en-US" sz="1200" dirty="0">
                <a:solidFill>
                  <a:schemeClr val="tx1"/>
                </a:solidFill>
                <a:latin typeface="Calibri" pitchFamily="34" charset="0"/>
                <a:ea typeface="Calibri" pitchFamily="34" charset="-122"/>
                <a:cs typeface="Calibri" pitchFamily="34" charset="-120"/>
              </a:rPr>
              <a:t>mAP50</a:t>
            </a:r>
            <a:endParaRPr lang="en-US" sz="1200" dirty="0"/>
          </a:p>
        </p:txBody>
      </p:sp>
      <p:sp>
        <p:nvSpPr>
          <p:cNvPr id="33" name="Next 3 stat 2 value"/>
          <p:cNvSpPr txBox="1"/>
          <p:nvPr/>
        </p:nvSpPr>
        <p:spPr>
          <a:xfrm>
            <a:off x="8127797" y="5532120"/>
            <a:ext cx="3515258" cy="347472"/>
          </a:xfrm>
          <a:prstGeom prst="rect">
            <a:avLst/>
          </a:prstGeom>
          <a:noFill/>
          <a:ln/>
        </p:spPr>
        <p:txBody>
          <a:bodyPr wrap="square" lIns="0" tIns="0" rIns="0" bIns="0" rtlCol="0" anchor="b"/>
          <a:lstStyle/>
          <a:p>
            <a:pPr indent="0" marL="0">
              <a:spcAft>
                <a:spcPts val="400"/>
              </a:spcAft>
              <a:buNone/>
            </a:pPr>
            <a:r>
              <a:rPr lang="en-US" sz="2200" b="1" dirty="0">
                <a:solidFill>
                  <a:schemeClr val="accent4"/>
                </a:solidFill>
                <a:latin typeface="Arial" pitchFamily="34" charset="0"/>
                <a:ea typeface="Arial" pitchFamily="34" charset="-122"/>
                <a:cs typeface="Arial" pitchFamily="34" charset="-120"/>
              </a:rPr>
              <a:t>66%</a:t>
            </a:r>
            <a:endParaRPr lang="en-US" sz="2200" dirty="0"/>
          </a:p>
        </p:txBody>
      </p:sp>
      <p:sp>
        <p:nvSpPr>
          <p:cNvPr id="34" name="Next 3 stat 2 label"/>
          <p:cNvSpPr txBox="1"/>
          <p:nvPr/>
        </p:nvSpPr>
        <p:spPr>
          <a:xfrm>
            <a:off x="8127797" y="5888736"/>
            <a:ext cx="3515258" cy="274320"/>
          </a:xfrm>
          <a:prstGeom prst="rect">
            <a:avLst/>
          </a:prstGeom>
          <a:noFill/>
          <a:ln/>
        </p:spPr>
        <p:txBody>
          <a:bodyPr wrap="square" lIns="0" tIns="0" rIns="0" bIns="0" rtlCol="0" anchor="t"/>
          <a:lstStyle/>
          <a:p>
            <a:pPr indent="0" marL="0">
              <a:spcAft>
                <a:spcPts val="400"/>
              </a:spcAft>
              <a:buNone/>
            </a:pPr>
            <a:r>
              <a:rPr lang="en-US" sz="1200" dirty="0">
                <a:solidFill>
                  <a:schemeClr val="tx1"/>
                </a:solidFill>
                <a:latin typeface="Calibri" pitchFamily="34" charset="0"/>
                <a:ea typeface="Calibri" pitchFamily="34" charset="-122"/>
                <a:cs typeface="Calibri" pitchFamily="34" charset="-120"/>
              </a:rPr>
              <a:t>precision</a:t>
            </a:r>
            <a:endParaRPr lang="en-US"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ALL NUMBERS ARE ASSUMPTIONS TO CHECK WITH THE CUSTOMER</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Who pays, and the pilot</a:t>
            </a:r>
            <a:endParaRPr lang="en-US" sz="3600" dirty="0"/>
          </a:p>
        </p:txBody>
      </p:sp>
      <p:sp>
        <p:nvSpPr>
          <p:cNvPr id="8" name="Payer 1"/>
          <p:cNvSpPr/>
          <p:nvPr/>
        </p:nvSpPr>
        <p:spPr>
          <a:xfrm>
            <a:off x="548640" y="1691640"/>
            <a:ext cx="3515258" cy="2697480"/>
          </a:xfrm>
          <a:prstGeom prst="roundRect">
            <a:avLst>
              <a:gd name="adj" fmla="val 2712"/>
            </a:avLst>
          </a:prstGeom>
          <a:solidFill>
            <a:schemeClr val="bg2"/>
          </a:solidFill>
          <a:ln w="9525">
            <a:solidFill>
              <a:schemeClr val="accent5"/>
            </a:solidFill>
            <a:prstDash val="solid"/>
          </a:ln>
        </p:spPr>
      </p:sp>
      <p:sp>
        <p:nvSpPr>
          <p:cNvPr id="9" name="Payer 1 lamp"/>
          <p:cNvSpPr/>
          <p:nvPr/>
        </p:nvSpPr>
        <p:spPr>
          <a:xfrm>
            <a:off x="777240" y="1874520"/>
            <a:ext cx="237744" cy="237744"/>
          </a:xfrm>
          <a:prstGeom prst="ellipse">
            <a:avLst/>
          </a:prstGeom>
          <a:solidFill>
            <a:schemeClr val="accent4"/>
          </a:solidFill>
          <a:ln/>
        </p:spPr>
      </p:sp>
      <p:sp>
        <p:nvSpPr>
          <p:cNvPr id="10" name="Text 8"/>
          <p:cNvSpPr txBox="1"/>
          <p:nvPr/>
        </p:nvSpPr>
        <p:spPr>
          <a:xfrm>
            <a:off x="1115568" y="1828800"/>
            <a:ext cx="2738018" cy="329184"/>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Car park operators</a:t>
            </a:r>
            <a:endParaRPr lang="en-US" sz="1700" dirty="0"/>
          </a:p>
        </p:txBody>
      </p:sp>
      <p:sp>
        <p:nvSpPr>
          <p:cNvPr id="11" name="Payer 1 text"/>
          <p:cNvSpPr txBox="1"/>
          <p:nvPr/>
        </p:nvSpPr>
        <p:spPr>
          <a:xfrm>
            <a:off x="777240" y="2258568"/>
            <a:ext cx="3058058" cy="2011680"/>
          </a:xfrm>
          <a:prstGeom prst="rect">
            <a:avLst/>
          </a:prstGeom>
          <a:noFill/>
          <a:ln/>
        </p:spPr>
        <p:txBody>
          <a:bodyPr wrap="square" lIns="0" tIns="0" rIns="0" bIns="0" rtlCol="0" anchor="t"/>
          <a:lstStyle/>
          <a:p>
            <a:pPr indent="0" marL="0">
              <a:spcAft>
                <a:spcPts val="700"/>
              </a:spcAft>
              <a:buNone/>
            </a:pPr>
            <a:r>
              <a:rPr lang="en-US" sz="1300" b="1" dirty="0">
                <a:solidFill>
                  <a:schemeClr val="accent1"/>
                </a:solidFill>
                <a:latin typeface="Calibri" pitchFamily="34" charset="0"/>
                <a:ea typeface="Calibri" pitchFamily="34" charset="-122"/>
                <a:cs typeface="Calibri" pitchFamily="34" charset="-120"/>
              </a:rPr>
              <a:t>Gets: </a:t>
            </a:r>
            <a:pPr indent="0" marL="0">
              <a:spcAft>
                <a:spcPts val="700"/>
              </a:spcAft>
              <a:buNone/>
            </a:pPr>
            <a:r>
              <a:rPr lang="en-US" sz="1300" dirty="0">
                <a:solidFill>
                  <a:schemeClr val="tx1"/>
                </a:solidFill>
                <a:latin typeface="Calibri" pitchFamily="34" charset="0"/>
                <a:ea typeface="Calibri" pitchFamily="34" charset="-122"/>
                <a:cs typeface="Calibri" pitchFamily="34" charset="-120"/>
              </a:rPr>
              <a:t>free spaces now and on arrival, drivers sent to the car park with room.</a:t>
            </a:r>
            <a:endParaRPr lang="en-US" sz="1300" dirty="0"/>
          </a:p>
          <a:p>
            <a:pPr indent="0" marL="0">
              <a:spcAft>
                <a:spcPts val="700"/>
              </a:spcAft>
              <a:buNone/>
            </a:pPr>
            <a:r>
              <a:rPr lang="en-US" sz="1300" b="1" dirty="0">
                <a:solidFill>
                  <a:schemeClr val="accent1"/>
                </a:solidFill>
                <a:latin typeface="Calibri" pitchFamily="34" charset="0"/>
                <a:ea typeface="Calibri" pitchFamily="34" charset="-122"/>
                <a:cs typeface="Calibri" pitchFamily="34" charset="-120"/>
              </a:rPr>
              <a:t>Price: </a:t>
            </a:r>
            <a:pPr indent="0" marL="0">
              <a:spcAft>
                <a:spcPts val="700"/>
              </a:spcAft>
              <a:buNone/>
            </a:pPr>
            <a:r>
              <a:rPr lang="en-US" sz="1300" dirty="0">
                <a:solidFill>
                  <a:schemeClr val="tx1"/>
                </a:solidFill>
                <a:latin typeface="Calibri" pitchFamily="34" charset="0"/>
                <a:ea typeface="Calibri" pitchFamily="34" charset="-122"/>
                <a:cs typeface="Calibri" pitchFamily="34" charset="-120"/>
              </a:rPr>
              <a:t>per camera per month, set in the pilot.</a:t>
            </a:r>
            <a:endParaRPr lang="en-US" sz="1300" dirty="0"/>
          </a:p>
          <a:p>
            <a:pPr indent="0" marL="0">
              <a:spcAft>
                <a:spcPts val="700"/>
              </a:spcAft>
              <a:buNone/>
            </a:pPr>
            <a:r>
              <a:rPr lang="en-US" sz="1300" b="1" dirty="0">
                <a:solidFill>
                  <a:schemeClr val="accent1"/>
                </a:solidFill>
                <a:latin typeface="Calibri" pitchFamily="34" charset="0"/>
                <a:ea typeface="Calibri" pitchFamily="34" charset="-122"/>
                <a:cs typeface="Calibri" pitchFamily="34" charset="-120"/>
              </a:rPr>
              <a:t>Value a month = </a:t>
            </a:r>
            <a:pPr indent="0" marL="0">
              <a:spcAft>
                <a:spcPts val="700"/>
              </a:spcAft>
              <a:buNone/>
            </a:pPr>
            <a:r>
              <a:rPr lang="en-US" sz="1300" dirty="0">
                <a:solidFill>
                  <a:schemeClr val="tx1"/>
                </a:solidFill>
                <a:latin typeface="Calibri" pitchFamily="34" charset="0"/>
                <a:ea typeface="Calibri" pitchFamily="34" charset="-122"/>
                <a:cs typeface="Calibri" pitchFamily="34" charset="-120"/>
              </a:rPr>
              <a:t>extra spaces filled × hours × tariff, plus drivers no longer turned away at the gate.</a:t>
            </a:r>
            <a:endParaRPr lang="en-US" sz="1300" dirty="0"/>
          </a:p>
        </p:txBody>
      </p:sp>
      <p:sp>
        <p:nvSpPr>
          <p:cNvPr id="12" name="Payer 2"/>
          <p:cNvSpPr/>
          <p:nvPr/>
        </p:nvSpPr>
        <p:spPr>
          <a:xfrm>
            <a:off x="4338218" y="1691640"/>
            <a:ext cx="3515258" cy="2697480"/>
          </a:xfrm>
          <a:prstGeom prst="roundRect">
            <a:avLst>
              <a:gd name="adj" fmla="val 2712"/>
            </a:avLst>
          </a:prstGeom>
          <a:solidFill>
            <a:schemeClr val="bg2"/>
          </a:solidFill>
          <a:ln w="9525">
            <a:solidFill>
              <a:schemeClr val="accent5"/>
            </a:solidFill>
            <a:prstDash val="solid"/>
          </a:ln>
        </p:spPr>
      </p:sp>
      <p:sp>
        <p:nvSpPr>
          <p:cNvPr id="13" name="Payer 2 lamp"/>
          <p:cNvSpPr/>
          <p:nvPr/>
        </p:nvSpPr>
        <p:spPr>
          <a:xfrm>
            <a:off x="4566818" y="1874520"/>
            <a:ext cx="237744" cy="237744"/>
          </a:xfrm>
          <a:prstGeom prst="ellipse">
            <a:avLst/>
          </a:prstGeom>
          <a:solidFill>
            <a:schemeClr val="accent3"/>
          </a:solidFill>
          <a:ln/>
        </p:spPr>
      </p:sp>
      <p:sp>
        <p:nvSpPr>
          <p:cNvPr id="14" name="Text 12"/>
          <p:cNvSpPr txBox="1"/>
          <p:nvPr/>
        </p:nvSpPr>
        <p:spPr>
          <a:xfrm>
            <a:off x="4905146" y="1828800"/>
            <a:ext cx="2738018" cy="329184"/>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The city</a:t>
            </a:r>
            <a:endParaRPr lang="en-US" sz="1700" dirty="0"/>
          </a:p>
        </p:txBody>
      </p:sp>
      <p:sp>
        <p:nvSpPr>
          <p:cNvPr id="15" name="Payer 2 text"/>
          <p:cNvSpPr txBox="1"/>
          <p:nvPr/>
        </p:nvSpPr>
        <p:spPr>
          <a:xfrm>
            <a:off x="4566818" y="2258568"/>
            <a:ext cx="3058058" cy="2011680"/>
          </a:xfrm>
          <a:prstGeom prst="rect">
            <a:avLst/>
          </a:prstGeom>
          <a:noFill/>
          <a:ln/>
        </p:spPr>
        <p:txBody>
          <a:bodyPr wrap="square" lIns="0" tIns="0" rIns="0" bIns="0" rtlCol="0" anchor="t"/>
          <a:lstStyle/>
          <a:p>
            <a:pPr indent="0" marL="0">
              <a:spcAft>
                <a:spcPts val="700"/>
              </a:spcAft>
              <a:buNone/>
            </a:pPr>
            <a:r>
              <a:rPr lang="en-US" sz="1300" b="1" dirty="0">
                <a:solidFill>
                  <a:schemeClr val="accent1"/>
                </a:solidFill>
                <a:latin typeface="Calibri" pitchFamily="34" charset="0"/>
                <a:ea typeface="Calibri" pitchFamily="34" charset="-122"/>
                <a:cs typeface="Calibri" pitchFamily="34" charset="-120"/>
              </a:rPr>
              <a:t>Gets: </a:t>
            </a:r>
            <a:pPr indent="0" marL="0">
              <a:spcAft>
                <a:spcPts val="700"/>
              </a:spcAft>
              <a:buNone/>
            </a:pPr>
            <a:r>
              <a:rPr lang="en-US" sz="1300" dirty="0">
                <a:solidFill>
                  <a:schemeClr val="tx1"/>
                </a:solidFill>
                <a:latin typeface="Calibri" pitchFamily="34" charset="0"/>
                <a:ea typeface="Calibri" pitchFamily="34" charset="-122"/>
                <a:cs typeface="Calibri" pitchFamily="34" charset="-120"/>
              </a:rPr>
              <a:t>a district view from cameras it already has; less searching traffic, counted in vehicle-km.</a:t>
            </a:r>
            <a:endParaRPr lang="en-US" sz="1300" dirty="0"/>
          </a:p>
          <a:p>
            <a:pPr indent="0" marL="0">
              <a:spcAft>
                <a:spcPts val="700"/>
              </a:spcAft>
              <a:buNone/>
            </a:pPr>
            <a:r>
              <a:rPr lang="en-US" sz="1300" b="1" dirty="0">
                <a:solidFill>
                  <a:schemeClr val="accent1"/>
                </a:solidFill>
                <a:latin typeface="Calibri" pitchFamily="34" charset="0"/>
                <a:ea typeface="Calibri" pitchFamily="34" charset="-122"/>
                <a:cs typeface="Calibri" pitchFamily="34" charset="-120"/>
              </a:rPr>
              <a:t>Later: </a:t>
            </a:r>
            <a:pPr indent="0" marL="0">
              <a:spcAft>
                <a:spcPts val="700"/>
              </a:spcAft>
              <a:buNone/>
            </a:pPr>
            <a:r>
              <a:rPr lang="en-US" sz="1300" dirty="0">
                <a:solidFill>
                  <a:schemeClr val="tx1"/>
                </a:solidFill>
                <a:latin typeface="Calibri" pitchFamily="34" charset="0"/>
                <a:ea typeface="Calibri" pitchFamily="34" charset="-122"/>
                <a:cs typeface="Calibri" pitchFamily="34" charset="-120"/>
              </a:rPr>
              <a:t>the signal audit and green wave on the same cameras.</a:t>
            </a:r>
            <a:endParaRPr lang="en-US" sz="1300" dirty="0"/>
          </a:p>
          <a:p>
            <a:pPr indent="0" marL="0">
              <a:spcAft>
                <a:spcPts val="700"/>
              </a:spcAft>
              <a:buNone/>
            </a:pPr>
            <a:r>
              <a:rPr lang="en-US" sz="1300" b="1" dirty="0">
                <a:solidFill>
                  <a:schemeClr val="accent1"/>
                </a:solidFill>
                <a:latin typeface="Calibri" pitchFamily="34" charset="0"/>
                <a:ea typeface="Calibri" pitchFamily="34" charset="-122"/>
                <a:cs typeface="Calibri" pitchFamily="34" charset="-120"/>
              </a:rPr>
              <a:t>Value: </a:t>
            </a:r>
            <a:pPr indent="0" marL="0">
              <a:spcAft>
                <a:spcPts val="700"/>
              </a:spcAft>
              <a:buNone/>
            </a:pPr>
            <a:r>
              <a:rPr lang="en-US" sz="1300" dirty="0">
                <a:solidFill>
                  <a:schemeClr val="tx1"/>
                </a:solidFill>
                <a:latin typeface="Calibri" pitchFamily="34" charset="0"/>
                <a:ea typeface="Calibri" pitchFamily="34" charset="-122"/>
                <a:cs typeface="Calibri" pitchFamily="34" charset="-120"/>
              </a:rPr>
              <a:t>vehicle-km and minutes saved, measured in the pilot.</a:t>
            </a:r>
            <a:endParaRPr lang="en-US" sz="1300" dirty="0"/>
          </a:p>
        </p:txBody>
      </p:sp>
      <p:sp>
        <p:nvSpPr>
          <p:cNvPr id="16" name="Payer 3"/>
          <p:cNvSpPr/>
          <p:nvPr/>
        </p:nvSpPr>
        <p:spPr>
          <a:xfrm>
            <a:off x="8127797" y="1691640"/>
            <a:ext cx="3515258" cy="2697480"/>
          </a:xfrm>
          <a:prstGeom prst="roundRect">
            <a:avLst>
              <a:gd name="adj" fmla="val 2712"/>
            </a:avLst>
          </a:prstGeom>
          <a:solidFill>
            <a:schemeClr val="bg2"/>
          </a:solidFill>
          <a:ln w="9525">
            <a:solidFill>
              <a:schemeClr val="accent5"/>
            </a:solidFill>
            <a:prstDash val="solid"/>
          </a:ln>
        </p:spPr>
      </p:sp>
      <p:sp>
        <p:nvSpPr>
          <p:cNvPr id="17" name="Payer 3 lamp"/>
          <p:cNvSpPr/>
          <p:nvPr/>
        </p:nvSpPr>
        <p:spPr>
          <a:xfrm>
            <a:off x="8356397" y="1874520"/>
            <a:ext cx="237744" cy="237744"/>
          </a:xfrm>
          <a:prstGeom prst="ellipse">
            <a:avLst/>
          </a:prstGeom>
          <a:solidFill>
            <a:schemeClr val="accent1"/>
          </a:solidFill>
          <a:ln/>
        </p:spPr>
      </p:sp>
      <p:sp>
        <p:nvSpPr>
          <p:cNvPr id="18" name="Text 16"/>
          <p:cNvSpPr txBox="1"/>
          <p:nvPr/>
        </p:nvSpPr>
        <p:spPr>
          <a:xfrm>
            <a:off x="8694725" y="1828800"/>
            <a:ext cx="2738018" cy="329184"/>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Outdoor advertising</a:t>
            </a:r>
            <a:endParaRPr lang="en-US" sz="1700" dirty="0"/>
          </a:p>
        </p:txBody>
      </p:sp>
      <p:sp>
        <p:nvSpPr>
          <p:cNvPr id="19" name="Payer 3 text"/>
          <p:cNvSpPr txBox="1"/>
          <p:nvPr/>
        </p:nvSpPr>
        <p:spPr>
          <a:xfrm>
            <a:off x="8356397" y="2258568"/>
            <a:ext cx="3058058" cy="2011680"/>
          </a:xfrm>
          <a:prstGeom prst="rect">
            <a:avLst/>
          </a:prstGeom>
          <a:noFill/>
          <a:ln/>
        </p:spPr>
        <p:txBody>
          <a:bodyPr wrap="square" lIns="0" tIns="0" rIns="0" bIns="0" rtlCol="0" anchor="t"/>
          <a:lstStyle/>
          <a:p>
            <a:pPr indent="0" marL="0">
              <a:spcAft>
                <a:spcPts val="700"/>
              </a:spcAft>
              <a:buNone/>
            </a:pPr>
            <a:r>
              <a:rPr lang="en-US" sz="1300" b="1" dirty="0">
                <a:solidFill>
                  <a:schemeClr val="accent1"/>
                </a:solidFill>
                <a:latin typeface="Calibri" pitchFamily="34" charset="0"/>
                <a:ea typeface="Calibri" pitchFamily="34" charset="-122"/>
                <a:cs typeface="Calibri" pitchFamily="34" charset="-120"/>
              </a:rPr>
              <a:t>Gets: </a:t>
            </a:r>
            <a:pPr indent="0" marL="0">
              <a:spcAft>
                <a:spcPts val="700"/>
              </a:spcAft>
              <a:buNone/>
            </a:pPr>
            <a:r>
              <a:rPr lang="en-US" sz="1300" dirty="0">
                <a:solidFill>
                  <a:schemeClr val="tx1"/>
                </a:solidFill>
                <a:latin typeface="Calibri" pitchFamily="34" charset="0"/>
                <a:ea typeface="Calibri" pitchFamily="34" charset="-122"/>
                <a:cs typeface="Calibri" pitchFamily="34" charset="-120"/>
              </a:rPr>
              <a:t>vehicles past each billboard by type, direction and hour, with a log and CSV.</a:t>
            </a:r>
            <a:endParaRPr lang="en-US" sz="1300" dirty="0"/>
          </a:p>
          <a:p>
            <a:pPr indent="0" marL="0">
              <a:spcAft>
                <a:spcPts val="700"/>
              </a:spcAft>
              <a:buNone/>
            </a:pPr>
            <a:r>
              <a:rPr lang="en-US" sz="1300" b="1" dirty="0">
                <a:solidFill>
                  <a:schemeClr val="accent1"/>
                </a:solidFill>
                <a:latin typeface="Calibri" pitchFamily="34" charset="0"/>
                <a:ea typeface="Calibri" pitchFamily="34" charset="-122"/>
                <a:cs typeface="Calibri" pitchFamily="34" charset="-120"/>
              </a:rPr>
              <a:t>Price: </a:t>
            </a:r>
            <a:pPr indent="0" marL="0">
              <a:spcAft>
                <a:spcPts val="700"/>
              </a:spcAft>
              <a:buNone/>
            </a:pPr>
            <a:r>
              <a:rPr lang="en-US" sz="1300" dirty="0">
                <a:solidFill>
                  <a:schemeClr val="tx1"/>
                </a:solidFill>
                <a:latin typeface="Calibri" pitchFamily="34" charset="0"/>
                <a:ea typeface="Calibri" pitchFamily="34" charset="-122"/>
                <a:cs typeface="Calibri" pitchFamily="34" charset="-120"/>
              </a:rPr>
              <a:t>per billboard per month, set in the pilot.</a:t>
            </a:r>
            <a:endParaRPr lang="en-US" sz="1300" dirty="0"/>
          </a:p>
          <a:p>
            <a:pPr indent="0" marL="0">
              <a:spcAft>
                <a:spcPts val="700"/>
              </a:spcAft>
              <a:buNone/>
            </a:pPr>
            <a:r>
              <a:rPr lang="en-US" sz="1300" b="1" dirty="0">
                <a:solidFill>
                  <a:schemeClr val="accent1"/>
                </a:solidFill>
                <a:latin typeface="Calibri" pitchFamily="34" charset="0"/>
                <a:ea typeface="Calibri" pitchFamily="34" charset="-122"/>
                <a:cs typeface="Calibri" pitchFamily="34" charset="-120"/>
              </a:rPr>
              <a:t>Value: </a:t>
            </a:r>
            <a:pPr indent="0" marL="0">
              <a:spcAft>
                <a:spcPts val="700"/>
              </a:spcAft>
              <a:buNone/>
            </a:pPr>
            <a:r>
              <a:rPr lang="en-US" sz="1300" dirty="0">
                <a:solidFill>
                  <a:schemeClr val="tx1"/>
                </a:solidFill>
                <a:latin typeface="Calibri" pitchFamily="34" charset="0"/>
                <a:ea typeface="Calibri" pitchFamily="34" charset="-122"/>
                <a:cs typeface="Calibri" pitchFamily="34" charset="-120"/>
              </a:rPr>
              <a:t>counted traffic to show advertisers, from a camera or a phone video.</a:t>
            </a:r>
            <a:endParaRPr lang="en-US" sz="1300" dirty="0"/>
          </a:p>
        </p:txBody>
      </p:sp>
      <p:sp>
        <p:nvSpPr>
          <p:cNvPr id="20" name="Pilot card"/>
          <p:cNvSpPr/>
          <p:nvPr/>
        </p:nvSpPr>
        <p:spPr>
          <a:xfrm>
            <a:off x="548640" y="4572000"/>
            <a:ext cx="3515258" cy="1645920"/>
          </a:xfrm>
          <a:prstGeom prst="roundRect">
            <a:avLst>
              <a:gd name="adj" fmla="val 4444"/>
            </a:avLst>
          </a:prstGeom>
          <a:solidFill>
            <a:schemeClr val="bg2"/>
          </a:solidFill>
          <a:ln w="9525">
            <a:solidFill>
              <a:schemeClr val="accent5"/>
            </a:solidFill>
            <a:prstDash val="solid"/>
          </a:ln>
        </p:spPr>
      </p:sp>
      <p:sp>
        <p:nvSpPr>
          <p:cNvPr id="21" name="Pilot value"/>
          <p:cNvSpPr txBox="1"/>
          <p:nvPr/>
        </p:nvSpPr>
        <p:spPr>
          <a:xfrm>
            <a:off x="777240" y="4645152"/>
            <a:ext cx="305805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3 months</a:t>
            </a:r>
            <a:endParaRPr lang="en-US" sz="3000" dirty="0"/>
          </a:p>
        </p:txBody>
      </p:sp>
      <p:sp>
        <p:nvSpPr>
          <p:cNvPr id="22" name="Pilot label"/>
          <p:cNvSpPr txBox="1"/>
          <p:nvPr/>
        </p:nvSpPr>
        <p:spPr>
          <a:xfrm>
            <a:off x="777240" y="5202936"/>
            <a:ext cx="3058058"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pilot with one operator, on the cameras it already has</a:t>
            </a:r>
            <a:endParaRPr lang="en-US" sz="1300" dirty="0"/>
          </a:p>
        </p:txBody>
      </p:sp>
      <p:sp>
        <p:nvSpPr>
          <p:cNvPr id="23" name="Cost card"/>
          <p:cNvSpPr/>
          <p:nvPr/>
        </p:nvSpPr>
        <p:spPr>
          <a:xfrm>
            <a:off x="4338218" y="4572000"/>
            <a:ext cx="3515258" cy="1645920"/>
          </a:xfrm>
          <a:prstGeom prst="roundRect">
            <a:avLst>
              <a:gd name="adj" fmla="val 4444"/>
            </a:avLst>
          </a:prstGeom>
          <a:solidFill>
            <a:schemeClr val="bg2"/>
          </a:solidFill>
          <a:ln w="9525">
            <a:solidFill>
              <a:schemeClr val="accent5"/>
            </a:solidFill>
            <a:prstDash val="solid"/>
          </a:ln>
        </p:spPr>
      </p:sp>
      <p:sp>
        <p:nvSpPr>
          <p:cNvPr id="24" name="Costs"/>
          <p:cNvSpPr txBox="1"/>
          <p:nvPr/>
        </p:nvSpPr>
        <p:spPr>
          <a:xfrm>
            <a:off x="4566818" y="4663440"/>
            <a:ext cx="3058058" cy="1463040"/>
          </a:xfrm>
          <a:prstGeom prst="rect">
            <a:avLst/>
          </a:prstGeom>
          <a:noFill/>
          <a:ln/>
        </p:spPr>
        <p:txBody>
          <a:bodyPr wrap="square" lIns="0" tIns="0" rIns="0" bIns="0" rtlCol="0" anchor="ctr"/>
          <a:lstStyle/>
          <a:p>
            <a:pPr indent="0" marL="0">
              <a:spcAft>
                <a:spcPts val="300"/>
              </a:spcAft>
              <a:buNone/>
            </a:pPr>
            <a:r>
              <a:rPr lang="en-US" sz="1300" b="1" dirty="0">
                <a:solidFill>
                  <a:schemeClr val="accent1"/>
                </a:solidFill>
                <a:latin typeface="Calibri" pitchFamily="34" charset="0"/>
                <a:ea typeface="Calibri" pitchFamily="34" charset="-122"/>
                <a:cs typeface="Calibri" pitchFamily="34" charset="-120"/>
              </a:rPr>
              <a:t>People: </a:t>
            </a:r>
            <a:pPr indent="0" marL="0">
              <a:spcAft>
                <a:spcPts val="300"/>
              </a:spcAft>
              <a:buNone/>
            </a:pPr>
            <a:r>
              <a:rPr lang="en-US" sz="1300" dirty="0">
                <a:solidFill>
                  <a:schemeClr val="tx1"/>
                </a:solidFill>
                <a:latin typeface="Calibri" pitchFamily="34" charset="0"/>
                <a:ea typeface="Calibri" pitchFamily="34" charset="-122"/>
                <a:cs typeface="Calibri" pitchFamily="34" charset="-120"/>
              </a:rPr>
              <a:t>3 engineers part time. The main cost.</a:t>
            </a:r>
            <a:endParaRPr lang="en-US" sz="1300" dirty="0"/>
          </a:p>
          <a:p>
            <a:pPr indent="0" marL="0">
              <a:spcAft>
                <a:spcPts val="300"/>
              </a:spcAft>
              <a:buNone/>
            </a:pPr>
            <a:r>
              <a:rPr lang="en-US" sz="1300" b="1" dirty="0">
                <a:solidFill>
                  <a:schemeClr val="accent1"/>
                </a:solidFill>
                <a:latin typeface="Calibri" pitchFamily="34" charset="0"/>
                <a:ea typeface="Calibri" pitchFamily="34" charset="-122"/>
                <a:cs typeface="Calibri" pitchFamily="34" charset="-120"/>
              </a:rPr>
              <a:t>Hosting: </a:t>
            </a:r>
            <a:pPr indent="0" marL="0">
              <a:spcAft>
                <a:spcPts val="300"/>
              </a:spcAft>
              <a:buNone/>
            </a:pPr>
            <a:r>
              <a:rPr lang="en-US" sz="1300" dirty="0">
                <a:solidFill>
                  <a:schemeClr val="tx1"/>
                </a:solidFill>
                <a:latin typeface="Calibri" pitchFamily="34" charset="0"/>
                <a:ea typeface="Calibri" pitchFamily="34" charset="-122"/>
                <a:cs typeface="Calibri" pitchFamily="34" charset="-120"/>
              </a:rPr>
              <a:t>static, free to USD 20 a month. No GPU server.</a:t>
            </a:r>
            <a:endParaRPr lang="en-US" sz="1300" dirty="0"/>
          </a:p>
          <a:p>
            <a:pPr indent="0" marL="0">
              <a:spcAft>
                <a:spcPts val="300"/>
              </a:spcAft>
              <a:buNone/>
            </a:pPr>
            <a:r>
              <a:rPr lang="en-US" sz="1300" b="1" dirty="0">
                <a:solidFill>
                  <a:schemeClr val="accent1"/>
                </a:solidFill>
                <a:latin typeface="Calibri" pitchFamily="34" charset="0"/>
                <a:ea typeface="Calibri" pitchFamily="34" charset="-122"/>
                <a:cs typeface="Calibri" pitchFamily="34" charset="-120"/>
              </a:rPr>
              <a:t>Hardware: </a:t>
            </a:r>
            <a:pPr indent="0" marL="0">
              <a:spcAft>
                <a:spcPts val="300"/>
              </a:spcAft>
              <a:buNone/>
            </a:pPr>
            <a:r>
              <a:rPr lang="en-US" sz="1300" dirty="0">
                <a:solidFill>
                  <a:schemeClr val="tx1"/>
                </a:solidFill>
                <a:latin typeface="Calibri" pitchFamily="34" charset="0"/>
                <a:ea typeface="Calibri" pitchFamily="34" charset="-122"/>
                <a:cs typeface="Calibri" pitchFamily="34" charset="-120"/>
              </a:rPr>
              <a:t>no sensors in the ground; one camera covers the spaces it sees.</a:t>
            </a:r>
            <a:endParaRPr lang="en-US" sz="1300" dirty="0"/>
          </a:p>
        </p:txBody>
      </p:sp>
      <p:sp>
        <p:nvSpPr>
          <p:cNvPr id="25" name="Payback card"/>
          <p:cNvSpPr/>
          <p:nvPr/>
        </p:nvSpPr>
        <p:spPr>
          <a:xfrm>
            <a:off x="8127797" y="4572000"/>
            <a:ext cx="3515258" cy="1645920"/>
          </a:xfrm>
          <a:prstGeom prst="roundRect">
            <a:avLst>
              <a:gd name="adj" fmla="val 4444"/>
            </a:avLst>
          </a:prstGeom>
          <a:solidFill>
            <a:schemeClr val="bg2"/>
          </a:solidFill>
          <a:ln w="9525">
            <a:solidFill>
              <a:schemeClr val="accent5"/>
            </a:solidFill>
            <a:prstDash val="solid"/>
          </a:ln>
        </p:spPr>
      </p:sp>
      <p:sp>
        <p:nvSpPr>
          <p:cNvPr id="26" name="Payback"/>
          <p:cNvSpPr txBox="1"/>
          <p:nvPr/>
        </p:nvSpPr>
        <p:spPr>
          <a:xfrm>
            <a:off x="8356397" y="4663440"/>
            <a:ext cx="3058058" cy="1463040"/>
          </a:xfrm>
          <a:prstGeom prst="rect">
            <a:avLst/>
          </a:prstGeom>
          <a:noFill/>
          <a:ln/>
        </p:spPr>
        <p:txBody>
          <a:bodyPr wrap="square" lIns="0" tIns="0" rIns="0" bIns="0" rtlCol="0" anchor="ctr"/>
          <a:lstStyle/>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Payback = price ÷ value a month.</a:t>
            </a:r>
            <a:pPr indent="0" marL="0">
              <a:spcAft>
                <a:spcPts val="400"/>
              </a:spcAft>
              <a:buNone/>
            </a:pPr>
            <a:endParaRPr lang="en-US" sz="1300" dirty="0"/>
          </a:p>
          <a:p>
            <a:pPr indent="0" marL="0">
              <a:spcAft>
                <a:spcPts val="400"/>
              </a:spcAft>
              <a:buNone/>
            </a:pPr>
            <a:r>
              <a:rPr lang="en-US" sz="1300" dirty="0">
                <a:solidFill>
                  <a:schemeClr val="tx1"/>
                </a:solidFill>
                <a:latin typeface="Calibri" pitchFamily="34" charset="0"/>
                <a:ea typeface="Calibri" pitchFamily="34" charset="-122"/>
                <a:cs typeface="Calibri" pitchFamily="34" charset="-120"/>
              </a:rPr>
              <a:t>We state it from the pilot inputs, not before. Our cost per camera: outlining the spaces once, or checking the suggested ones, and a sample of frames by hand.</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TEAM, ASK AND NEXT STEPS</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Team PariVision</a:t>
            </a:r>
            <a:endParaRPr lang="en-US" sz="3600" dirty="0"/>
          </a:p>
        </p:txBody>
      </p:sp>
      <p:sp>
        <p:nvSpPr>
          <p:cNvPr id="8" name="Member 1 card"/>
          <p:cNvSpPr/>
          <p:nvPr/>
        </p:nvSpPr>
        <p:spPr>
          <a:xfrm>
            <a:off x="548640" y="1691640"/>
            <a:ext cx="3515258" cy="1097280"/>
          </a:xfrm>
          <a:prstGeom prst="roundRect">
            <a:avLst>
              <a:gd name="adj" fmla="val 6667"/>
            </a:avLst>
          </a:prstGeom>
          <a:solidFill>
            <a:schemeClr val="bg2"/>
          </a:solidFill>
          <a:ln w="9525">
            <a:solidFill>
              <a:schemeClr val="accent5"/>
            </a:solidFill>
            <a:prstDash val="solid"/>
          </a:ln>
        </p:spPr>
      </p:sp>
      <p:sp>
        <p:nvSpPr>
          <p:cNvPr id="9" name="Member 1 lamp"/>
          <p:cNvSpPr/>
          <p:nvPr/>
        </p:nvSpPr>
        <p:spPr>
          <a:xfrm>
            <a:off x="777240" y="1874520"/>
            <a:ext cx="274320" cy="274320"/>
          </a:xfrm>
          <a:prstGeom prst="ellipse">
            <a:avLst/>
          </a:prstGeom>
          <a:solidFill>
            <a:schemeClr val="accent2"/>
          </a:solidFill>
          <a:ln/>
        </p:spPr>
      </p:sp>
      <p:sp>
        <p:nvSpPr>
          <p:cNvPr id="10" name="Text 8"/>
          <p:cNvSpPr txBox="1"/>
          <p:nvPr/>
        </p:nvSpPr>
        <p:spPr>
          <a:xfrm>
            <a:off x="1188720" y="1810512"/>
            <a:ext cx="2692298" cy="384048"/>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Amal Karimov</a:t>
            </a:r>
            <a:endParaRPr lang="en-US" sz="1800" dirty="0"/>
          </a:p>
        </p:txBody>
      </p:sp>
      <p:sp>
        <p:nvSpPr>
          <p:cNvPr id="11" name="Member 1 role"/>
          <p:cNvSpPr txBox="1"/>
          <p:nvPr/>
        </p:nvSpPr>
        <p:spPr>
          <a:xfrm>
            <a:off x="1188720" y="2212848"/>
            <a:ext cx="2692298" cy="502920"/>
          </a:xfrm>
          <a:prstGeom prst="rect">
            <a:avLst/>
          </a:prstGeom>
          <a:noFill/>
          <a:ln/>
        </p:spPr>
        <p:txBody>
          <a:bodyPr wrap="square" lIns="0" tIns="0" rIns="0" bIns="0" rtlCol="0" anchor="t"/>
          <a:lstStyle/>
          <a:p>
            <a:pPr indent="0" marL="0">
              <a:spcAft>
                <a:spcPts val="400"/>
              </a:spcAft>
              <a:buNone/>
            </a:pPr>
            <a:r>
              <a:rPr lang="en-US" sz="1300" dirty="0">
                <a:solidFill>
                  <a:schemeClr val="tx2"/>
                </a:solidFill>
                <a:latin typeface="Calibri" pitchFamily="34" charset="0"/>
                <a:ea typeface="Calibri" pitchFamily="34" charset="-122"/>
                <a:cs typeface="Calibri" pitchFamily="34" charset="-120"/>
              </a:rPr>
              <a:t>Captain. Scene layout and the signal and vehicle rules</a:t>
            </a:r>
            <a:endParaRPr lang="en-US" sz="1300" dirty="0"/>
          </a:p>
        </p:txBody>
      </p:sp>
      <p:sp>
        <p:nvSpPr>
          <p:cNvPr id="12" name="Member 2 card"/>
          <p:cNvSpPr/>
          <p:nvPr/>
        </p:nvSpPr>
        <p:spPr>
          <a:xfrm>
            <a:off x="4338218" y="1691640"/>
            <a:ext cx="3515258" cy="1097280"/>
          </a:xfrm>
          <a:prstGeom prst="roundRect">
            <a:avLst>
              <a:gd name="adj" fmla="val 6667"/>
            </a:avLst>
          </a:prstGeom>
          <a:solidFill>
            <a:schemeClr val="bg2"/>
          </a:solidFill>
          <a:ln w="9525">
            <a:solidFill>
              <a:schemeClr val="accent5"/>
            </a:solidFill>
            <a:prstDash val="solid"/>
          </a:ln>
        </p:spPr>
      </p:sp>
      <p:sp>
        <p:nvSpPr>
          <p:cNvPr id="13" name="Member 2 lamp"/>
          <p:cNvSpPr/>
          <p:nvPr/>
        </p:nvSpPr>
        <p:spPr>
          <a:xfrm>
            <a:off x="4566818" y="1874520"/>
            <a:ext cx="274320" cy="274320"/>
          </a:xfrm>
          <a:prstGeom prst="ellipse">
            <a:avLst/>
          </a:prstGeom>
          <a:solidFill>
            <a:schemeClr val="accent3"/>
          </a:solidFill>
          <a:ln/>
        </p:spPr>
      </p:sp>
      <p:sp>
        <p:nvSpPr>
          <p:cNvPr id="14" name="Text 12"/>
          <p:cNvSpPr txBox="1"/>
          <p:nvPr/>
        </p:nvSpPr>
        <p:spPr>
          <a:xfrm>
            <a:off x="4978298" y="1810512"/>
            <a:ext cx="2692298" cy="384048"/>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Komronbek Qodirov</a:t>
            </a:r>
            <a:endParaRPr lang="en-US" sz="1800" dirty="0"/>
          </a:p>
        </p:txBody>
      </p:sp>
      <p:sp>
        <p:nvSpPr>
          <p:cNvPr id="15" name="Member 2 role"/>
          <p:cNvSpPr txBox="1"/>
          <p:nvPr/>
        </p:nvSpPr>
        <p:spPr>
          <a:xfrm>
            <a:off x="4978298" y="2212848"/>
            <a:ext cx="2692298" cy="502920"/>
          </a:xfrm>
          <a:prstGeom prst="rect">
            <a:avLst/>
          </a:prstGeom>
          <a:noFill/>
          <a:ln/>
        </p:spPr>
        <p:txBody>
          <a:bodyPr wrap="square" lIns="0" tIns="0" rIns="0" bIns="0" rtlCol="0" anchor="t"/>
          <a:lstStyle/>
          <a:p>
            <a:pPr indent="0" marL="0">
              <a:spcAft>
                <a:spcPts val="400"/>
              </a:spcAft>
              <a:buNone/>
            </a:pPr>
            <a:r>
              <a:rPr lang="en-US" sz="1300" dirty="0">
                <a:solidFill>
                  <a:schemeClr val="tx2"/>
                </a:solidFill>
                <a:latin typeface="Calibri" pitchFamily="34" charset="0"/>
                <a:ea typeface="Calibri" pitchFamily="34" charset="-122"/>
                <a:cs typeface="Calibri" pitchFamily="34" charset="-120"/>
              </a:rPr>
              <a:t>Pipeline, live demo and website</a:t>
            </a:r>
            <a:endParaRPr lang="en-US" sz="1300" dirty="0"/>
          </a:p>
        </p:txBody>
      </p:sp>
      <p:sp>
        <p:nvSpPr>
          <p:cNvPr id="16" name="Member 3 card"/>
          <p:cNvSpPr/>
          <p:nvPr/>
        </p:nvSpPr>
        <p:spPr>
          <a:xfrm>
            <a:off x="8127797" y="1691640"/>
            <a:ext cx="3515258" cy="1097280"/>
          </a:xfrm>
          <a:prstGeom prst="roundRect">
            <a:avLst>
              <a:gd name="adj" fmla="val 6667"/>
            </a:avLst>
          </a:prstGeom>
          <a:solidFill>
            <a:schemeClr val="bg2"/>
          </a:solidFill>
          <a:ln w="9525">
            <a:solidFill>
              <a:schemeClr val="accent5"/>
            </a:solidFill>
            <a:prstDash val="solid"/>
          </a:ln>
        </p:spPr>
      </p:sp>
      <p:sp>
        <p:nvSpPr>
          <p:cNvPr id="17" name="Member 3 lamp"/>
          <p:cNvSpPr/>
          <p:nvPr/>
        </p:nvSpPr>
        <p:spPr>
          <a:xfrm>
            <a:off x="8356397" y="1874520"/>
            <a:ext cx="274320" cy="274320"/>
          </a:xfrm>
          <a:prstGeom prst="ellipse">
            <a:avLst/>
          </a:prstGeom>
          <a:solidFill>
            <a:schemeClr val="accent4"/>
          </a:solidFill>
          <a:ln/>
        </p:spPr>
      </p:sp>
      <p:sp>
        <p:nvSpPr>
          <p:cNvPr id="18" name="Text 16"/>
          <p:cNvSpPr txBox="1"/>
          <p:nvPr/>
        </p:nvSpPr>
        <p:spPr>
          <a:xfrm>
            <a:off x="8767877" y="1810512"/>
            <a:ext cx="2692298" cy="384048"/>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Aziza Adizova</a:t>
            </a:r>
            <a:endParaRPr lang="en-US" sz="1800" dirty="0"/>
          </a:p>
        </p:txBody>
      </p:sp>
      <p:sp>
        <p:nvSpPr>
          <p:cNvPr id="19" name="Member 3 role"/>
          <p:cNvSpPr txBox="1"/>
          <p:nvPr/>
        </p:nvSpPr>
        <p:spPr>
          <a:xfrm>
            <a:off x="8767877" y="2212848"/>
            <a:ext cx="2692298" cy="502920"/>
          </a:xfrm>
          <a:prstGeom prst="rect">
            <a:avLst/>
          </a:prstGeom>
          <a:noFill/>
          <a:ln/>
        </p:spPr>
        <p:txBody>
          <a:bodyPr wrap="square" lIns="0" tIns="0" rIns="0" bIns="0" rtlCol="0" anchor="t"/>
          <a:lstStyle/>
          <a:p>
            <a:pPr indent="0" marL="0">
              <a:spcAft>
                <a:spcPts val="400"/>
              </a:spcAft>
              <a:buNone/>
            </a:pPr>
            <a:r>
              <a:rPr lang="en-US" sz="1300" dirty="0">
                <a:solidFill>
                  <a:schemeClr val="tx2"/>
                </a:solidFill>
                <a:latin typeface="Calibri" pitchFamily="34" charset="0"/>
                <a:ea typeface="Calibri" pitchFamily="34" charset="-122"/>
                <a:cs typeface="Calibri" pitchFamily="34" charset="-120"/>
              </a:rPr>
              <a:t>Dev set, pedestrian rules and report</a:t>
            </a:r>
            <a:endParaRPr lang="en-US" sz="1300" dirty="0"/>
          </a:p>
        </p:txBody>
      </p:sp>
      <p:sp>
        <p:nvSpPr>
          <p:cNvPr id="20" name="Ask panel"/>
          <p:cNvSpPr/>
          <p:nvPr/>
        </p:nvSpPr>
        <p:spPr>
          <a:xfrm>
            <a:off x="548640" y="2971800"/>
            <a:ext cx="6766560" cy="2148840"/>
          </a:xfrm>
          <a:prstGeom prst="roundRect">
            <a:avLst>
              <a:gd name="adj" fmla="val 3404"/>
            </a:avLst>
          </a:prstGeom>
          <a:solidFill>
            <a:schemeClr val="bg2"/>
          </a:solidFill>
          <a:ln w="9525">
            <a:solidFill>
              <a:schemeClr val="accent5"/>
            </a:solidFill>
            <a:prstDash val="solid"/>
          </a:ln>
        </p:spPr>
      </p:sp>
      <p:sp>
        <p:nvSpPr>
          <p:cNvPr id="21" name="Text 19"/>
          <p:cNvSpPr txBox="1"/>
          <p:nvPr/>
        </p:nvSpPr>
        <p:spPr>
          <a:xfrm>
            <a:off x="822960" y="3081528"/>
            <a:ext cx="6217920" cy="329184"/>
          </a:xfrm>
          <a:prstGeom prst="rect">
            <a:avLst/>
          </a:prstGeom>
          <a:noFill/>
          <a:ln/>
        </p:spPr>
        <p:txBody>
          <a:bodyPr wrap="square" lIns="0" tIns="0" rIns="0" bIns="0" rtlCol="0" anchor="ctr"/>
          <a:lstStyle/>
          <a:p>
            <a:pPr indent="0" marL="0">
              <a:buNone/>
            </a:pPr>
            <a:r>
              <a:rPr lang="en-US" sz="1800" b="1" dirty="0">
                <a:solidFill>
                  <a:schemeClr val="accent1"/>
                </a:solidFill>
                <a:latin typeface="Arial" pitchFamily="34" charset="0"/>
                <a:ea typeface="Arial" pitchFamily="34" charset="-122"/>
                <a:cs typeface="Arial" pitchFamily="34" charset="-120"/>
              </a:rPr>
              <a:t>Our ask</a:t>
            </a:r>
            <a:endParaRPr lang="en-US" sz="1800" dirty="0"/>
          </a:p>
        </p:txBody>
      </p:sp>
      <p:sp>
        <p:nvSpPr>
          <p:cNvPr id="22" name="Ask 1 lamp"/>
          <p:cNvSpPr/>
          <p:nvPr/>
        </p:nvSpPr>
        <p:spPr>
          <a:xfrm>
            <a:off x="822960" y="3557016"/>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1</a:t>
            </a:r>
            <a:endParaRPr lang="en-US" sz="1300" dirty="0"/>
          </a:p>
        </p:txBody>
      </p:sp>
      <p:sp>
        <p:nvSpPr>
          <p:cNvPr id="23" name="Ask 1"/>
          <p:cNvSpPr txBox="1"/>
          <p:nvPr/>
        </p:nvSpPr>
        <p:spPr>
          <a:xfrm>
            <a:off x="1325880" y="3520440"/>
            <a:ext cx="5715000" cy="411480"/>
          </a:xfrm>
          <a:prstGeom prst="rect">
            <a:avLst/>
          </a:prstGeom>
          <a:noFill/>
          <a:ln/>
        </p:spPr>
        <p:txBody>
          <a:bodyPr wrap="square" lIns="0" tIns="0" rIns="0" bIns="0" rtlCol="0" anchor="ctr"/>
          <a:lstStyle/>
          <a:p>
            <a:pPr indent="0" marL="0">
              <a:spcAft>
                <a:spcPts val="400"/>
              </a:spcAft>
              <a:buNone/>
            </a:pPr>
            <a:r>
              <a:rPr lang="en-US" sz="1500" dirty="0">
                <a:solidFill>
                  <a:schemeClr val="tx1"/>
                </a:solidFill>
                <a:latin typeface="Calibri" pitchFamily="34" charset="0"/>
                <a:ea typeface="Calibri" pitchFamily="34" charset="-122"/>
                <a:cs typeface="Calibri" pitchFamily="34" charset="-120"/>
              </a:rPr>
              <a:t>A 3-month pilot with one car park operator, on its own cameras.</a:t>
            </a:r>
            <a:endParaRPr lang="en-US" sz="1500" dirty="0"/>
          </a:p>
        </p:txBody>
      </p:sp>
      <p:sp>
        <p:nvSpPr>
          <p:cNvPr id="24" name="Ask 2 lamp"/>
          <p:cNvSpPr/>
          <p:nvPr/>
        </p:nvSpPr>
        <p:spPr>
          <a:xfrm>
            <a:off x="822960" y="4059936"/>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2</a:t>
            </a:r>
            <a:endParaRPr lang="en-US" sz="1300" dirty="0"/>
          </a:p>
        </p:txBody>
      </p:sp>
      <p:sp>
        <p:nvSpPr>
          <p:cNvPr id="25" name="Ask 2"/>
          <p:cNvSpPr txBox="1"/>
          <p:nvPr/>
        </p:nvSpPr>
        <p:spPr>
          <a:xfrm>
            <a:off x="1325880" y="4023360"/>
            <a:ext cx="5715000" cy="411480"/>
          </a:xfrm>
          <a:prstGeom prst="rect">
            <a:avLst/>
          </a:prstGeom>
          <a:noFill/>
          <a:ln/>
        </p:spPr>
        <p:txBody>
          <a:bodyPr wrap="square" lIns="0" tIns="0" rIns="0" bIns="0" rtlCol="0" anchor="ctr"/>
          <a:lstStyle/>
          <a:p>
            <a:pPr indent="0" marL="0">
              <a:spcAft>
                <a:spcPts val="400"/>
              </a:spcAft>
              <a:buNone/>
            </a:pPr>
            <a:r>
              <a:rPr lang="en-US" sz="1500" dirty="0">
                <a:solidFill>
                  <a:schemeClr val="tx1"/>
                </a:solidFill>
                <a:latin typeface="Calibri" pitchFamily="34" charset="0"/>
                <a:ea typeface="Calibri" pitchFamily="34" charset="-122"/>
                <a:cs typeface="Calibri" pitchFamily="34" charset="-120"/>
              </a:rPr>
              <a:t>One outdoor advertising company to test the billboard counter on its sites.</a:t>
            </a:r>
            <a:endParaRPr lang="en-US" sz="1500" dirty="0"/>
          </a:p>
        </p:txBody>
      </p:sp>
      <p:sp>
        <p:nvSpPr>
          <p:cNvPr id="26" name="Ask 3 lamp"/>
          <p:cNvSpPr/>
          <p:nvPr/>
        </p:nvSpPr>
        <p:spPr>
          <a:xfrm>
            <a:off x="822960" y="4562856"/>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3</a:t>
            </a:r>
            <a:endParaRPr lang="en-US" sz="1300" dirty="0"/>
          </a:p>
        </p:txBody>
      </p:sp>
      <p:sp>
        <p:nvSpPr>
          <p:cNvPr id="27" name="Ask 3"/>
          <p:cNvSpPr txBox="1"/>
          <p:nvPr/>
        </p:nvSpPr>
        <p:spPr>
          <a:xfrm>
            <a:off x="1325880" y="4526280"/>
            <a:ext cx="5715000" cy="411480"/>
          </a:xfrm>
          <a:prstGeom prst="rect">
            <a:avLst/>
          </a:prstGeom>
          <a:noFill/>
          <a:ln/>
        </p:spPr>
        <p:txBody>
          <a:bodyPr wrap="square" lIns="0" tIns="0" rIns="0" bIns="0" rtlCol="0" anchor="ctr"/>
          <a:lstStyle/>
          <a:p>
            <a:pPr indent="0" marL="0">
              <a:spcAft>
                <a:spcPts val="400"/>
              </a:spcAft>
              <a:buNone/>
            </a:pPr>
            <a:r>
              <a:rPr lang="en-US" sz="1500" dirty="0">
                <a:solidFill>
                  <a:schemeClr val="tx1"/>
                </a:solidFill>
                <a:latin typeface="Calibri" pitchFamily="34" charset="0"/>
                <a:ea typeface="Calibri" pitchFamily="34" charset="-122"/>
                <a:cs typeface="Calibri" pitchFamily="34" charset="-120"/>
              </a:rPr>
              <a:t>Frames from live cameras in Tashkent, to replace the recorded mornings.</a:t>
            </a:r>
            <a:endParaRPr lang="en-US" sz="1500" dirty="0"/>
          </a:p>
        </p:txBody>
      </p:sp>
      <p:sp>
        <p:nvSpPr>
          <p:cNvPr id="28" name="Next panel"/>
          <p:cNvSpPr/>
          <p:nvPr/>
        </p:nvSpPr>
        <p:spPr>
          <a:xfrm>
            <a:off x="7589520" y="2971800"/>
            <a:ext cx="4053535" cy="2148840"/>
          </a:xfrm>
          <a:prstGeom prst="roundRect">
            <a:avLst>
              <a:gd name="adj" fmla="val 3404"/>
            </a:avLst>
          </a:prstGeom>
          <a:solidFill>
            <a:schemeClr val="bg2"/>
          </a:solidFill>
          <a:ln w="9525">
            <a:solidFill>
              <a:schemeClr val="accent5"/>
            </a:solidFill>
            <a:prstDash val="solid"/>
          </a:ln>
        </p:spPr>
      </p:sp>
      <p:sp>
        <p:nvSpPr>
          <p:cNvPr id="29" name="Text 27"/>
          <p:cNvSpPr txBox="1"/>
          <p:nvPr/>
        </p:nvSpPr>
        <p:spPr>
          <a:xfrm>
            <a:off x="7863840" y="3081528"/>
            <a:ext cx="3504895"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Next steps</a:t>
            </a:r>
            <a:endParaRPr lang="en-US" sz="1800" dirty="0"/>
          </a:p>
        </p:txBody>
      </p:sp>
      <p:sp>
        <p:nvSpPr>
          <p:cNvPr id="30" name="Next steps"/>
          <p:cNvSpPr txBox="1"/>
          <p:nvPr/>
        </p:nvSpPr>
        <p:spPr>
          <a:xfrm>
            <a:off x="7863840" y="3474720"/>
            <a:ext cx="3504895" cy="15544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Night test: PKLot has no night frames. A test set of our own, with hand labels.</a:t>
            </a:r>
            <a:endParaRPr lang="en-US" sz="1300" dirty="0"/>
          </a:p>
          <a:p>
            <a:pPr marL="177800" indent="-1778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A hand count for the billboard counter.</a:t>
            </a:r>
            <a:endParaRPr lang="en-US" sz="1300" dirty="0"/>
          </a:p>
          <a:p>
            <a:pPr marL="177800" indent="-1778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Then the same cameras time the lights: audit and green wave.</a:t>
            </a:r>
            <a:endParaRPr lang="en-US" sz="1300" dirty="0"/>
          </a:p>
        </p:txBody>
      </p:sp>
      <p:sp>
        <p:nvSpPr>
          <p:cNvPr id="31" name="Closing panel"/>
          <p:cNvSpPr/>
          <p:nvPr/>
        </p:nvSpPr>
        <p:spPr>
          <a:xfrm>
            <a:off x="548640" y="5257800"/>
            <a:ext cx="11094415" cy="960120"/>
          </a:xfrm>
          <a:prstGeom prst="roundRect">
            <a:avLst>
              <a:gd name="adj" fmla="val 7619"/>
            </a:avLst>
          </a:prstGeom>
          <a:solidFill>
            <a:schemeClr val="bg2"/>
          </a:solidFill>
          <a:ln w="9525">
            <a:solidFill>
              <a:schemeClr val="accent5"/>
            </a:solidFill>
            <a:prstDash val="solid"/>
          </a:ln>
        </p:spPr>
      </p:sp>
      <p:sp>
        <p:nvSpPr>
          <p:cNvPr id="32" name="Closing lamps housing"/>
          <p:cNvSpPr/>
          <p:nvPr/>
        </p:nvSpPr>
        <p:spPr>
          <a:xfrm>
            <a:off x="868680" y="5554980"/>
            <a:ext cx="1344168" cy="521208"/>
          </a:xfrm>
          <a:prstGeom prst="roundRect">
            <a:avLst>
              <a:gd name="adj" fmla="val 50000"/>
            </a:avLst>
          </a:prstGeom>
          <a:solidFill>
            <a:schemeClr val="bg2"/>
          </a:solidFill>
          <a:ln w="9525">
            <a:solidFill>
              <a:schemeClr val="accent5"/>
            </a:solidFill>
            <a:prstDash val="solid"/>
          </a:ln>
        </p:spPr>
      </p:sp>
      <p:sp>
        <p:nvSpPr>
          <p:cNvPr id="33" name="Closing lamps lamp 1"/>
          <p:cNvSpPr/>
          <p:nvPr/>
        </p:nvSpPr>
        <p:spPr>
          <a:xfrm>
            <a:off x="1005840" y="5678424"/>
            <a:ext cx="274320" cy="274320"/>
          </a:xfrm>
          <a:prstGeom prst="ellipse">
            <a:avLst/>
          </a:prstGeom>
          <a:solidFill>
            <a:schemeClr val="accent2"/>
          </a:solidFill>
          <a:ln/>
        </p:spPr>
      </p:sp>
      <p:sp>
        <p:nvSpPr>
          <p:cNvPr id="34" name="Closing lamps lamp 2"/>
          <p:cNvSpPr/>
          <p:nvPr/>
        </p:nvSpPr>
        <p:spPr>
          <a:xfrm>
            <a:off x="1403604" y="5678424"/>
            <a:ext cx="274320" cy="274320"/>
          </a:xfrm>
          <a:prstGeom prst="ellipse">
            <a:avLst/>
          </a:prstGeom>
          <a:solidFill>
            <a:schemeClr val="accent3"/>
          </a:solidFill>
          <a:ln/>
        </p:spPr>
      </p:sp>
      <p:sp>
        <p:nvSpPr>
          <p:cNvPr id="35" name="Closing lamps lamp 3"/>
          <p:cNvSpPr/>
          <p:nvPr/>
        </p:nvSpPr>
        <p:spPr>
          <a:xfrm>
            <a:off x="1801368" y="5678424"/>
            <a:ext cx="274320" cy="274320"/>
          </a:xfrm>
          <a:prstGeom prst="ellipse">
            <a:avLst/>
          </a:prstGeom>
          <a:solidFill>
            <a:schemeClr val="accent4"/>
          </a:solidFill>
          <a:ln/>
        </p:spPr>
      </p:sp>
      <p:sp>
        <p:nvSpPr>
          <p:cNvPr id="36" name="Closing text"/>
          <p:cNvSpPr txBox="1"/>
          <p:nvPr/>
        </p:nvSpPr>
        <p:spPr>
          <a:xfrm>
            <a:off x="2377440" y="5303520"/>
            <a:ext cx="8991295" cy="868680"/>
          </a:xfrm>
          <a:prstGeom prst="rect">
            <a:avLst/>
          </a:prstGeom>
          <a:noFill/>
          <a:ln/>
        </p:spPr>
        <p:txBody>
          <a:bodyPr wrap="square" lIns="0" tIns="0" rIns="0" bIns="0" rtlCol="0" anchor="ctr"/>
          <a:lstStyle/>
          <a:p>
            <a:pPr indent="0" marL="0">
              <a:spcAft>
                <a:spcPts val="400"/>
              </a:spcAft>
              <a:buNone/>
            </a:pPr>
            <a:r>
              <a:rPr lang="en-US" sz="2200" b="1" dirty="0">
                <a:solidFill>
                  <a:schemeClr val="tx1"/>
                </a:solidFill>
                <a:latin typeface="Arial" pitchFamily="34" charset="0"/>
                <a:ea typeface="Arial" pitchFamily="34" charset="-122"/>
                <a:cs typeface="Arial" pitchFamily="34" charset="-120"/>
              </a:rPr>
              <a:t>Thank you. Questions?</a:t>
            </a:r>
            <a:endParaRPr lang="en-US" sz="1500" dirty="0"/>
          </a:p>
          <a:p>
            <a:pPr indent="0" marL="0">
              <a:spcAft>
                <a:spcPts val="400"/>
              </a:spcAft>
              <a:buNone/>
            </a:pPr>
            <a:r>
              <a:rPr lang="en-US" sz="1500" dirty="0">
                <a:solidFill>
                  <a:schemeClr val="tx2"/>
                </a:solidFill>
                <a:latin typeface="Calibri" pitchFamily="34" charset="0"/>
                <a:ea typeface="Calibri" pitchFamily="34" charset="-122"/>
                <a:cs typeface="Calibri" pitchFamily="34" charset="-120"/>
              </a:rPr>
              <a:t>Try it: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https://oqim-audit.vercel.app/tracker</a:t>
            </a:r>
            <a:pPr indent="0" marL="0">
              <a:spcAft>
                <a:spcPts val="400"/>
              </a:spcAft>
              <a:buNone/>
            </a:pPr>
            <a:r>
              <a:rPr lang="en-US" sz="1500" dirty="0">
                <a:solidFill>
                  <a:schemeClr val="tx2"/>
                </a:solidFill>
                <a:latin typeface="Calibri" pitchFamily="34" charset="0"/>
                <a:ea typeface="Calibri" pitchFamily="34" charset="-122"/>
                <a:cs typeface="Calibri" pitchFamily="34" charset="-120"/>
              </a:rPr>
              <a:t>     Code: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https://github.com/baytoooo/oqim</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BACKUP FOR QUESTIONS  ·  B1  ·  ACCURACY</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Accuracy, and how each number was measured</a:t>
            </a:r>
            <a:endParaRPr lang="en-US" sz="3600" dirty="0"/>
          </a:p>
        </p:txBody>
      </p:sp>
      <p:graphicFrame>
        <p:nvGraphicFramePr>
          <p:cNvPr id="13" name="Accuracy table"/>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057400"/>
                <a:gridCol w="2743200"/>
                <a:gridCol w="3291840"/>
                <a:gridCol w="2999232"/>
              </a:tblGrid>
              <a:tr h="347472">
                <a:tc>
                  <a:txBody>
                    <a:bodyPr/>
                    <a:lstStyle/>
                    <a:p>
                      <a:pPr indent="0" marL="0">
                        <a:buNone/>
                      </a:pPr>
                      <a:r>
                        <a:rPr lang="en-US" sz="1100" b="1" dirty="0">
                          <a:solidFill>
                            <a:schemeClr val="tx2"/>
                          </a:solidFill>
                          <a:latin typeface="Arial" pitchFamily="34" charset="0"/>
                          <a:ea typeface="Arial" pitchFamily="34" charset="-122"/>
                          <a:cs typeface="Arial" pitchFamily="34" charset="-120"/>
                        </a:rPr>
                        <a:t>What</a:t>
                      </a:r>
                      <a:endParaRPr lang="en-US" sz="1100" dirty="0">
                        <a:latin typeface="Arial" charset="0"/>
                        <a:ea typeface="Arial" charset="0"/>
                        <a:cs typeface="Arial"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Checked on</a:t>
                      </a:r>
                      <a:endParaRPr lang="en-US" sz="1100" dirty="0">
                        <a:latin typeface="Arial" charset="0"/>
                        <a:ea typeface="Arial" charset="0"/>
                        <a:cs typeface="Arial"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Result</a:t>
                      </a:r>
                      <a:endParaRPr lang="en-US" sz="1100" dirty="0">
                        <a:latin typeface="Arial" charset="0"/>
                        <a:ea typeface="Arial" charset="0"/>
                        <a:cs typeface="Arial"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How fair the check is</a:t>
                      </a:r>
                      <a:endParaRPr lang="en-US" sz="1100" dirty="0">
                        <a:latin typeface="Arial" charset="0"/>
                        <a:ea typeface="Arial" charset="0"/>
                        <a:cs typeface="Arial"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r>
              <a:tr h="429768">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Spaces marked, /parking</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240 held-out PKLot images, 13,447 spaces</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97.4% right; precision 99.1%, recall 95.3%</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4"/>
                          </a:solidFill>
                          <a:latin typeface="Calibri" pitchFamily="34" charset="0"/>
                          <a:ea typeface="Calibri" pitchFamily="34" charset="-122"/>
                          <a:cs typeface="Calibri" pitchFamily="34" charset="-120"/>
                        </a:rPr>
                        <a:t>Held out. Rule picked on 96 other images (97.8% there)</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Same, by weather</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sunny 91, cloudy 87, rainy 62 images</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97.0% / 99.0% / 96.1%</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4"/>
                          </a:solidFill>
                          <a:latin typeface="Calibri" pitchFamily="34" charset="0"/>
                          <a:ea typeface="Calibri" pitchFamily="34" charset="-122"/>
                          <a:cs typeface="Calibri" pitchFamily="34" charset="-120"/>
                        </a:rPr>
                        <a:t>Held out. No night frames in PKLot</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Tracker readings</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112 frames, 6,844 readings, 3 mornings</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98.8% right; free count off by 1 (median), 4 (90th pct.)</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2"/>
                          </a:solidFill>
                          <a:latin typeface="Calibri" pitchFamily="34" charset="0"/>
                          <a:ea typeface="Calibri" pitchFamily="34" charset="-122"/>
                          <a:cs typeface="Calibri" pitchFamily="34" charset="-120"/>
                        </a:rPr>
                        <a:t>Same rule as /parking, picked on its calibration images</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Forecast, 10 min</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101 forecasts</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3.0 spaces off; "same as now" 4.6</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2"/>
                          </a:solidFill>
                          <a:latin typeface="Calibri" pitchFamily="34" charset="0"/>
                          <a:ea typeface="Calibri" pitchFamily="34" charset="-122"/>
                          <a:cs typeface="Calibri" pitchFamily="34" charset="-120"/>
                        </a:rPr>
                        <a:t>Typical day from other weekdays; against "same as now"</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Whole car park</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142 labelled spaces cars used</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139 found; +198 outside the labels</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2"/>
                          </a:solidFill>
                          <a:latin typeface="Calibri" pitchFamily="34" charset="0"/>
                          <a:ea typeface="Calibri" pitchFamily="34" charset="-122"/>
                          <a:cs typeface="Calibri" pitchFamily="34" charset="-120"/>
                        </a:rPr>
                        <a:t>Checked on the labelled part only</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Spaces from a photo</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336 PKLot images</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taken found 88.4%; suggested free right 83.5%; free found 12.2%</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3"/>
                          </a:solidFill>
                          <a:latin typeface="Calibri" pitchFamily="34" charset="0"/>
                          <a:ea typeface="Calibri" pitchFamily="34" charset="-122"/>
                          <a:cs typeface="Calibri" pitchFamily="34" charset="-120"/>
                        </a:rPr>
                        <a:t>Settings picked on these same images. Not held out</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Billboard counter</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2 sample clips, midday and dusk</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185 vs 189 vehicles (97.9%)</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3"/>
                          </a:solidFill>
                          <a:latin typeface="Calibri" pitchFamily="34" charset="0"/>
                          <a:ea typeface="Calibri" pitchFamily="34" charset="-122"/>
                          <a:cs typeface="Calibri" pitchFamily="34" charset="-120"/>
                        </a:rPr>
                        <a:t>Browser YOLO26s against our offline YOLO26m. No hand count yet</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Signal audit replay</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 clips, one junction</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departure error 0.29 to 0.55 s on 3 clips</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2"/>
                          </a:solidFill>
                          <a:latin typeface="Calibri" pitchFamily="34" charset="0"/>
                          <a:ea typeface="Calibri" pitchFamily="34" charset="-122"/>
                          <a:cs typeface="Calibri" pitchFamily="34" charset="-120"/>
                        </a:rPr>
                        <a:t>C3905 4.54 s: too short, fails</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Road damage, /roads</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300-image sample, RDD2022 test</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mAP50 0.66, precision 66%</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200" dirty="0">
                          <a:solidFill>
                            <a:schemeClr val="tx2"/>
                          </a:solidFill>
                          <a:latin typeface="Calibri" pitchFamily="34" charset="0"/>
                          <a:ea typeface="Calibri" pitchFamily="34" charset="-122"/>
                          <a:cs typeface="Calibri" pitchFamily="34" charset="-120"/>
                        </a:rPr>
                        <a:t>Model trained by others; its card says mAP50 0.588 on the full split</a:t>
                      </a:r>
                      <a:endParaRPr lang="en-US" sz="1200" dirty="0">
                        <a:latin typeface="Calibri" charset="0"/>
                        <a:ea typeface="Calibri" charset="0"/>
                        <a:cs typeface="Calibri" charset="0"/>
                      </a:endParaRPr>
                    </a:p>
                  </a:txBody>
                  <a:tcPr marL="73152" marR="73152" marT="27432" marB="27432"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bl>
          </a:graphicData>
        </a:graphic>
      </p:graphicFrame>
      <p:sp>
        <p:nvSpPr>
          <p:cNvPr id="9" name="Table key"/>
          <p:cNvSpPr txBox="1"/>
          <p:nvPr/>
        </p:nvSpPr>
        <p:spPr>
          <a:xfrm>
            <a:off x="548640" y="5961888"/>
            <a:ext cx="11094415" cy="274320"/>
          </a:xfrm>
          <a:prstGeom prst="rect">
            <a:avLst/>
          </a:prstGeom>
          <a:noFill/>
          <a:ln/>
        </p:spPr>
        <p:txBody>
          <a:bodyPr wrap="square" lIns="0" tIns="0" rIns="0" bIns="0" rtlCol="0" anchor="ctr"/>
          <a:lstStyle/>
          <a:p>
            <a:pPr indent="0" marL="0">
              <a:spcAft>
                <a:spcPts val="400"/>
              </a:spcAft>
              <a:buNone/>
            </a:pPr>
            <a:r>
              <a:rPr lang="en-US" sz="1200" b="1" dirty="0">
                <a:solidFill>
                  <a:schemeClr val="accent4"/>
                </a:solidFill>
                <a:latin typeface="Calibri" pitchFamily="34" charset="0"/>
                <a:ea typeface="Calibri" pitchFamily="34" charset="-122"/>
                <a:cs typeface="Calibri" pitchFamily="34" charset="-120"/>
              </a:rPr>
              <a:t>Green: </a:t>
            </a:r>
            <a:pPr indent="0" marL="0">
              <a:spcAft>
                <a:spcPts val="400"/>
              </a:spcAft>
              <a:buNone/>
            </a:pPr>
            <a:r>
              <a:rPr lang="en-US" sz="1200" dirty="0">
                <a:solidFill>
                  <a:schemeClr val="tx2"/>
                </a:solidFill>
                <a:latin typeface="Calibri" pitchFamily="34" charset="0"/>
                <a:ea typeface="Calibri" pitchFamily="34" charset="-122"/>
                <a:cs typeface="Calibri" pitchFamily="34" charset="-120"/>
              </a:rPr>
              <a:t>held out.  </a:t>
            </a:r>
            <a:pPr indent="0" marL="0">
              <a:spcAft>
                <a:spcPts val="400"/>
              </a:spcAft>
              <a:buNone/>
            </a:pPr>
            <a:r>
              <a:rPr lang="en-US" sz="1200" b="1" dirty="0">
                <a:solidFill>
                  <a:schemeClr val="tx2"/>
                </a:solidFill>
                <a:latin typeface="Calibri" pitchFamily="34" charset="0"/>
                <a:ea typeface="Calibri" pitchFamily="34" charset="-122"/>
                <a:cs typeface="Calibri" pitchFamily="34" charset="-120"/>
              </a:rPr>
              <a:t>Grey: </a:t>
            </a:r>
            <a:pPr indent="0" marL="0">
              <a:spcAft>
                <a:spcPts val="400"/>
              </a:spcAft>
              <a:buNone/>
            </a:pPr>
            <a:r>
              <a:rPr lang="en-US" sz="1200" dirty="0">
                <a:solidFill>
                  <a:schemeClr val="tx2"/>
                </a:solidFill>
                <a:latin typeface="Calibri" pitchFamily="34" charset="0"/>
                <a:ea typeface="Calibri" pitchFamily="34" charset="-122"/>
                <a:cs typeface="Calibri" pitchFamily="34" charset="-120"/>
              </a:rPr>
              <a:t>checked, but not on a held-out set.  </a:t>
            </a:r>
            <a:pPr indent="0" marL="0">
              <a:spcAft>
                <a:spcPts val="400"/>
              </a:spcAft>
              <a:buNone/>
            </a:pPr>
            <a:r>
              <a:rPr lang="en-US" sz="1200" b="1" dirty="0">
                <a:solidFill>
                  <a:schemeClr val="accent3"/>
                </a:solidFill>
                <a:latin typeface="Calibri" pitchFamily="34" charset="0"/>
                <a:ea typeface="Calibri" pitchFamily="34" charset="-122"/>
                <a:cs typeface="Calibri" pitchFamily="34" charset="-120"/>
              </a:rPr>
              <a:t>Amber: </a:t>
            </a:r>
            <a:pPr indent="0" marL="0">
              <a:spcAft>
                <a:spcPts val="400"/>
              </a:spcAft>
              <a:buNone/>
            </a:pPr>
            <a:r>
              <a:rPr lang="en-US" sz="1200" dirty="0">
                <a:solidFill>
                  <a:schemeClr val="tx2"/>
                </a:solidFill>
                <a:latin typeface="Calibri" pitchFamily="34" charset="0"/>
                <a:ea typeface="Calibri" pitchFamily="34" charset="-122"/>
                <a:cs typeface="Calibri" pitchFamily="34" charset="-120"/>
              </a:rPr>
              <a:t>picked on the same data, or two models agreeing: a sanity check.</a:t>
            </a:r>
            <a:endParaRPr lang="en-US"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BACKUP FOR QUESTIONS  ·  B2  ·  MEASURED AND SIMULATED</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What is measured, and what is simulated</a:t>
            </a:r>
            <a:endParaRPr lang="en-US" sz="3600" dirty="0"/>
          </a:p>
        </p:txBody>
      </p:sp>
      <p:sp>
        <p:nvSpPr>
          <p:cNvPr id="8" name="Column 1"/>
          <p:cNvSpPr/>
          <p:nvPr/>
        </p:nvSpPr>
        <p:spPr>
          <a:xfrm>
            <a:off x="548640" y="1691640"/>
            <a:ext cx="5410048" cy="4526280"/>
          </a:xfrm>
          <a:prstGeom prst="roundRect">
            <a:avLst>
              <a:gd name="adj" fmla="val 1616"/>
            </a:avLst>
          </a:prstGeom>
          <a:solidFill>
            <a:schemeClr val="bg2"/>
          </a:solidFill>
          <a:ln w="9525">
            <a:solidFill>
              <a:schemeClr val="accent5"/>
            </a:solidFill>
            <a:prstDash val="solid"/>
          </a:ln>
        </p:spPr>
      </p:sp>
      <p:sp>
        <p:nvSpPr>
          <p:cNvPr id="9" name="Column 1 lamp"/>
          <p:cNvSpPr/>
          <p:nvPr/>
        </p:nvSpPr>
        <p:spPr>
          <a:xfrm>
            <a:off x="822960" y="1911096"/>
            <a:ext cx="237744" cy="237744"/>
          </a:xfrm>
          <a:prstGeom prst="ellipse">
            <a:avLst/>
          </a:prstGeom>
          <a:solidFill>
            <a:schemeClr val="accent4"/>
          </a:solidFill>
          <a:ln/>
        </p:spPr>
      </p:sp>
      <p:sp>
        <p:nvSpPr>
          <p:cNvPr id="10" name="Text 8"/>
          <p:cNvSpPr txBox="1"/>
          <p:nvPr/>
        </p:nvSpPr>
        <p:spPr>
          <a:xfrm>
            <a:off x="1188720" y="1865376"/>
            <a:ext cx="4495648"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Measured, from real data</a:t>
            </a:r>
            <a:endParaRPr lang="en-US" sz="1800" dirty="0"/>
          </a:p>
        </p:txBody>
      </p:sp>
      <p:sp>
        <p:nvSpPr>
          <p:cNvPr id="11" name="Column 1 list"/>
          <p:cNvSpPr txBox="1"/>
          <p:nvPr/>
        </p:nvSpPr>
        <p:spPr>
          <a:xfrm>
            <a:off x="822960" y="2377440"/>
            <a:ext cx="4861408" cy="3657600"/>
          </a:xfrm>
          <a:prstGeom prst="rect">
            <a:avLst/>
          </a:prstGeom>
          <a:noFill/>
          <a:ln/>
        </p:spPr>
        <p:txBody>
          <a:bodyPr wrap="square" lIns="0" tIns="0" rIns="0" bIns="0" rtlCol="0" anchor="t"/>
          <a:lstStyle/>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PKLot frames and hand labels: 3 car park mornings on /tracker, 336 images on /parking.</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Kwun Tong: 22 Transport Department cameras, 1,116 snapshots counted by YOLO26m; live vacancy of 28 car parks.</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Signal audit: vehicle tracks and lamp readings on 4 clips of the organisers' footage.</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Billboard counter: vehicles crossing the line in the video, checked on 2 clips against our offline pipeline.</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Road damage: mAP50 on 300 RDD2022 test images.</a:t>
            </a:r>
            <a:endParaRPr lang="en-US" sz="1600" dirty="0"/>
          </a:p>
        </p:txBody>
      </p:sp>
      <p:sp>
        <p:nvSpPr>
          <p:cNvPr id="12" name="Column 2"/>
          <p:cNvSpPr/>
          <p:nvPr/>
        </p:nvSpPr>
        <p:spPr>
          <a:xfrm>
            <a:off x="6233008" y="1691640"/>
            <a:ext cx="5410048" cy="4526280"/>
          </a:xfrm>
          <a:prstGeom prst="roundRect">
            <a:avLst>
              <a:gd name="adj" fmla="val 1616"/>
            </a:avLst>
          </a:prstGeom>
          <a:solidFill>
            <a:schemeClr val="bg2"/>
          </a:solidFill>
          <a:ln w="9525">
            <a:solidFill>
              <a:schemeClr val="accent5"/>
            </a:solidFill>
            <a:prstDash val="solid"/>
          </a:ln>
        </p:spPr>
      </p:sp>
      <p:sp>
        <p:nvSpPr>
          <p:cNvPr id="13" name="Column 2 lamp"/>
          <p:cNvSpPr/>
          <p:nvPr/>
        </p:nvSpPr>
        <p:spPr>
          <a:xfrm>
            <a:off x="6507328" y="1911096"/>
            <a:ext cx="237744" cy="237744"/>
          </a:xfrm>
          <a:prstGeom prst="ellipse">
            <a:avLst/>
          </a:prstGeom>
          <a:solidFill>
            <a:schemeClr val="accent3"/>
          </a:solidFill>
          <a:ln/>
        </p:spPr>
      </p:sp>
      <p:sp>
        <p:nvSpPr>
          <p:cNvPr id="14" name="Text 12"/>
          <p:cNvSpPr txBox="1"/>
          <p:nvPr/>
        </p:nvSpPr>
        <p:spPr>
          <a:xfrm>
            <a:off x="6873088" y="1865376"/>
            <a:ext cx="4495648"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Simulated or assumed</a:t>
            </a:r>
            <a:endParaRPr lang="en-US" sz="1800" dirty="0"/>
          </a:p>
        </p:txBody>
      </p:sp>
      <p:sp>
        <p:nvSpPr>
          <p:cNvPr id="15" name="Column 2 list"/>
          <p:cNvSpPr txBox="1"/>
          <p:nvPr/>
        </p:nvSpPr>
        <p:spPr>
          <a:xfrm>
            <a:off x="6507328" y="2377440"/>
            <a:ext cx="4861408" cy="3657600"/>
          </a:xfrm>
          <a:prstGeom prst="rect">
            <a:avLst/>
          </a:prstGeom>
          <a:noFill/>
          <a:ln/>
        </p:spPr>
        <p:txBody>
          <a:bodyPr wrap="square" lIns="0" tIns="0" rIns="0" bIns="0" rtlCol="0" anchor="t"/>
          <a:lstStyle/>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The drivers on /city: origins and departure times are seeded.</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The trip times on /tracker (6 + 2, 8 + 4, 9 + 5 min drive + walk): example times you can change; the 40 drivers too.</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The traffic on /network: Intelligent Driver Model, one direction; the real offsets are unknown to us.</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The daily figure on /banner assumes every hour is like the one in the video.</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The predictive signal mode assumes the next 30 s of arrivals are known.</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All business numbers: assumptions to check with the customer.</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BACKUP FOR QUESTIONS  ·  B3  ·  PRIVACY AND LIMITS</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Privacy, night, rain and other limits</a:t>
            </a:r>
            <a:endParaRPr lang="en-US" sz="3600" dirty="0"/>
          </a:p>
        </p:txBody>
      </p:sp>
      <p:sp>
        <p:nvSpPr>
          <p:cNvPr id="8" name="Column 1"/>
          <p:cNvSpPr/>
          <p:nvPr/>
        </p:nvSpPr>
        <p:spPr>
          <a:xfrm>
            <a:off x="548640" y="1691640"/>
            <a:ext cx="5410048" cy="4526280"/>
          </a:xfrm>
          <a:prstGeom prst="roundRect">
            <a:avLst>
              <a:gd name="adj" fmla="val 1616"/>
            </a:avLst>
          </a:prstGeom>
          <a:solidFill>
            <a:schemeClr val="bg2"/>
          </a:solidFill>
          <a:ln w="9525">
            <a:solidFill>
              <a:schemeClr val="accent5"/>
            </a:solidFill>
            <a:prstDash val="solid"/>
          </a:ln>
        </p:spPr>
      </p:sp>
      <p:sp>
        <p:nvSpPr>
          <p:cNvPr id="9" name="Column 1 lamp"/>
          <p:cNvSpPr/>
          <p:nvPr/>
        </p:nvSpPr>
        <p:spPr>
          <a:xfrm>
            <a:off x="822960" y="1911096"/>
            <a:ext cx="237744" cy="237744"/>
          </a:xfrm>
          <a:prstGeom prst="ellipse">
            <a:avLst/>
          </a:prstGeom>
          <a:solidFill>
            <a:schemeClr val="accent4"/>
          </a:solidFill>
          <a:ln/>
        </p:spPr>
      </p:sp>
      <p:sp>
        <p:nvSpPr>
          <p:cNvPr id="10" name="Text 8"/>
          <p:cNvSpPr txBox="1"/>
          <p:nvPr/>
        </p:nvSpPr>
        <p:spPr>
          <a:xfrm>
            <a:off x="1188720" y="1865376"/>
            <a:ext cx="4495648"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Privacy</a:t>
            </a:r>
            <a:endParaRPr lang="en-US" sz="1800" dirty="0"/>
          </a:p>
        </p:txBody>
      </p:sp>
      <p:sp>
        <p:nvSpPr>
          <p:cNvPr id="11" name="Column 1 list"/>
          <p:cNvSpPr txBox="1"/>
          <p:nvPr/>
        </p:nvSpPr>
        <p:spPr>
          <a:xfrm>
            <a:off x="822960" y="2377440"/>
            <a:ext cx="4861408" cy="3657600"/>
          </a:xfrm>
          <a:prstGeom prst="rect">
            <a:avLst/>
          </a:prstGeom>
          <a:noFill/>
          <a:ln/>
        </p:spPr>
        <p:txBody>
          <a:bodyPr wrap="square" lIns="0" tIns="0" rIns="0" bIns="0" rtlCol="0" anchor="t"/>
          <a:lstStyle/>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No number plates and no faces are read. The detector gives vehicle boxes only.</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Photos and videos stay in the browser tab: they are not uploaded (/parking, /banner, /audit).</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A car park would publish counts only: free spaces per car park, every minute. No video is stored or sent.</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Hong Kong snapshots are public 320 x 240 images; the Transport Department greys out all but the road.</a:t>
            </a:r>
            <a:endParaRPr lang="en-US" sz="1600" dirty="0"/>
          </a:p>
        </p:txBody>
      </p:sp>
      <p:sp>
        <p:nvSpPr>
          <p:cNvPr id="12" name="Column 2"/>
          <p:cNvSpPr/>
          <p:nvPr/>
        </p:nvSpPr>
        <p:spPr>
          <a:xfrm>
            <a:off x="6233008" y="1691640"/>
            <a:ext cx="5410048" cy="4526280"/>
          </a:xfrm>
          <a:prstGeom prst="roundRect">
            <a:avLst>
              <a:gd name="adj" fmla="val 1616"/>
            </a:avLst>
          </a:prstGeom>
          <a:solidFill>
            <a:schemeClr val="bg2"/>
          </a:solidFill>
          <a:ln w="9525">
            <a:solidFill>
              <a:schemeClr val="accent5"/>
            </a:solidFill>
            <a:prstDash val="solid"/>
          </a:ln>
        </p:spPr>
      </p:sp>
      <p:sp>
        <p:nvSpPr>
          <p:cNvPr id="13" name="Column 2 lamp"/>
          <p:cNvSpPr/>
          <p:nvPr/>
        </p:nvSpPr>
        <p:spPr>
          <a:xfrm>
            <a:off x="6507328" y="1911096"/>
            <a:ext cx="237744" cy="237744"/>
          </a:xfrm>
          <a:prstGeom prst="ellipse">
            <a:avLst/>
          </a:prstGeom>
          <a:solidFill>
            <a:schemeClr val="accent2"/>
          </a:solidFill>
          <a:ln/>
        </p:spPr>
      </p:sp>
      <p:sp>
        <p:nvSpPr>
          <p:cNvPr id="14" name="Text 12"/>
          <p:cNvSpPr txBox="1"/>
          <p:nvPr/>
        </p:nvSpPr>
        <p:spPr>
          <a:xfrm>
            <a:off x="6873088" y="1865376"/>
            <a:ext cx="4495648"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Limits</a:t>
            </a:r>
            <a:endParaRPr lang="en-US" sz="1800" dirty="0"/>
          </a:p>
        </p:txBody>
      </p:sp>
      <p:sp>
        <p:nvSpPr>
          <p:cNvPr id="15" name="Column 2 list"/>
          <p:cNvSpPr txBox="1"/>
          <p:nvPr/>
        </p:nvSpPr>
        <p:spPr>
          <a:xfrm>
            <a:off x="6507328" y="2377440"/>
            <a:ext cx="4861408" cy="3657600"/>
          </a:xfrm>
          <a:prstGeom prst="rect">
            <a:avLst/>
          </a:prstGeom>
          <a:noFill/>
          <a:ln/>
        </p:spPr>
        <p:txBody>
          <a:bodyPr wrap="square" lIns="0" tIns="0" rIns="0" bIns="0" rtlCol="0" anchor="t"/>
          <a:lstStyle/>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Night: not measured. PKLot has no night frames; a hand-labelled night set is our next step.</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Rain: measured on 62 rainy held-out images, 96.1%, against 99.0% cloudy and 97.0% sunny.</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Far rows: PUCPR 96.1% (small cars at the back) against UFPR04 99.6% and UFPR05 99.3%.</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Small, masked Hong Kong snapshots: the counts are a lower bound.</a:t>
            </a:r>
            <a:endParaRPr lang="en-US" sz="1600" dirty="0"/>
          </a:p>
          <a:p>
            <a:pPr marL="177800" indent="-1778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Long queues hide vehicles behind each other; the camera must not move.</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BACKUP FOR QUESTIONS  ·  B4  ·  COST AND SPEED</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Cost and speed: in the browser, no GPU server</a:t>
            </a:r>
            <a:endParaRPr lang="en-US" sz="3600" dirty="0"/>
          </a:p>
        </p:txBody>
      </p:sp>
      <p:sp>
        <p:nvSpPr>
          <p:cNvPr id="8" name="Cost 1 panel"/>
          <p:cNvSpPr/>
          <p:nvPr/>
        </p:nvSpPr>
        <p:spPr>
          <a:xfrm>
            <a:off x="548640" y="1691640"/>
            <a:ext cx="2567864" cy="1554480"/>
          </a:xfrm>
          <a:prstGeom prst="roundRect">
            <a:avLst>
              <a:gd name="adj" fmla="val 4706"/>
            </a:avLst>
          </a:prstGeom>
          <a:solidFill>
            <a:schemeClr val="bg2"/>
          </a:solidFill>
          <a:ln w="9525">
            <a:solidFill>
              <a:schemeClr val="accent5"/>
            </a:solidFill>
            <a:prstDash val="solid"/>
          </a:ln>
        </p:spPr>
      </p:sp>
      <p:sp>
        <p:nvSpPr>
          <p:cNvPr id="9" name="Cost 1 value"/>
          <p:cNvSpPr txBox="1"/>
          <p:nvPr/>
        </p:nvSpPr>
        <p:spPr>
          <a:xfrm>
            <a:off x="749808" y="1783080"/>
            <a:ext cx="216552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10 MB</a:t>
            </a:r>
            <a:endParaRPr lang="en-US" sz="3000" dirty="0"/>
          </a:p>
        </p:txBody>
      </p:sp>
      <p:sp>
        <p:nvSpPr>
          <p:cNvPr id="10" name="Cost 1 label"/>
          <p:cNvSpPr txBox="1"/>
          <p:nvPr/>
        </p:nvSpPr>
        <p:spPr>
          <a:xfrm>
            <a:off x="749808" y="2340864"/>
            <a:ext cx="2165528" cy="822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YOLO26n for photos and car parks, in ONNX Runtime Web</a:t>
            </a:r>
            <a:endParaRPr lang="en-US" sz="1300" dirty="0"/>
          </a:p>
        </p:txBody>
      </p:sp>
      <p:sp>
        <p:nvSpPr>
          <p:cNvPr id="11" name="Cost 2 panel"/>
          <p:cNvSpPr/>
          <p:nvPr/>
        </p:nvSpPr>
        <p:spPr>
          <a:xfrm>
            <a:off x="3390824" y="1691640"/>
            <a:ext cx="2567864" cy="1554480"/>
          </a:xfrm>
          <a:prstGeom prst="roundRect">
            <a:avLst>
              <a:gd name="adj" fmla="val 4706"/>
            </a:avLst>
          </a:prstGeom>
          <a:solidFill>
            <a:schemeClr val="bg2"/>
          </a:solidFill>
          <a:ln w="9525">
            <a:solidFill>
              <a:schemeClr val="accent5"/>
            </a:solidFill>
            <a:prstDash val="solid"/>
          </a:ln>
        </p:spPr>
      </p:sp>
      <p:sp>
        <p:nvSpPr>
          <p:cNvPr id="12" name="Cost 2 value"/>
          <p:cNvSpPr txBox="1"/>
          <p:nvPr/>
        </p:nvSpPr>
        <p:spPr>
          <a:xfrm>
            <a:off x="3591992" y="1783080"/>
            <a:ext cx="216552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38 MB</a:t>
            </a:r>
            <a:endParaRPr lang="en-US" sz="3000" dirty="0"/>
          </a:p>
        </p:txBody>
      </p:sp>
      <p:sp>
        <p:nvSpPr>
          <p:cNvPr id="13" name="Cost 2 label"/>
          <p:cNvSpPr txBox="1"/>
          <p:nvPr/>
        </p:nvSpPr>
        <p:spPr>
          <a:xfrm>
            <a:off x="3591992" y="2340864"/>
            <a:ext cx="2165528" cy="822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YOLO26s for video: billboard counter and signal audit</a:t>
            </a:r>
            <a:endParaRPr lang="en-US" sz="1300" dirty="0"/>
          </a:p>
        </p:txBody>
      </p:sp>
      <p:sp>
        <p:nvSpPr>
          <p:cNvPr id="14" name="Cost 3 panel"/>
          <p:cNvSpPr/>
          <p:nvPr/>
        </p:nvSpPr>
        <p:spPr>
          <a:xfrm>
            <a:off x="6233008" y="1691640"/>
            <a:ext cx="2567864" cy="1554480"/>
          </a:xfrm>
          <a:prstGeom prst="roundRect">
            <a:avLst>
              <a:gd name="adj" fmla="val 4706"/>
            </a:avLst>
          </a:prstGeom>
          <a:solidFill>
            <a:schemeClr val="bg2"/>
          </a:solidFill>
          <a:ln w="9525">
            <a:solidFill>
              <a:schemeClr val="accent5"/>
            </a:solidFill>
            <a:prstDash val="solid"/>
          </a:ln>
        </p:spPr>
      </p:sp>
      <p:sp>
        <p:nvSpPr>
          <p:cNvPr id="15" name="Cost 3 value"/>
          <p:cNvSpPr txBox="1"/>
          <p:nvPr/>
        </p:nvSpPr>
        <p:spPr>
          <a:xfrm>
            <a:off x="6434176" y="1783080"/>
            <a:ext cx="2165528" cy="502920"/>
          </a:xfrm>
          <a:prstGeom prst="rect">
            <a:avLst/>
          </a:prstGeom>
          <a:noFill/>
          <a:ln/>
        </p:spPr>
        <p:txBody>
          <a:bodyPr wrap="square" lIns="0" tIns="0" rIns="0" bIns="0" rtlCol="0" anchor="b"/>
          <a:lstStyle/>
          <a:p>
            <a:pPr indent="0" marL="0">
              <a:buNone/>
            </a:pPr>
            <a:r>
              <a:rPr lang="en-US" sz="3000" b="1" dirty="0">
                <a:solidFill>
                  <a:schemeClr val="accent4"/>
                </a:solidFill>
                <a:latin typeface="Arial" pitchFamily="34" charset="0"/>
                <a:ea typeface="Arial" pitchFamily="34" charset="-122"/>
                <a:cs typeface="Arial" pitchFamily="34" charset="-120"/>
              </a:rPr>
              <a:t>0</a:t>
            </a:r>
            <a:endParaRPr lang="en-US" sz="3000" dirty="0"/>
          </a:p>
        </p:txBody>
      </p:sp>
      <p:sp>
        <p:nvSpPr>
          <p:cNvPr id="16" name="Cost 3 label"/>
          <p:cNvSpPr txBox="1"/>
          <p:nvPr/>
        </p:nvSpPr>
        <p:spPr>
          <a:xfrm>
            <a:off x="6434176" y="2340864"/>
            <a:ext cx="2165528" cy="822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GPU servers. Inference runs on the visitor's device; the site is static files.</a:t>
            </a:r>
            <a:endParaRPr lang="en-US" sz="1300" dirty="0"/>
          </a:p>
        </p:txBody>
      </p:sp>
      <p:sp>
        <p:nvSpPr>
          <p:cNvPr id="17" name="Cost 4 panel"/>
          <p:cNvSpPr/>
          <p:nvPr/>
        </p:nvSpPr>
        <p:spPr>
          <a:xfrm>
            <a:off x="9075191" y="1691640"/>
            <a:ext cx="2567864" cy="1554480"/>
          </a:xfrm>
          <a:prstGeom prst="roundRect">
            <a:avLst>
              <a:gd name="adj" fmla="val 4706"/>
            </a:avLst>
          </a:prstGeom>
          <a:solidFill>
            <a:schemeClr val="bg2"/>
          </a:solidFill>
          <a:ln w="9525">
            <a:solidFill>
              <a:schemeClr val="accent5"/>
            </a:solidFill>
            <a:prstDash val="solid"/>
          </a:ln>
        </p:spPr>
      </p:sp>
      <p:sp>
        <p:nvSpPr>
          <p:cNvPr id="18" name="Cost 4 value"/>
          <p:cNvSpPr txBox="1"/>
          <p:nvPr/>
        </p:nvSpPr>
        <p:spPr>
          <a:xfrm>
            <a:off x="9276359" y="1783080"/>
            <a:ext cx="2165528" cy="502920"/>
          </a:xfrm>
          <a:prstGeom prst="rect">
            <a:avLst/>
          </a:prstGeom>
          <a:noFill/>
          <a:ln/>
        </p:spPr>
        <p:txBody>
          <a:bodyPr wrap="square" lIns="0" tIns="0" rIns="0" bIns="0" rtlCol="0" anchor="b"/>
          <a:lstStyle/>
          <a:p>
            <a:pPr indent="0" marL="0">
              <a:buNone/>
            </a:pPr>
            <a:r>
              <a:rPr lang="en-US" sz="3000" b="1" dirty="0">
                <a:solidFill>
                  <a:schemeClr val="accent3"/>
                </a:solidFill>
                <a:latin typeface="Arial" pitchFamily="34" charset="0"/>
                <a:ea typeface="Arial" pitchFamily="34" charset="-122"/>
                <a:cs typeface="Arial" pitchFamily="34" charset="-120"/>
              </a:rPr>
              <a:t>USD 0 to 20</a:t>
            </a:r>
            <a:endParaRPr lang="en-US" sz="3000" dirty="0"/>
          </a:p>
        </p:txBody>
      </p:sp>
      <p:sp>
        <p:nvSpPr>
          <p:cNvPr id="19" name="Cost 4 label"/>
          <p:cNvSpPr txBox="1"/>
          <p:nvPr/>
        </p:nvSpPr>
        <p:spPr>
          <a:xfrm>
            <a:off x="9276359" y="2340864"/>
            <a:ext cx="2165528" cy="822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hosting a month, static (assumption to check)</a:t>
            </a:r>
            <a:endParaRPr lang="en-US" sz="1300" dirty="0"/>
          </a:p>
        </p:txBody>
      </p:sp>
      <p:sp>
        <p:nvSpPr>
          <p:cNvPr id="20" name="Speed panel"/>
          <p:cNvSpPr/>
          <p:nvPr/>
        </p:nvSpPr>
        <p:spPr>
          <a:xfrm>
            <a:off x="548640" y="3474720"/>
            <a:ext cx="5410048" cy="2743200"/>
          </a:xfrm>
          <a:prstGeom prst="roundRect">
            <a:avLst>
              <a:gd name="adj" fmla="val 2667"/>
            </a:avLst>
          </a:prstGeom>
          <a:solidFill>
            <a:schemeClr val="bg2"/>
          </a:solidFill>
          <a:ln w="9525">
            <a:solidFill>
              <a:schemeClr val="accent5"/>
            </a:solidFill>
            <a:prstDash val="solid"/>
          </a:ln>
        </p:spPr>
      </p:sp>
      <p:sp>
        <p:nvSpPr>
          <p:cNvPr id="21" name="Text 19"/>
          <p:cNvSpPr txBox="1"/>
          <p:nvPr/>
        </p:nvSpPr>
        <p:spPr>
          <a:xfrm>
            <a:off x="822960" y="3611880"/>
            <a:ext cx="4861408"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Speed</a:t>
            </a:r>
            <a:endParaRPr lang="en-US" sz="1800" dirty="0"/>
          </a:p>
        </p:txBody>
      </p:sp>
      <p:sp>
        <p:nvSpPr>
          <p:cNvPr id="22" name="Speed list"/>
          <p:cNvSpPr txBox="1"/>
          <p:nvPr/>
        </p:nvSpPr>
        <p:spPr>
          <a:xfrm>
            <a:off x="822960" y="4023360"/>
            <a:ext cx="4861408" cy="20574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Video: about 1 minute of processing per minute of 1080p video on our Apple M5 laptop with WebGPU; slower on WebAssembly and on phones.</a:t>
            </a:r>
            <a:endParaRPr lang="en-US" sz="1300" dirty="0"/>
          </a:p>
          <a:p>
            <a:pPr marL="177800" indent="-1778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Video is analysed at 5 frames a second.</a:t>
            </a:r>
            <a:endParaRPr lang="en-US" sz="1300" dirty="0"/>
          </a:p>
          <a:p>
            <a:pPr marL="177800" indent="-1778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 photo: the whole frame plus 3 x 3 tiles, 10 detector runs; an uploaded photo adds 5 x 5 tiles over the far rows. The page prints the time it took.</a:t>
            </a:r>
            <a:endParaRPr lang="en-US" sz="1300" dirty="0"/>
          </a:p>
          <a:p>
            <a:pPr marL="177800" indent="-1778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 car park needs one image a minute, not video.</a:t>
            </a:r>
            <a:endParaRPr lang="en-US" sz="1300" dirty="0"/>
          </a:p>
        </p:txBody>
      </p:sp>
      <p:sp>
        <p:nvSpPr>
          <p:cNvPr id="23" name="Cost panel"/>
          <p:cNvSpPr/>
          <p:nvPr/>
        </p:nvSpPr>
        <p:spPr>
          <a:xfrm>
            <a:off x="6233008" y="3474720"/>
            <a:ext cx="5410048" cy="2743200"/>
          </a:xfrm>
          <a:prstGeom prst="roundRect">
            <a:avLst>
              <a:gd name="adj" fmla="val 2667"/>
            </a:avLst>
          </a:prstGeom>
          <a:solidFill>
            <a:schemeClr val="bg2"/>
          </a:solidFill>
          <a:ln w="9525">
            <a:solidFill>
              <a:schemeClr val="accent5"/>
            </a:solidFill>
            <a:prstDash val="solid"/>
          </a:ln>
        </p:spPr>
      </p:sp>
      <p:sp>
        <p:nvSpPr>
          <p:cNvPr id="24" name="Text 22"/>
          <p:cNvSpPr txBox="1"/>
          <p:nvPr/>
        </p:nvSpPr>
        <p:spPr>
          <a:xfrm>
            <a:off x="6507328" y="3611880"/>
            <a:ext cx="4861408"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Cost per camera</a:t>
            </a:r>
            <a:endParaRPr lang="en-US" sz="1800" dirty="0"/>
          </a:p>
        </p:txBody>
      </p:sp>
      <p:sp>
        <p:nvSpPr>
          <p:cNvPr id="25" name="Cost list"/>
          <p:cNvSpPr txBox="1"/>
          <p:nvPr/>
        </p:nvSpPr>
        <p:spPr>
          <a:xfrm>
            <a:off x="6507328" y="4023360"/>
            <a:ext cx="4861408" cy="20574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sensor in each space: one camera covers the spaces it sees.</a:t>
            </a:r>
            <a:endParaRPr lang="en-US" sz="1300" dirty="0"/>
          </a:p>
          <a:p>
            <a:pPr marL="177800" indent="-1778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Setup: the spaces are suggested from one photo and checked by hand once.</a:t>
            </a:r>
            <a:endParaRPr lang="en-US" sz="1300" dirty="0"/>
          </a:p>
          <a:p>
            <a:pPr marL="177800" indent="-1778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Running: the operator's own PC or a browser tab; no cloud GPU bill.</a:t>
            </a:r>
            <a:endParaRPr lang="en-US" sz="1300" dirty="0"/>
          </a:p>
          <a:p>
            <a:pPr marL="177800" indent="-1778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main cost is people: 3 engineers part time for the pilot (assumption).</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BACKUP FOR QUESTIONS  ·  B5  ·  SCALE</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How it scales to Tashkent</a:t>
            </a:r>
            <a:endParaRPr lang="en-US" sz="3600" dirty="0"/>
          </a:p>
        </p:txBody>
      </p:sp>
      <p:sp>
        <p:nvSpPr>
          <p:cNvPr id="8" name="Scale 1 panel"/>
          <p:cNvSpPr/>
          <p:nvPr/>
        </p:nvSpPr>
        <p:spPr>
          <a:xfrm>
            <a:off x="548640" y="1691640"/>
            <a:ext cx="3515258" cy="1783080"/>
          </a:xfrm>
          <a:prstGeom prst="roundRect">
            <a:avLst>
              <a:gd name="adj" fmla="val 4103"/>
            </a:avLst>
          </a:prstGeom>
          <a:solidFill>
            <a:schemeClr val="bg2"/>
          </a:solidFill>
          <a:ln w="9525">
            <a:solidFill>
              <a:schemeClr val="accent5"/>
            </a:solidFill>
            <a:prstDash val="solid"/>
          </a:ln>
        </p:spPr>
      </p:sp>
      <p:sp>
        <p:nvSpPr>
          <p:cNvPr id="9" name="Scale 1 value"/>
          <p:cNvSpPr txBox="1"/>
          <p:nvPr/>
        </p:nvSpPr>
        <p:spPr>
          <a:xfrm>
            <a:off x="749808" y="1783080"/>
            <a:ext cx="3112922" cy="566928"/>
          </a:xfrm>
          <a:prstGeom prst="rect">
            <a:avLst/>
          </a:prstGeom>
          <a:noFill/>
          <a:ln/>
        </p:spPr>
        <p:txBody>
          <a:bodyPr wrap="square" lIns="0" tIns="0" rIns="0" bIns="0" rtlCol="0" anchor="b"/>
          <a:lstStyle/>
          <a:p>
            <a:pPr indent="0" marL="0">
              <a:buNone/>
            </a:pPr>
            <a:r>
              <a:rPr lang="en-US" sz="3600" b="1" dirty="0">
                <a:solidFill>
                  <a:schemeClr val="accent1"/>
                </a:solidFill>
                <a:latin typeface="Arial" pitchFamily="34" charset="0"/>
                <a:ea typeface="Arial" pitchFamily="34" charset="-122"/>
                <a:cs typeface="Arial" pitchFamily="34" charset="-120"/>
              </a:rPr>
              <a:t>13,208</a:t>
            </a:r>
            <a:endParaRPr lang="en-US" sz="3600" dirty="0"/>
          </a:p>
        </p:txBody>
      </p:sp>
      <p:sp>
        <p:nvSpPr>
          <p:cNvPr id="10" name="Scale 1 label"/>
          <p:cNvSpPr txBox="1"/>
          <p:nvPr/>
        </p:nvSpPr>
        <p:spPr>
          <a:xfrm>
            <a:off x="749808" y="2404872"/>
            <a:ext cx="3112922" cy="987552"/>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paid street spaces on 86 streets planned by Poytaxt Parking; paid in an app since 8 May 2025, 5,000 to 12,000 sum an hour (Spot.uz)</a:t>
            </a:r>
            <a:endParaRPr lang="en-US" sz="1300" dirty="0"/>
          </a:p>
        </p:txBody>
      </p:sp>
      <p:sp>
        <p:nvSpPr>
          <p:cNvPr id="11" name="Scale 2 panel"/>
          <p:cNvSpPr/>
          <p:nvPr/>
        </p:nvSpPr>
        <p:spPr>
          <a:xfrm>
            <a:off x="4338218" y="1691640"/>
            <a:ext cx="3515258" cy="1783080"/>
          </a:xfrm>
          <a:prstGeom prst="roundRect">
            <a:avLst>
              <a:gd name="adj" fmla="val 4103"/>
            </a:avLst>
          </a:prstGeom>
          <a:solidFill>
            <a:schemeClr val="bg2"/>
          </a:solidFill>
          <a:ln w="9525">
            <a:solidFill>
              <a:schemeClr val="accent5"/>
            </a:solidFill>
            <a:prstDash val="solid"/>
          </a:ln>
        </p:spPr>
      </p:sp>
      <p:sp>
        <p:nvSpPr>
          <p:cNvPr id="12" name="Scale 2 value"/>
          <p:cNvSpPr txBox="1"/>
          <p:nvPr/>
        </p:nvSpPr>
        <p:spPr>
          <a:xfrm>
            <a:off x="4539386" y="1783080"/>
            <a:ext cx="3112922" cy="566928"/>
          </a:xfrm>
          <a:prstGeom prst="rect">
            <a:avLst/>
          </a:prstGeom>
          <a:noFill/>
          <a:ln/>
        </p:spPr>
        <p:txBody>
          <a:bodyPr wrap="square" lIns="0" tIns="0" rIns="0" bIns="0" rtlCol="0" anchor="b"/>
          <a:lstStyle/>
          <a:p>
            <a:pPr indent="0" marL="0">
              <a:buNone/>
            </a:pPr>
            <a:r>
              <a:rPr lang="en-US" sz="3600" b="1" dirty="0">
                <a:solidFill>
                  <a:schemeClr val="accent3"/>
                </a:solidFill>
                <a:latin typeface="Arial" pitchFamily="34" charset="0"/>
                <a:ea typeface="Arial" pitchFamily="34" charset="-122"/>
                <a:cs typeface="Arial" pitchFamily="34" charset="-120"/>
              </a:rPr>
              <a:t>~1,000</a:t>
            </a:r>
            <a:endParaRPr lang="en-US" sz="3600" dirty="0"/>
          </a:p>
        </p:txBody>
      </p:sp>
      <p:sp>
        <p:nvSpPr>
          <p:cNvPr id="13" name="Scale 2 label"/>
          <p:cNvSpPr txBox="1"/>
          <p:nvPr/>
        </p:nvSpPr>
        <p:spPr>
          <a:xfrm>
            <a:off x="4539386" y="2404872"/>
            <a:ext cx="3112922" cy="987552"/>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signalised junctions; 125 on the adaptive control system of TsODD, 545 planned for 2026 (Anhor.uz, Yuz.uz)</a:t>
            </a:r>
            <a:endParaRPr lang="en-US" sz="1300" dirty="0"/>
          </a:p>
        </p:txBody>
      </p:sp>
      <p:sp>
        <p:nvSpPr>
          <p:cNvPr id="14" name="Scale 3 panel"/>
          <p:cNvSpPr/>
          <p:nvPr/>
        </p:nvSpPr>
        <p:spPr>
          <a:xfrm>
            <a:off x="8127797" y="1691640"/>
            <a:ext cx="3515258" cy="1783080"/>
          </a:xfrm>
          <a:prstGeom prst="roundRect">
            <a:avLst>
              <a:gd name="adj" fmla="val 4103"/>
            </a:avLst>
          </a:prstGeom>
          <a:solidFill>
            <a:schemeClr val="bg2"/>
          </a:solidFill>
          <a:ln w="9525">
            <a:solidFill>
              <a:schemeClr val="accent5"/>
            </a:solidFill>
            <a:prstDash val="solid"/>
          </a:ln>
        </p:spPr>
      </p:sp>
      <p:sp>
        <p:nvSpPr>
          <p:cNvPr id="15" name="Scale 3 value"/>
          <p:cNvSpPr txBox="1"/>
          <p:nvPr/>
        </p:nvSpPr>
        <p:spPr>
          <a:xfrm>
            <a:off x="8328965" y="1783080"/>
            <a:ext cx="3112922" cy="566928"/>
          </a:xfrm>
          <a:prstGeom prst="rect">
            <a:avLst/>
          </a:prstGeom>
          <a:noFill/>
          <a:ln/>
        </p:spPr>
        <p:txBody>
          <a:bodyPr wrap="square" lIns="0" tIns="0" rIns="0" bIns="0" rtlCol="0" anchor="b"/>
          <a:lstStyle/>
          <a:p>
            <a:pPr indent="0" marL="0">
              <a:buNone/>
            </a:pPr>
            <a:r>
              <a:rPr lang="en-US" sz="3600" b="1" dirty="0">
                <a:solidFill>
                  <a:schemeClr val="accent4"/>
                </a:solidFill>
                <a:latin typeface="Arial" pitchFamily="34" charset="0"/>
                <a:ea typeface="Arial" pitchFamily="34" charset="-122"/>
                <a:cs typeface="Arial" pitchFamily="34" charset="-120"/>
              </a:rPr>
              <a:t>309</a:t>
            </a:r>
            <a:endParaRPr lang="en-US" sz="3600" dirty="0"/>
          </a:p>
        </p:txBody>
      </p:sp>
      <p:sp>
        <p:nvSpPr>
          <p:cNvPr id="16" name="Scale 3 label"/>
          <p:cNvSpPr txBox="1"/>
          <p:nvPr/>
        </p:nvSpPr>
        <p:spPr>
          <a:xfrm>
            <a:off x="8328965" y="2404872"/>
            <a:ext cx="3112922" cy="987552"/>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signalised junctions and 519 km of road of central Tashkent already in the app, from OpenStreetMap</a:t>
            </a:r>
            <a:endParaRPr lang="en-US" sz="1300" dirty="0"/>
          </a:p>
        </p:txBody>
      </p:sp>
      <p:sp>
        <p:nvSpPr>
          <p:cNvPr id="17" name="Steps panel"/>
          <p:cNvSpPr/>
          <p:nvPr/>
        </p:nvSpPr>
        <p:spPr>
          <a:xfrm>
            <a:off x="548640" y="3703320"/>
            <a:ext cx="11094415" cy="2514600"/>
          </a:xfrm>
          <a:prstGeom prst="roundRect">
            <a:avLst>
              <a:gd name="adj" fmla="val 2909"/>
            </a:avLst>
          </a:prstGeom>
          <a:solidFill>
            <a:schemeClr val="bg2"/>
          </a:solidFill>
          <a:ln w="9525">
            <a:solidFill>
              <a:schemeClr val="accent5"/>
            </a:solidFill>
            <a:prstDash val="solid"/>
          </a:ln>
        </p:spPr>
      </p:sp>
      <p:sp>
        <p:nvSpPr>
          <p:cNvPr id="18" name="Text 16"/>
          <p:cNvSpPr txBox="1"/>
          <p:nvPr/>
        </p:nvSpPr>
        <p:spPr>
          <a:xfrm>
            <a:off x="822960" y="3840480"/>
            <a:ext cx="10545775"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What a new car park or district needs</a:t>
            </a:r>
            <a:endParaRPr lang="en-US" sz="1800" dirty="0"/>
          </a:p>
        </p:txBody>
      </p:sp>
      <p:sp>
        <p:nvSpPr>
          <p:cNvPr id="19" name="Scale steps"/>
          <p:cNvSpPr txBox="1"/>
          <p:nvPr/>
        </p:nvSpPr>
        <p:spPr>
          <a:xfrm>
            <a:off x="822960" y="4251960"/>
            <a:ext cx="10545775" cy="18288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One fixed camera that sees the spaces. Spaces suggested from one photo, checked by hand once.</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One image a minute, read in a browser tab or on the operator's PC. The free count goes to drivers.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The district model is the one on /city: in Kwun Tong the vacancy comes from DATA.GOV.HK; in Tashkent it would come from the operators' cameras.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Billboards: any fixed camera or a phone video, one line per billboard.</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Elsewhere it works: SFpark cut cruising for parking by 50% on its pilot blocks; a Copenhagen green wave cut travel time by 17% on one street (sources on /elsewhere).</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96012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BACKUP FOR QUESTIONS  ·  B6  ·  ELIMINATION AND FINAL</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Reused from the elimination, built in the final</a:t>
            </a:r>
            <a:endParaRPr lang="en-US" sz="3600" dirty="0"/>
          </a:p>
        </p:txBody>
      </p:sp>
      <p:sp>
        <p:nvSpPr>
          <p:cNvPr id="8" name="Reused panel"/>
          <p:cNvSpPr/>
          <p:nvPr/>
        </p:nvSpPr>
        <p:spPr>
          <a:xfrm>
            <a:off x="548640" y="1691640"/>
            <a:ext cx="4206240" cy="4526280"/>
          </a:xfrm>
          <a:prstGeom prst="roundRect">
            <a:avLst>
              <a:gd name="adj" fmla="val 1739"/>
            </a:avLst>
          </a:prstGeom>
          <a:solidFill>
            <a:schemeClr val="bg2"/>
          </a:solidFill>
          <a:ln w="9525">
            <a:solidFill>
              <a:schemeClr val="accent5"/>
            </a:solidFill>
            <a:prstDash val="solid"/>
          </a:ln>
        </p:spPr>
      </p:sp>
      <p:sp>
        <p:nvSpPr>
          <p:cNvPr id="9" name="Reused lamp"/>
          <p:cNvSpPr/>
          <p:nvPr/>
        </p:nvSpPr>
        <p:spPr>
          <a:xfrm>
            <a:off x="822960" y="1911096"/>
            <a:ext cx="237744" cy="237744"/>
          </a:xfrm>
          <a:prstGeom prst="ellipse">
            <a:avLst/>
          </a:prstGeom>
          <a:solidFill>
            <a:schemeClr val="accent3"/>
          </a:solidFill>
          <a:ln/>
        </p:spPr>
      </p:sp>
      <p:sp>
        <p:nvSpPr>
          <p:cNvPr id="10" name="Text 8"/>
          <p:cNvSpPr txBox="1"/>
          <p:nvPr/>
        </p:nvSpPr>
        <p:spPr>
          <a:xfrm>
            <a:off x="1188720" y="1865376"/>
            <a:ext cx="3291840"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Reused, declared</a:t>
            </a:r>
            <a:endParaRPr lang="en-US" sz="1800" dirty="0"/>
          </a:p>
        </p:txBody>
      </p:sp>
      <p:sp>
        <p:nvSpPr>
          <p:cNvPr id="11" name="Reused list"/>
          <p:cNvSpPr txBox="1"/>
          <p:nvPr/>
        </p:nvSpPr>
        <p:spPr>
          <a:xfrm>
            <a:off x="822960" y="2377440"/>
            <a:ext cx="3657600" cy="3657600"/>
          </a:xfrm>
          <a:prstGeom prst="rect">
            <a:avLst/>
          </a:prstGeom>
          <a:noFill/>
          <a:ln/>
        </p:spPr>
        <p:txBody>
          <a:bodyPr wrap="square" lIns="0" tIns="0" rIns="0" bIns="0" rtlCol="0" anchor="t"/>
          <a:lstStyle/>
          <a:p>
            <a:pPr marL="177800" indent="-177800">
              <a:spcAft>
                <a:spcPts val="1100"/>
              </a:spcAft>
              <a:buSzPct val="100000"/>
              <a:buChar char="•"/>
            </a:pPr>
            <a:r>
              <a:rPr lang="en-US" sz="1600" dirty="0">
                <a:solidFill>
                  <a:schemeClr val="tx1"/>
                </a:solidFill>
                <a:latin typeface="Calibri" pitchFamily="34" charset="0"/>
                <a:ea typeface="Calibri" pitchFamily="34" charset="-122"/>
                <a:cs typeface="Calibri" pitchFamily="34" charset="-120"/>
              </a:rPr>
              <a:t>the in-browser detector and the ONNX worker</a:t>
            </a:r>
            <a:endParaRPr lang="en-US" sz="1600" dirty="0"/>
          </a:p>
          <a:p>
            <a:pPr marL="177800" indent="-177800">
              <a:spcAft>
                <a:spcPts val="1100"/>
              </a:spcAft>
              <a:buSzPct val="100000"/>
              <a:buChar char="•"/>
            </a:pPr>
            <a:r>
              <a:rPr lang="en-US" sz="1600" dirty="0">
                <a:solidFill>
                  <a:schemeClr val="tx1"/>
                </a:solidFill>
                <a:latin typeface="Calibri" pitchFamily="34" charset="0"/>
                <a:ea typeface="Calibri" pitchFamily="34" charset="-122"/>
                <a:cs typeface="Calibri" pitchFamily="34" charset="-120"/>
              </a:rPr>
              <a:t>the ByteTrack port</a:t>
            </a:r>
            <a:endParaRPr lang="en-US" sz="1600" dirty="0"/>
          </a:p>
          <a:p>
            <a:pPr marL="177800" indent="-177800">
              <a:spcAft>
                <a:spcPts val="1100"/>
              </a:spcAft>
              <a:buSzPct val="100000"/>
              <a:buChar char="•"/>
            </a:pPr>
            <a:r>
              <a:rPr lang="en-US" sz="1600" dirty="0">
                <a:solidFill>
                  <a:schemeClr val="tx1"/>
                </a:solidFill>
                <a:latin typeface="Calibri" pitchFamily="34" charset="0"/>
                <a:ea typeface="Calibri" pitchFamily="34" charset="-122"/>
                <a:cs typeface="Calibri" pitchFamily="34" charset="-120"/>
              </a:rPr>
              <a:t>the video conversion with ffmpeg.wasm</a:t>
            </a:r>
            <a:endParaRPr lang="en-US" sz="1600" dirty="0"/>
          </a:p>
          <a:p>
            <a:pPr marL="177800" indent="-177800">
              <a:spcAft>
                <a:spcPts val="1100"/>
              </a:spcAft>
              <a:buSzPct val="100000"/>
              <a:buChar char="•"/>
            </a:pPr>
            <a:r>
              <a:rPr lang="en-US" sz="1600" dirty="0">
                <a:solidFill>
                  <a:schemeClr val="tx1"/>
                </a:solidFill>
                <a:latin typeface="Calibri" pitchFamily="34" charset="0"/>
                <a:ea typeface="Calibri" pitchFamily="34" charset="-122"/>
                <a:cs typeface="Calibri" pitchFamily="34" charset="-120"/>
              </a:rPr>
              <a:t>the site design: tokens, layout and components</a:t>
            </a:r>
            <a:endParaRPr lang="en-US" sz="1600" dirty="0"/>
          </a:p>
          <a:p>
            <a:pPr marL="177800" indent="-177800">
              <a:spcAft>
                <a:spcPts val="1100"/>
              </a:spcAft>
              <a:buSzPct val="100000"/>
              <a:buChar char="•"/>
            </a:pPr>
            <a:r>
              <a:rPr lang="en-US" sz="1600" dirty="0">
                <a:solidFill>
                  <a:schemeClr val="tx1"/>
                </a:solidFill>
                <a:latin typeface="Calibri" pitchFamily="34" charset="0"/>
                <a:ea typeface="Calibri" pitchFamily="34" charset="-122"/>
                <a:cs typeface="Calibri" pitchFamily="34" charset="-120"/>
              </a:rPr>
              <a:t>the tracks and lamp readings of the sample clips (YOLO26m at 1280 px, 10 fps)</a:t>
            </a:r>
            <a:endParaRPr lang="en-US" sz="1600" dirty="0"/>
          </a:p>
        </p:txBody>
      </p:sp>
      <p:sp>
        <p:nvSpPr>
          <p:cNvPr id="12" name="Elimination repo"/>
          <p:cNvSpPr txBox="1"/>
          <p:nvPr/>
        </p:nvSpPr>
        <p:spPr>
          <a:xfrm>
            <a:off x="822960" y="5806440"/>
            <a:ext cx="3657600" cy="274320"/>
          </a:xfrm>
          <a:prstGeom prst="rect">
            <a:avLst/>
          </a:prstGeom>
          <a:noFill/>
          <a:ln/>
        </p:spPr>
        <p:txBody>
          <a:bodyPr wrap="square" lIns="0" tIns="0" rIns="0" bIns="0" rtlCol="0" anchor="t"/>
          <a:lstStyle/>
          <a:p>
            <a:pPr indent="0" marL="0">
              <a:spcAft>
                <a:spcPts val="400"/>
              </a:spcAft>
              <a:buNone/>
            </a:pPr>
            <a:r>
              <a:rPr lang="en-US" sz="1200" dirty="0">
                <a:solidFill>
                  <a:schemeClr val="tx2"/>
                </a:solidFill>
                <a:latin typeface="Calibri" pitchFamily="34" charset="0"/>
                <a:ea typeface="Calibri" pitchFamily="34" charset="-122"/>
                <a:cs typeface="Calibri" pitchFamily="34" charset="-120"/>
              </a:rPr>
              <a:t>github.com/baytoooo/parivision-traffic</a:t>
            </a:r>
            <a:endParaRPr lang="en-US" sz="1200" dirty="0"/>
          </a:p>
        </p:txBody>
      </p:sp>
      <p:sp>
        <p:nvSpPr>
          <p:cNvPr id="13" name="Built panel"/>
          <p:cNvSpPr/>
          <p:nvPr/>
        </p:nvSpPr>
        <p:spPr>
          <a:xfrm>
            <a:off x="5029200" y="1691640"/>
            <a:ext cx="6613855" cy="4526280"/>
          </a:xfrm>
          <a:prstGeom prst="roundRect">
            <a:avLst>
              <a:gd name="adj" fmla="val 1616"/>
            </a:avLst>
          </a:prstGeom>
          <a:solidFill>
            <a:schemeClr val="bg2"/>
          </a:solidFill>
          <a:ln w="9525">
            <a:solidFill>
              <a:schemeClr val="accent5"/>
            </a:solidFill>
            <a:prstDash val="solid"/>
          </a:ln>
        </p:spPr>
      </p:sp>
      <p:sp>
        <p:nvSpPr>
          <p:cNvPr id="14" name="Built lamp"/>
          <p:cNvSpPr/>
          <p:nvPr/>
        </p:nvSpPr>
        <p:spPr>
          <a:xfrm>
            <a:off x="5303520" y="1911096"/>
            <a:ext cx="237744" cy="237744"/>
          </a:xfrm>
          <a:prstGeom prst="ellipse">
            <a:avLst/>
          </a:prstGeom>
          <a:solidFill>
            <a:schemeClr val="accent4"/>
          </a:solidFill>
          <a:ln/>
        </p:spPr>
      </p:sp>
      <p:sp>
        <p:nvSpPr>
          <p:cNvPr id="15" name="Text 13"/>
          <p:cNvSpPr txBox="1"/>
          <p:nvPr/>
        </p:nvSpPr>
        <p:spPr>
          <a:xfrm>
            <a:off x="5669280" y="1865376"/>
            <a:ext cx="5699455"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Built during the final</a:t>
            </a:r>
            <a:endParaRPr lang="en-US" sz="1800" dirty="0"/>
          </a:p>
        </p:txBody>
      </p:sp>
      <p:sp>
        <p:nvSpPr>
          <p:cNvPr id="16" name="Built list"/>
          <p:cNvSpPr txBox="1"/>
          <p:nvPr/>
        </p:nvSpPr>
        <p:spPr>
          <a:xfrm>
            <a:off x="5303520" y="2377440"/>
            <a:ext cx="6065215" cy="3657600"/>
          </a:xfrm>
          <a:prstGeom prst="rect">
            <a:avLst/>
          </a:prstGeom>
          <a:noFill/>
          <a:ln/>
        </p:spPr>
        <p:txBody>
          <a:bodyPr wrap="square" lIns="0" tIns="0" rIns="0" bIns="0" rtlCol="0" anchor="t"/>
          <a:lstStyle/>
          <a:p>
            <a:pPr marL="177800" indent="-177800">
              <a:spcAft>
                <a:spcPts val="1100"/>
              </a:spcAft>
              <a:buSzPct val="100000"/>
              <a:buChar char="•"/>
            </a:pPr>
            <a:r>
              <a:rPr lang="en-US" sz="1600" dirty="0">
                <a:solidFill>
                  <a:schemeClr val="tx1"/>
                </a:solidFill>
                <a:latin typeface="Calibri" pitchFamily="34" charset="0"/>
                <a:ea typeface="Calibri" pitchFamily="34" charset="-122"/>
                <a:cs typeface="Calibri" pitchFamily="34" charset="-120"/>
              </a:rPr>
              <a:t>the parking tracker: replay, whole car park, forecast, advice for one and for many drivers</a:t>
            </a:r>
            <a:endParaRPr lang="en-US" sz="1600" dirty="0"/>
          </a:p>
          <a:p>
            <a:pPr marL="177800" indent="-177800">
              <a:spcAft>
                <a:spcPts val="1100"/>
              </a:spcAft>
              <a:buSzPct val="100000"/>
              <a:buChar char="•"/>
            </a:pPr>
            <a:r>
              <a:rPr lang="en-US" sz="1600" dirty="0">
                <a:solidFill>
                  <a:schemeClr val="tx1"/>
                </a:solidFill>
                <a:latin typeface="Calibri" pitchFamily="34" charset="0"/>
                <a:ea typeface="Calibri" pitchFamily="34" charset="-122"/>
                <a:cs typeface="Calibri" pitchFamily="34" charset="-120"/>
              </a:rPr>
              <a:t>the parking page: the space rule and its held-out test, spaces suggested from a photo</a:t>
            </a:r>
            <a:endParaRPr lang="en-US" sz="1600" dirty="0"/>
          </a:p>
          <a:p>
            <a:pPr marL="177800" indent="-177800">
              <a:spcAft>
                <a:spcPts val="1100"/>
              </a:spcAft>
              <a:buSzPct val="100000"/>
              <a:buChar char="•"/>
            </a:pPr>
            <a:r>
              <a:rPr lang="en-US" sz="1600" dirty="0">
                <a:solidFill>
                  <a:schemeClr val="tx1"/>
                </a:solidFill>
                <a:latin typeface="Calibri" pitchFamily="34" charset="0"/>
                <a:ea typeface="Calibri" pitchFamily="34" charset="-122"/>
                <a:cs typeface="Calibri" pitchFamily="34" charset="-120"/>
              </a:rPr>
              <a:t>the district model: Kwun Tong cameras, live car park vacancy, drivers spread by cost</a:t>
            </a:r>
            <a:endParaRPr lang="en-US" sz="1600" dirty="0"/>
          </a:p>
          <a:p>
            <a:pPr marL="177800" indent="-177800">
              <a:spcAft>
                <a:spcPts val="1100"/>
              </a:spcAft>
              <a:buSzPct val="100000"/>
              <a:buChar char="•"/>
            </a:pPr>
            <a:r>
              <a:rPr lang="en-US" sz="1600" dirty="0">
                <a:solidFill>
                  <a:schemeClr val="tx1"/>
                </a:solidFill>
                <a:latin typeface="Calibri" pitchFamily="34" charset="0"/>
                <a:ea typeface="Calibri" pitchFamily="34" charset="-122"/>
                <a:cs typeface="Calibri" pitchFamily="34" charset="-120"/>
              </a:rPr>
              <a:t>the billboard counter: line crossings by type and direction, log and CSV</a:t>
            </a:r>
            <a:endParaRPr lang="en-US" sz="1600" dirty="0"/>
          </a:p>
          <a:p>
            <a:pPr marL="177800" indent="-177800">
              <a:spcAft>
                <a:spcPts val="1100"/>
              </a:spcAft>
              <a:buSzPct val="100000"/>
              <a:buChar char="•"/>
            </a:pPr>
            <a:r>
              <a:rPr lang="en-US" sz="1600" dirty="0">
                <a:solidFill>
                  <a:schemeClr val="tx1"/>
                </a:solidFill>
                <a:latin typeface="Calibri" pitchFamily="34" charset="0"/>
                <a:ea typeface="Calibri" pitchFamily="34" charset="-122"/>
                <a:cs typeface="Calibri" pitchFamily="34" charset="-120"/>
              </a:rPr>
              <a:t>the signal audit core and page, the 3D corridor, the road damage page</a:t>
            </a:r>
            <a:endParaRPr lang="en-US" sz="1600" dirty="0"/>
          </a:p>
          <a:p>
            <a:pPr marL="177800" indent="-177800">
              <a:spcAft>
                <a:spcPts val="1100"/>
              </a:spcAft>
              <a:buSzPct val="100000"/>
              <a:buChar char="•"/>
            </a:pPr>
            <a:r>
              <a:rPr lang="en-US" sz="1600" dirty="0">
                <a:solidFill>
                  <a:schemeClr val="tx1"/>
                </a:solidFill>
                <a:latin typeface="Calibri" pitchFamily="34" charset="0"/>
                <a:ea typeface="Calibri" pitchFamily="34" charset="-122"/>
                <a:cs typeface="Calibri" pitchFamily="34" charset="-120"/>
              </a:rPr>
              <a:t>the camera collectors and counters, the Elsewhere page, this deck</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QIM Signal">
  <a:themeElements>
    <a:clrScheme name="OQIM Signal">
      <a:dk1>
        <a:srgbClr val="F1EEE6"/>
      </a:dk1>
      <a:lt1>
        <a:srgbClr val="151618"/>
      </a:lt1>
      <a:dk2>
        <a:srgbClr val="A9A59C"/>
      </a:dk2>
      <a:lt2>
        <a:srgbClr val="1C1E21"/>
      </a:lt2>
      <a:accent1>
        <a:srgbClr val="F3C316"/>
      </a:accent1>
      <a:accent2>
        <a:srgbClr val="FF5B4C"/>
      </a:accent2>
      <a:accent3>
        <a:srgbClr val="FFB224"/>
      </a:accent3>
      <a:accent4>
        <a:srgbClr val="3FD27F"/>
      </a:accent4>
      <a:accent5>
        <a:srgbClr val="2A2D31"/>
      </a:accent5>
      <a:accent6>
        <a:srgbClr val="6E737B"/>
      </a:accent6>
      <a:hlink>
        <a:srgbClr val="F3C316"/>
      </a:hlink>
      <a:folHlink>
        <a:srgbClr val="FFB224"/>
      </a:folHlink>
    </a:clrScheme>
    <a:fontScheme name="OQIM Sig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Webster University in Tashkent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OQIM: a parking tracker from car park cameras</dc:title>
  <dc:subject>PptxGenJS Presentation</dc:subject>
  <dc:creator>Team PariVision</dc:creator>
  <cp:lastModifiedBy>Team PariVision</cp:lastModifiedBy>
  <cp:revision>1</cp:revision>
  <dcterms:created xsi:type="dcterms:W3CDTF">2026-10-11T07:56:29Z</dcterms:created>
  <dcterms:modified xsi:type="dcterms:W3CDTF">2026-10-11T07:56:29Z</dcterms:modified>
</cp:coreProperties>
</file>